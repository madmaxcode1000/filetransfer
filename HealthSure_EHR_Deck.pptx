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Let the 5-day outage number land before moving to the next slide. The stats set the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incident sequence first — credential compromise → snapshot delete → backup encrypt → 5-day tape restore. Then point to each component on the diagram that failed. Let the red borders tell the story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4 (EHR Object Storage) is the focus of this session. When presenting, spend more time here — connect it to the 10 PB cost objection and the HIPAA compliance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bridge slide. For each gap you diagnosed on Slide 3, there is a specific Everpure product answering it. Make sure you can explain WHY each product was chosen — not just that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competitive differentiator. Be precise — PowerStore read-only is NOT the same as SafeMode firmware-level undeletability. Own this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EHR deep dive. Key points: 1) Always use compliance mode not governance for HIPAA. 2) Don't propose moving all 10 PB to flash — tier it. 3) Don't lead with DRR for pre-compressed imaging data — that's a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Mediator is FREE — emphasise this. It's a tiebreaker process in cloud, not a licensed product. ActiveCluster is separately licensed. ActiveDR is separately licensed. Know the commercial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Portworx is a storage platform, not a backup product. PX-Backup is the backup component — containerized, running as pods. Veeam cannot protect Kubernetes PVs at this level — this is a genuine gap in the existing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slide. Let the architecture speak first — then deliver the closing line with conviction. Pause before it. One sentence. Make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slide proactively — don't wait to be asked about concerns. Walking into trade-offs yourself builds credibility. The panel will respect that you know the limits of your own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value summary — connect every card back to a gap you diagnosed. Don't just list features. Say: 'HealthSure came in with a 5-day tape restore. They leave with zero viable attack paths to their recovery points.'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828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82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EVERPURE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HealthSure Insurance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Protection &amp; Ransomware-Resilient Architecture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65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DC7"/>
                </a:solidFill>
              </a:rPr>
              <a:t>Presented to: CIO  ·  CISO  ·  Head of IT Operations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5-Day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Outage — Q2 Incident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254203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10+ PB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60604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EHR at Risk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4203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Zero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75488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RPO Target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54203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0372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&lt;15 Min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9037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RTO Target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DC7"/>
                </a:solidFill>
              </a:rPr>
              <a:t>Ranjeeth B  |  Solutions Engineer, Everpure  |  branjeeth97@gmail.com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 Understood: Customer Challenges &amp; Current Environment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D1B2A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498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The Incident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097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 — credential compromise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metadata deleted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catalog encrypted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tape restore — massive business impact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What HealthSure Needs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700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Zero RPO for Oracle claims processing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0837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RTO under 15 minutes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4670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7–10 year EHR immutability (HIPAA)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8503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" y="3666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HIPAA &amp; ISO 27001 compliance</a:t>
            </a:r>
            <a:endParaRPr lang="en-US" sz="1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2336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8580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Insider &amp; credential attack protection</a:t>
            </a:r>
            <a:endParaRPr lang="en-US" sz="10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361688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8580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Kubernetes workload protection (OpenShift)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3749040" y="685800"/>
            <a:ext cx="2926080" cy="3931920"/>
          </a:xfrm>
          <a:prstGeom prst="roundRect">
            <a:avLst>
              <a:gd name="adj" fmla="val 3125"/>
            </a:avLst>
          </a:prstGeom>
          <a:solidFill>
            <a:srgbClr val="243B5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14"/>
          <p:cNvSpPr/>
          <p:nvPr/>
        </p:nvSpPr>
        <p:spPr>
          <a:xfrm>
            <a:off x="3840480" y="74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HYDERABAD DC  ⚠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3886200" y="10789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8EADC7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208" y="1152144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206240" y="1097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VMware + OpenShift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3886200" y="15087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0208" y="158191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206240" y="1527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DB → Block Storage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4206240" y="17099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</a:rPr>
              <a:t>Snapshots deletable</a:t>
            </a:r>
            <a:endParaRPr lang="en-US" sz="800" dirty="0"/>
          </a:p>
        </p:txBody>
      </p:sp>
      <p:sp>
        <p:nvSpPr>
          <p:cNvPr id="32" name="Shape 20"/>
          <p:cNvSpPr/>
          <p:nvPr/>
        </p:nvSpPr>
        <p:spPr>
          <a:xfrm>
            <a:off x="3886200" y="19933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0208" y="2066544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206240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10+ PB EHR — S3 Object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4206240" y="21945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</a:rPr>
              <a:t>No WORM / No Lock</a:t>
            </a:r>
            <a:endParaRPr lang="en-US" sz="800" dirty="0"/>
          </a:p>
        </p:txBody>
      </p:sp>
      <p:sp>
        <p:nvSpPr>
          <p:cNvPr id="36" name="Shape 23"/>
          <p:cNvSpPr/>
          <p:nvPr/>
        </p:nvSpPr>
        <p:spPr>
          <a:xfrm>
            <a:off x="3886200" y="2478024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0208" y="2551176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206240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Legacy NAS (PostgreSQL)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4206240" y="2679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</a:rPr>
              <a:t>No immutability</a:t>
            </a:r>
            <a:endParaRPr lang="en-US" sz="800" dirty="0"/>
          </a:p>
        </p:txBody>
      </p:sp>
      <p:sp>
        <p:nvSpPr>
          <p:cNvPr id="40" name="Shape 26"/>
          <p:cNvSpPr/>
          <p:nvPr/>
        </p:nvSpPr>
        <p:spPr>
          <a:xfrm>
            <a:off x="3886200" y="296265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50208" y="3035808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206240" y="2980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Backup Server (Veeam)</a:t>
            </a:r>
            <a:endParaRPr lang="en-US" sz="900" dirty="0"/>
          </a:p>
        </p:txBody>
      </p:sp>
      <p:sp>
        <p:nvSpPr>
          <p:cNvPr id="43" name="Text 28"/>
          <p:cNvSpPr/>
          <p:nvPr/>
        </p:nvSpPr>
        <p:spPr>
          <a:xfrm>
            <a:off x="4206240" y="31638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</a:rPr>
              <a:t>On production network</a:t>
            </a:r>
            <a:endParaRPr lang="en-US" sz="800" dirty="0"/>
          </a:p>
        </p:txBody>
      </p:sp>
      <p:sp>
        <p:nvSpPr>
          <p:cNvPr id="44" name="Text 29"/>
          <p:cNvSpPr/>
          <p:nvPr/>
        </p:nvSpPr>
        <p:spPr>
          <a:xfrm>
            <a:off x="3749040" y="3419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⚠ No Quorum Arbiter — Split-brain risk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6812280" y="68580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243B55"/>
          </a:solidFill>
          <a:ln w="19050">
            <a:solidFill>
              <a:srgbClr val="E63946"/>
            </a:solidFill>
            <a:prstDash val="dash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6" name="Text 31"/>
          <p:cNvSpPr/>
          <p:nvPr/>
        </p:nvSpPr>
        <p:spPr>
          <a:xfrm>
            <a:off x="6903720" y="758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PUNE DC  ⚠</a:t>
            </a:r>
            <a:endParaRPr lang="en-US" sz="1000" dirty="0"/>
          </a:p>
        </p:txBody>
      </p:sp>
      <p:sp>
        <p:nvSpPr>
          <p:cNvPr id="47" name="Text 32"/>
          <p:cNvSpPr/>
          <p:nvPr/>
        </p:nvSpPr>
        <p:spPr>
          <a:xfrm>
            <a:off x="6903720" y="1051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Cold Standby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Never Tested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RTO = Days</a:t>
            </a:r>
            <a:endParaRPr lang="en-US" sz="1000" dirty="0"/>
          </a:p>
        </p:txBody>
      </p:sp>
      <p:sp>
        <p:nvSpPr>
          <p:cNvPr id="48" name="Shape 33"/>
          <p:cNvSpPr/>
          <p:nvPr/>
        </p:nvSpPr>
        <p:spPr>
          <a:xfrm>
            <a:off x="6693408" y="1371600"/>
            <a:ext cx="118872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49" name="Shape 34"/>
          <p:cNvSpPr/>
          <p:nvPr/>
        </p:nvSpPr>
        <p:spPr>
          <a:xfrm>
            <a:off x="6812280" y="23317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3D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0" name="Text 35"/>
          <p:cNvSpPr/>
          <p:nvPr/>
        </p:nvSpPr>
        <p:spPr>
          <a:xfrm>
            <a:off x="6858000" y="2377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Tape Restore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5-Day Outage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Claims Halted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Gaps Identified — Where the Architecture Failed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740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Snapshot Immutability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996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Snapshot metadata was soft-deleted by attacker. No firmware-level protection. Admin credentials were enough to destroy recovery points.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6550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Backup Separation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110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Veeam catalog server sat on the same network as production. Encrypted alongside primary data — the recovery tool became part of the attack surface.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5694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DR Readiness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8254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Cold standby at Pune, never tested. RTO of &lt;15 minutes is impossible. A standby that is never tested is not DR — it is a hope.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30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4838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EHR Object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7398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10+ PB of EHR on S3-compatible storage with no WORM and no Object Lock. 7–10 year retention requirement unmet. HIPAA compliance gap.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740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Kubernetes Protection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84648" y="996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PostgreSQL and stateful apps on OpenShift unprotected. Veeam does not natively protect Kubernetes Persistent Volumes at this depth.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84648" y="16550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Credential Controls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19110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No out-of-band authentication to modify or destroy protection policies. One compromised account was enough to dismantle all snapshots.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84648" y="25694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Two Sites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28254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Hyderabad and Pune only. No quorum arbiter for tiebreaker decisions. Split-brain risk on failover with no clean resolution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Everpure Fills Each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83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Snapshot Immutability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0" y="91440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74980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65836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6766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FlashArray//XL + SafeMode Snapshots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9144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Firmware-level — not deletable even with admin credentials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28930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893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Backup Separation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54533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0744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128930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13075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— separate auth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5453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Out-of-band PIN required to modify any protection policy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2024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DR Readiness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217627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011680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1920240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1938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ActiveCluster + ActiveDR + Pure Mediator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21762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replication · RTO &lt;15 min · Free cloud arbiter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51176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55117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EHR Object Storage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2807208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642616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29000" y="2551176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20440" y="2569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FlashBlade//S3 with Object Lock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28072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Compliance mode WORM — nobody can delete until retention expires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82112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821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Kubernetes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80360" y="3438144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3273552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429000" y="318211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520440" y="32004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Portworx Enterprise + PX-Backup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34381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K8s-native storage · PX-Backup protects PVs inside OpenShift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81304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8130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Credential Controls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80360" y="4069080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390448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29000" y="381304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20440" y="38313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SafeMode Admin Separation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20440" y="4069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Multi-factor, out-of-band — credential compromise cannot reach snapshots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44398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4398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Two Sites Only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4700016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4535424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429000" y="444398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20440" y="44622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 Mediator (Cloud Tiebreaker)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20440" y="47000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Free lightweight cloud process — clean failover, no split-brain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1 &amp; 6: Snapshot Immutability &amp; Credential Controls → SafeMode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1A2F4A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BEFORE — Existing Stack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170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stored as metadata on array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16276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Admin credentials can delete snapshots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2084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Attacker deleted all recovery points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6032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25420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No secondary auth required</a:t>
            </a:r>
            <a:endParaRPr lang="en-US" sz="10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1752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31520" y="29992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Backup catalog on same network — encrypted</a:t>
            </a:r>
            <a:endParaRPr lang="en-US" sz="10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74720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1520" y="3456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Zero recovery options. 5-day tape restore.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572000" y="685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1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AFTER — Everpure SafeMode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1188720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983480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SafeMode snapshots stored at firmware level</a:t>
            </a:r>
            <a:endParaRPr lang="en-US" sz="10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164592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983480" y="1627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Cannot be deleted — even by compromised admin</a:t>
            </a:r>
            <a:endParaRPr lang="en-US" sz="10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2103120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4983480" y="2084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Separate out-of-band PIN to modify any policy</a:t>
            </a:r>
            <a:endParaRPr lang="en-US" sz="10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2560320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98348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Snapshots survive credential compromise</a:t>
            </a:r>
            <a:endParaRPr lang="en-US" sz="10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3017520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4983480" y="2999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Pure support cannot delete without PIN</a:t>
            </a:r>
            <a:endParaRPr lang="en-US" sz="100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160" y="3474720"/>
            <a:ext cx="201168" cy="20116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4983480" y="3456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Result: Clean recovery in &lt;15 minutes.</a:t>
            </a:r>
            <a:endParaRPr lang="en-US" sz="1000" dirty="0"/>
          </a:p>
        </p:txBody>
      </p:sp>
      <p:sp>
        <p:nvSpPr>
          <p:cNvPr id="33" name="Shape 18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1A0000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34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vs Dell: PowerStore snapshots use read-only properties — an admin credential can still delete them. SafeMode is firmware-enforced — the attack path does not exist.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4: EHR Object Storage → FlashBlade//S3 with Object Lock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A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The Problem: 10+ PB of EHR on legacy S3-compatible storage — no WORM, no Object Lock, no immutability. HIPAA requires 7–10 year retention. One compromised admin account can delete years of records.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Object Lock: Two Modes — Only One Meets HIPAA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Governance Mode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Privileged users with special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permissions can override lock.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A compromised admin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elevated access can still delete.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⚠ Not sufficient for HIPAA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8036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7180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Compliance Mode  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7180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Nobody can override — not root,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not storage admin, not Pure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support, not anyone.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Retention is in the object itself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at write time.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✓ Legally defensible for HIPAA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778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Addressing the 10 PB Cost Objection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1783080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1810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Hot Tier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2039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Active EHR · Last 12 mo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039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Fast retrieval + Object Lock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2359152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69280" y="2386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</a:rPr>
              <a:t>Warm Tier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1–3 years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23865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FlashBlade //E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2615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Capacity-optimised flash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77840" y="2935224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69280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Cold Tier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69280" y="3191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3–10 years, rare access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58000" y="29626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Object/Cloud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0" y="3191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DC7"/>
                </a:solidFill>
              </a:rPr>
              <a:t>Cost-effective, policy WORM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77840" y="3566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243B55"/>
          </a:solidFill>
          <a:ln w="9525">
            <a:solidFill>
              <a:srgbClr val="8EADC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3630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DRR Honest View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69280" y="3858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Pre-compressed DICOM: ~1:1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Structured EHR/clinical docs: 3–5:1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Do not lead with DRR — lead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throughput, Object Lock, and SafeMode.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1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vs Dell ECS: Object Lock compliance mode inconsistent across versions. FlashBlade compliance mode is native, fully supported, and auditable.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Gap 3 &amp; 7: DR Readiness &amp; Two Sites → ActiveCluster + ActiveDR + Pure Mediator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HYDERABAD DC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Primary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FlashArray//XL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3794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ActiveCluster — Active/Active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5000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Zero RPO sync replication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8620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58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Serves live Oracle claims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32461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33832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PUNE DC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3832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Secondary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132588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576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FlashArray//XL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1837944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576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ActiveCluster — Active/Active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35000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576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Same data, same time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2862072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576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Instant failover — no data loss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62179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17"/>
          <p:cNvSpPr/>
          <p:nvPr/>
        </p:nvSpPr>
        <p:spPr>
          <a:xfrm>
            <a:off x="6355080" y="749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CLOUD DR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6355080" y="1005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Tertiary site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132588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29400" y="1307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ActiveDR async replication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1837944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629400" y="18196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Pure Mediator (free)</a:t>
            </a:r>
            <a:endParaRPr lang="en-US" sz="10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2350008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629400" y="2331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Lightweight tiebreaker</a:t>
            </a:r>
            <a:endParaRPr lang="en-US" sz="10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2862072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629400" y="2843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RTO &lt;15 min on failover</a:t>
            </a:r>
            <a:endParaRPr lang="en-US" sz="1000" dirty="0"/>
          </a:p>
        </p:txBody>
      </p:sp>
      <p:sp>
        <p:nvSpPr>
          <p:cNvPr id="38" name="Shape 23"/>
          <p:cNvSpPr/>
          <p:nvPr/>
        </p:nvSpPr>
        <p:spPr>
          <a:xfrm>
            <a:off x="3145536" y="2560320"/>
            <a:ext cx="10058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9" name="Text 24"/>
          <p:cNvSpPr/>
          <p:nvPr/>
        </p:nvSpPr>
        <p:spPr>
          <a:xfrm>
            <a:off x="2999232" y="24231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◀━ sync ━▶</a:t>
            </a:r>
            <a:endParaRPr lang="en-US" sz="800" dirty="0"/>
          </a:p>
        </p:txBody>
      </p:sp>
      <p:sp>
        <p:nvSpPr>
          <p:cNvPr id="40" name="Shape 25"/>
          <p:cNvSpPr/>
          <p:nvPr/>
        </p:nvSpPr>
        <p:spPr>
          <a:xfrm>
            <a:off x="6117336" y="2560320"/>
            <a:ext cx="100584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41" name="Text 26"/>
          <p:cNvSpPr/>
          <p:nvPr/>
        </p:nvSpPr>
        <p:spPr>
          <a:xfrm>
            <a:off x="60350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</a:rPr>
              <a:t>async →</a:t>
            </a:r>
            <a:endParaRPr lang="en-US" sz="800" dirty="0"/>
          </a:p>
        </p:txBody>
      </p:sp>
      <p:sp>
        <p:nvSpPr>
          <p:cNvPr id="42" name="Shape 27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00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Pure Mediator: Free lightweight cloud process — not a full VM, no licensing cost. Acts as tiebreaker between Hyderabad and Pune to prevent split-brain on failover.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5: Kubernetes Protection → Portworx Enterprise + PX-Backup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Portworx Enterprise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Kubernetes-Native Storage Platform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3533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 orchestration inside Kubernetes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0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8288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Persistent Volumes survive pod restarts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25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23042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a DaemonSet — part of the cluster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9806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2779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StorageClass integration with OpenShift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355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1520" y="3255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Application-consistent snapshots of stateful apps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490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31520" y="3730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 and Oracle K8s workloads protected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66344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2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PX-Backup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4846320" y="1051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DC7"/>
                </a:solidFill>
              </a:rPr>
              <a:t>Containerised Backup — Not a VM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371600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20640" y="13533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Runs as pods inside OpenShift cluster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847088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20640" y="1828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Backs up entire app namespace — PVs + config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322576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20640" y="230428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Application-aware: PostgreSQL consistent backup</a:t>
            </a:r>
            <a:endParaRPr lang="en-US" sz="10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798064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20640" y="27797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Restore to same or different namespace/cluster</a:t>
            </a:r>
            <a:endParaRPr lang="en-US" sz="10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273552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20640" y="3255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Policy-driven — schedule, retention, RPO</a:t>
            </a:r>
            <a:endParaRPr lang="en-US" sz="10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74904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20640" y="37307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vs Veeam: Veeam cannot protect K8s PVs natively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State — Everpure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HYDERABAD DC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Oracle DB · SafeMode Snapshots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 + //E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10+ PB EHR · Object Lock WORM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Portworx Enterprise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OpenShift K8s · PX-Backup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(Primary)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sync to Pune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PUNE 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FlashArray//XL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ActiveCluster · Hot standby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FlashBlade//S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EHR replica · Object Lock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ActiveDR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0332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Async DR · &lt;15 min RTO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ActiveCluster (Mirror)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03320" y="3621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Zero RPO mirror from Hyderabad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0840" y="658368"/>
            <a:ext cx="2194560" cy="2011680"/>
          </a:xfrm>
          <a:prstGeom prst="roundRect">
            <a:avLst>
              <a:gd name="adj" fmla="val 5455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749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CLOUD DR</a:t>
            </a:r>
            <a:endParaRPr lang="en-US" sz="11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182880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086600" y="1078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Pure Mediator</a:t>
            </a:r>
            <a:endParaRPr lang="en-US" sz="9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44752"/>
            <a:ext cx="182880" cy="18288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086600" y="1426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Free tiebreaker</a:t>
            </a:r>
            <a:endParaRPr lang="en-US" sz="9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92224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86600" y="17739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ActiveDR target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39696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086600" y="2121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Cloud Block Store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720840" y="28346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6858000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Pure1 AIOps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85800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Single pane of glass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FlashArray + FlashBlade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Predictive analytics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Included — no extra cost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346704" y="2743200"/>
            <a:ext cx="1280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063240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B4D8"/>
                </a:solidFill>
              </a:rPr>
              <a:t>◀━ ActiveCluster ━▶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6601968" y="2926080"/>
            <a:ext cx="11887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48" name="Text 42"/>
          <p:cNvSpPr/>
          <p:nvPr/>
        </p:nvSpPr>
        <p:spPr>
          <a:xfrm>
            <a:off x="6492240" y="27889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4A261"/>
                </a:solidFill>
              </a:rPr>
              <a:t>ActiveDR →</a:t>
            </a:r>
            <a:endParaRPr lang="en-US" sz="700" dirty="0"/>
          </a:p>
        </p:txBody>
      </p:sp>
      <p:sp>
        <p:nvSpPr>
          <p:cNvPr id="49" name="Shape 43"/>
          <p:cNvSpPr/>
          <p:nvPr/>
        </p:nvSpPr>
        <p:spPr>
          <a:xfrm>
            <a:off x="228600" y="4645152"/>
            <a:ext cx="8686800" cy="36576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 other vendor helps you recover faster after an attack.  Everpure makes the attack itself fail.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Trade-offs &amp; Honest Considerations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676656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74980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49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Migration Complexity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31720" y="7223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Risk: Moving 10+ PB of EHR from legacy NAS/S3 to FlashBlade requires careful phased planning. Hot data migrates first — cold archive stays in place until tiering strategy is confirmed.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0" y="786384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7498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7223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Phased migration — hot tier first. Pure Professional Services supports live cutover with no production downtime.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4320" y="1517904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" y="1591056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 — Initial Investment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331720" y="15636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Risk: FlashBlade//S and ActiveCluster represent a higher upfront capital commitment than spinning disk or object store alternatives. The CFO conversation is real.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15000" y="1627632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9105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156362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TCO reframe: the Q2 5-day outage cost HealthSure far more than this investment. Evergreen//Forever eliminates future refresh capex. Phased tiering keeps total spend manageable.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74320" y="235915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432304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Portworx Learning Curve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2331720" y="24048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Risk: Portworx Enterprise introduces a new operational model for the OpenShift team. Kubernetes-native storage is a mindset shift from traditional SAN/NAS management.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715000" y="2468880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3230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35040" y="2404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Portworx Academy training included. PX-Backup policy templates reduce day-2 ops complexity significantly.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32004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27355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00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ActiveCluster Licensing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331720" y="32461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Risk: ActiveCluster, ActiveDR, Portworx Enterprise, and PX-Backup are separately licensed — not included in base FlashArray or FlashBlade pricing.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715000" y="3310128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273552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035040" y="32461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SafeMode, Pure1 AIOps, and Pure Mediator are all included at no additional cost — these cover the most critical ransomware protection layer.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274320" y="404164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D1B2A"/>
          </a:solidFill>
          <a:ln w="9525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20040" y="411480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2004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EHR Cold Archive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2331720" y="40873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Risk: 7–10 year cold archive data (3+ years old, rare access) does not justify FlashBlade //S pricing. Proposing flash for truly cold archival data would be the wrong recommendation.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5715000" y="4151376"/>
            <a:ext cx="0" cy="54864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411480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035040" y="40873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Tiered architecture: FlashBlade //S for hot, FlashBlade //E for warm, dense object/cloud for cold. Right platform for each access tier.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Value HealthSure Gains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8229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8869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Ransomware-Proof Recovery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24128" y="1033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Zero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4128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viable attack paths to snapshots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SafeMode firmware-level protection means the Q2 attack sequence cannot repeat. Attacker with admin credentials still cannot delete a single recovery point.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63440" y="6858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8229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8869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13248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HIPAA-Compliant EHR Archive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13248" y="1033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7–10 yr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413248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legally defensible immutability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800600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FlashBlade Object Lock compliance mode satisfies HIPAA retention requirements. Every EHR record is WORM-protected at the object level from write time.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74320" y="2176272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2313432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77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Zero RPO for Claims Processing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24128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024128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data loss on failover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11480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ActiveCluster active/active sync replication between Hyderabad and Pune. Oracle claims database is always live at both sites — any failure is transparent to users.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663440" y="2176272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00600" y="2313432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3774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13248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RTO Under 15 Minutes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13248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&lt;15 min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5413248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recovery time objective met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800600" y="3136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ActiveDR async replication to Cloud DR site with Pure Mediator as tiebreaker. Tested, validated failover — not a cold standby that was never verified.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274320" y="36576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11480" y="37947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858768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24128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Kubernetes Workloads Protected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24128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100%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1024128" y="43525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of OpenShift PVs covered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11480" y="4617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Portworx Enterprise and PX-Backup close the gap Veeam cannot cover. PostgreSQL and stateful apps have application-consistent, policy-driven protection natively inside OpenShift.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4663440" y="365760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800600" y="37947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858768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413248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Single Platform, No Silos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413248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Pure1</a:t>
            </a:r>
            <a:endParaRPr lang="en-US" sz="2200" dirty="0"/>
          </a:p>
        </p:txBody>
      </p:sp>
      <p:sp>
        <p:nvSpPr>
          <p:cNvPr id="45" name="Text 36"/>
          <p:cNvSpPr/>
          <p:nvPr/>
        </p:nvSpPr>
        <p:spPr>
          <a:xfrm>
            <a:off x="5413248" y="43525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DC7"/>
                </a:solidFill>
              </a:rPr>
              <a:t>one pane — FlashArray + FlashBlade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4800600" y="4617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DC7"/>
                </a:solidFill>
              </a:rPr>
              <a:t>Replacing fragmented NAS + S3 + backup silos with a unified Everpure platform. Pure1 AIOps provides predictive management across the entire environment at no additional cost.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HealthSure Insurance — Everpure EHR Solution</dc:title>
  <dc:subject>PptxGenJS Presentation</dc:subject>
  <dc:creator>PptxGenJS</dc:creator>
  <cp:lastModifiedBy>PptxGenJS</cp:lastModifiedBy>
  <cp:revision>1</cp:revision>
  <dcterms:created xsi:type="dcterms:W3CDTF">2026-06-11T13:57:03Z</dcterms:created>
  <dcterms:modified xsi:type="dcterms:W3CDTF">2026-06-11T13:57:03Z</dcterms:modified>
</cp:coreProperties>
</file>