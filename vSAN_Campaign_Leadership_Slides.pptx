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Segment Pipeline — Q2 FY27 ($M Unweighted)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FY27 Pipeline ($M)</c:v>
                </c:pt>
              </c:strCache>
            </c:strRef>
          </c:tx>
          <c:spPr>
            <a:solidFill>
              <a:srgbClr val="0076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6C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US Acq</c:v>
                  </c:pt>
                  <c:pt idx="1">
                    <c:v>US Corp</c:v>
                  </c:pt>
                  <c:pt idx="2">
                    <c:v>US K12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18.1</c:v>
                </c:pt>
                <c:pt idx="1">
                  <c:v>20.7</c:v>
                </c:pt>
                <c:pt idx="2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64592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4747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vSAN Ready Node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Campaign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1389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Pipeline Activation 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2377440" cy="22860"/>
          </a:xfrm>
          <a:prstGeom prst="rect">
            <a:avLst/>
          </a:prstGeom>
          <a:solidFill>
            <a:srgbClr val="0076CE">
              <a:alpha val="60000"/>
            </a:srgbClr>
          </a:solidFill>
          <a:ln w="12700">
            <a:solidFill>
              <a:srgbClr val="0076C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Goal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vSAN Ready Node customers to Dell Private Cloud (PowerStore + PowerEdge) — either migrating hypervisor or moving to DPC platform.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090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383280"/>
            <a:ext cx="2377440" cy="274320"/>
          </a:xfrm>
          <a:prstGeom prst="rect">
            <a:avLst/>
          </a:prstGeom>
          <a:solidFill>
            <a:srgbClr val="132D52"/>
          </a:solidFill>
          <a:ln w="6350">
            <a:solidFill>
              <a:srgbClr val="0076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Corp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410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2377440" cy="274320"/>
          </a:xfrm>
          <a:prstGeom prst="rect">
            <a:avLst/>
          </a:prstGeom>
          <a:solidFill>
            <a:srgbClr val="132D52"/>
          </a:solidFill>
          <a:ln w="6350">
            <a:solidFill>
              <a:srgbClr val="007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758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K12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3758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078224"/>
            <a:ext cx="2377440" cy="274320"/>
          </a:xfrm>
          <a:prstGeom prst="rect">
            <a:avLst/>
          </a:prstGeom>
          <a:solidFill>
            <a:srgbClr val="132D52"/>
          </a:solidFill>
          <a:ln w="6350">
            <a:solidFill>
              <a:srgbClr val="007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1056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Acq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41056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deals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28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Funnel — Q2 FY27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29000" y="5669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vSAN pipeline into ISE-qualified Dell Private Cloud opportunities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1078992"/>
            <a:ext cx="1600200" cy="20116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73068" y="1243584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5364" y="1316736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520440" y="18288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3520440" y="2496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vSAN 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Deals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02152" y="288950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US Corp, K12 &amp; Acq</a:t>
            </a:r>
            <a:endParaRPr lang="en-US" sz="7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810512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02352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5486400" y="1078992"/>
            <a:ext cx="1600200" cy="2011680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30468" y="1243584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64" y="1316736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77840" y="18288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4800" dirty="0"/>
          </a:p>
        </p:txBody>
      </p:sp>
      <p:sp>
        <p:nvSpPr>
          <p:cNvPr id="33" name="Text 28"/>
          <p:cNvSpPr/>
          <p:nvPr/>
        </p:nvSpPr>
        <p:spPr>
          <a:xfrm>
            <a:off x="5577840" y="2496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Reached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ISE Team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559552" y="288950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outreach coverage</a:t>
            </a:r>
            <a:endParaRPr lang="en-US" sz="7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810512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159752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7543800" y="1078992"/>
            <a:ext cx="1600200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087868" y="1243584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164" y="1316736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635240" y="18288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41" name="Text 34"/>
          <p:cNvSpPr/>
          <p:nvPr/>
        </p:nvSpPr>
        <p:spPr>
          <a:xfrm>
            <a:off x="7635240" y="2496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7616952" y="288950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&amp; willing to convert</a:t>
            </a:r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3429000" y="3310128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429000" y="3310128"/>
            <a:ext cx="64008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584448" y="3401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Confirmed Positive Accounts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3584448" y="3721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Agilent Technologies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3584448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SingleStore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3584448" y="4142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Howard Medical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3584448" y="4352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Baltimore County Public Schools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3584448" y="4562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Nielsen Company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6236208" y="37216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Bank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6236208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CCL Label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6236208" y="41422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Barnhart Crane &amp; Rigging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6236208" y="4352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MediaOcean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6236208" y="45628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Altafiber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342900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Technologies — ISE vSAN Campaign  |  Q2 FY27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 &amp; Business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vSAN → Dell Private Cloud Conversion Campaign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164592"/>
            <a:ext cx="1737360" cy="640080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457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" y="1097280"/>
            <a:ext cx="2011680" cy="1234440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2070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860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$41.7M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286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ISE Segments)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" y="2194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Corp + K12 + Acq — Q2 FY27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267712" y="1097280"/>
            <a:ext cx="201168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2070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9152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$15.1M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359152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Booked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(ISE Segments)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359152" y="2194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Corp + K12 + Acq — Q1 FY27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4398264" y="1097280"/>
            <a:ext cx="201168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20700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89704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49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489704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Deals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489704" y="2194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success from outreach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6528816" y="1097280"/>
            <a:ext cx="201168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120700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0256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620256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vSAN RN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6620256" y="2194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US segments</a:t>
            </a:r>
            <a:endParaRPr lang="en-US" sz="7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137160" y="2487168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Shape 23"/>
          <p:cNvSpPr/>
          <p:nvPr/>
        </p:nvSpPr>
        <p:spPr>
          <a:xfrm>
            <a:off x="4434840" y="2487168"/>
            <a:ext cx="45720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434840" y="2487168"/>
            <a:ext cx="64008" cy="2377440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617720" y="2578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Campaign Matters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617720" y="29443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$41.7M in active pipeline across 3 ISE segments — directly actionable by the team.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617720" y="332841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10 confirmed wins from just 49 outreaches = 20% hit rate, proving model viability.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617720" y="371246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73 deals (59%) still untouched — significant upside remains in the same pipeline.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617720" y="4096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Path: vSAN Ready Nodes → Dell Private Cloud (PowerStore + PowerEdge), retaining or migrating VMware workloads.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617720" y="448056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Total NA vSAN RN revenue booking: $353M (Q1 FY27), validating the market size.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37160" y="495604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vSAN Pipe &amp; Revenue workbook  |  Dell Technologies ISE — Q2 FY27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2026-05-05T16:37:35Z</dcterms:created>
  <dcterms:modified xsi:type="dcterms:W3CDTF">2026-05-05T16:37:35Z</dcterms:modified>
</cp:coreProperties>
</file>