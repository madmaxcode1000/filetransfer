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0CECE-5F5D-4032-9BC6-2A1410FC2E51}" v="17" dt="2025-06-18T18:12:13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353" autoAdjust="0"/>
  </p:normalViewPr>
  <p:slideViewPr>
    <p:cSldViewPr snapToGrid="0">
      <p:cViewPr>
        <p:scale>
          <a:sx n="58" d="100"/>
          <a:sy n="58" d="100"/>
        </p:scale>
        <p:origin x="987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7ADD4-9466-4F75-BEF4-2FCDC071E21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0B9BF0-E774-449B-B512-463AD423B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28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EBD18-8565-D81B-E276-61460F50E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FFD44-1883-DA05-F3C0-7E735709A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5B246-2F43-BC61-99A7-A8A7454C2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Portfolio Coverage:</a:t>
            </a:r>
            <a:br>
              <a:rPr lang="en-US" dirty="0"/>
            </a:br>
            <a:r>
              <a:rPr lang="en-US" b="1" dirty="0"/>
              <a:t>Primary Storage </a:t>
            </a:r>
            <a:r>
              <a:rPr lang="en-US" dirty="0"/>
              <a:t>:1. PowerMax 2.PowerStore 3.Unity </a:t>
            </a:r>
          </a:p>
          <a:p>
            <a:r>
              <a:rPr lang="en-US" b="1" dirty="0"/>
              <a:t>Multi-Cloud</a:t>
            </a:r>
            <a:r>
              <a:rPr lang="en-US" dirty="0"/>
              <a:t>: 1.VxRails 2.PowerFlex 3.Nutanix XC 4.Azure Local (previously called Azure Stack HCI) 5.Dell Automated Platform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Offerings summary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1.</a:t>
            </a:r>
            <a:r>
              <a:rPr lang="en-US" b="1" dirty="0"/>
              <a:t>Custom Demos </a:t>
            </a:r>
            <a:r>
              <a:rPr lang="en-US" dirty="0"/>
              <a:t>– Tailored demonstrations aligned to specific customer needs and use cases. </a:t>
            </a:r>
          </a:p>
          <a:p>
            <a:pPr>
              <a:buNone/>
            </a:pPr>
            <a:r>
              <a:rPr lang="en-US" dirty="0"/>
              <a:t>2. </a:t>
            </a:r>
            <a:r>
              <a:rPr lang="en-US" b="1" dirty="0"/>
              <a:t>Technical Deep Dives </a:t>
            </a:r>
            <a:r>
              <a:rPr lang="en-US" dirty="0"/>
              <a:t>– Detailed technical explorations of Dell solutions and architectures.</a:t>
            </a:r>
          </a:p>
          <a:p>
            <a:pPr>
              <a:buNone/>
            </a:pPr>
            <a:r>
              <a:rPr lang="en-US" dirty="0"/>
              <a:t>3</a:t>
            </a:r>
            <a:r>
              <a:rPr lang="en-US" b="1" dirty="0"/>
              <a:t>. Workload/App Analysis </a:t>
            </a:r>
            <a:r>
              <a:rPr lang="en-US" dirty="0"/>
              <a:t>– Assessments of workloads and applications to optimize infrastructure fit.</a:t>
            </a:r>
          </a:p>
          <a:p>
            <a:pPr>
              <a:buNone/>
            </a:pPr>
            <a:r>
              <a:rPr lang="en-US" dirty="0"/>
              <a:t>4</a:t>
            </a:r>
            <a:r>
              <a:rPr lang="en-US" b="1" dirty="0"/>
              <a:t>. Solutioning &amp; Peer Reviews </a:t>
            </a:r>
            <a:r>
              <a:rPr lang="en-US" dirty="0"/>
              <a:t>– Collaborative solution design with expert validation and feedback.</a:t>
            </a:r>
          </a:p>
          <a:p>
            <a:pPr>
              <a:buNone/>
            </a:pPr>
            <a:r>
              <a:rPr lang="en-US" dirty="0"/>
              <a:t>5</a:t>
            </a:r>
            <a:r>
              <a:rPr lang="en-US" b="1" dirty="0"/>
              <a:t>. Competitive Landscape </a:t>
            </a:r>
            <a:r>
              <a:rPr lang="en-US" dirty="0"/>
              <a:t>– Insights and positioning strategies against competitor offerings. </a:t>
            </a:r>
          </a:p>
          <a:p>
            <a:pPr>
              <a:buNone/>
            </a:pPr>
            <a:r>
              <a:rPr lang="en-US" dirty="0"/>
              <a:t>6. </a:t>
            </a:r>
            <a:r>
              <a:rPr lang="en-US" b="1" dirty="0"/>
              <a:t>Tech &amp; Roadmap Updates </a:t>
            </a:r>
            <a:r>
              <a:rPr lang="en-US" dirty="0"/>
              <a:t>– Latest technology advancements and product roadmaps shared with stakeholders.</a:t>
            </a:r>
          </a:p>
          <a:p>
            <a:pPr>
              <a:buNone/>
            </a:pPr>
            <a:r>
              <a:rPr lang="en-US" dirty="0"/>
              <a:t>7. </a:t>
            </a:r>
            <a:r>
              <a:rPr lang="en-US" b="1" dirty="0"/>
              <a:t>Customer/Partner Enablement </a:t>
            </a:r>
            <a:r>
              <a:rPr lang="en-US" dirty="0"/>
              <a:t>– Training and guidance to empower customers and partners on Dell solutions.</a:t>
            </a:r>
          </a:p>
          <a:p>
            <a:pPr>
              <a:buNone/>
            </a:pPr>
            <a:r>
              <a:rPr lang="en-US" dirty="0"/>
              <a:t>8. </a:t>
            </a:r>
            <a:r>
              <a:rPr lang="en-US" b="1" dirty="0"/>
              <a:t>Internal Enablement Sessions </a:t>
            </a:r>
            <a:r>
              <a:rPr lang="en-US" dirty="0"/>
              <a:t>– Knowledge-sharing sessions to upskill internal teams.</a:t>
            </a:r>
          </a:p>
          <a:p>
            <a:pPr>
              <a:buNone/>
            </a:pPr>
            <a:r>
              <a:rPr lang="en-US" dirty="0"/>
              <a:t>9. </a:t>
            </a:r>
            <a:r>
              <a:rPr lang="en-US" b="1" dirty="0"/>
              <a:t>Proof Of Concepts </a:t>
            </a:r>
            <a:r>
              <a:rPr lang="en-US" dirty="0"/>
              <a:t>– Real-world validations of solutions in customer environments.</a:t>
            </a:r>
          </a:p>
          <a:p>
            <a:r>
              <a:rPr lang="en-US" dirty="0"/>
              <a:t>10. </a:t>
            </a:r>
            <a:r>
              <a:rPr lang="en-US" b="1" dirty="0"/>
              <a:t>Consultative Conversations </a:t>
            </a:r>
            <a:r>
              <a:rPr lang="en-US" dirty="0"/>
              <a:t>– Strategic discussions to align technology with business outcomes.</a:t>
            </a:r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49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54FB5-2F82-79D5-6770-CB432B31C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293F9F-15E1-3323-9472-03973537E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9FA63-9AB8-A943-C497-D34BB4F93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65853-5FCF-45D6-A6D6-5F5EFC53059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3A476-10C7-0473-4667-A589BAF9F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22281-E1DA-AE9C-D5B4-0DC08D350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952B-984F-4044-B5BF-AC38D51F4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09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C654-F556-9F0C-F7E9-85D622E63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3207F-6D1C-52CD-60E1-5851EE74A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F7390-7D3F-2D43-9EE2-16DFC4BF0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65853-5FCF-45D6-A6D6-5F5EFC53059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3125A-55BE-E93A-A8E1-94822581A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B633F-35FC-8BCC-F467-20D159B5C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952B-984F-4044-B5BF-AC38D51F4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551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268CD-5419-F9E2-B95D-30D93766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E1320-B55E-3ED4-7E33-5A9CDFA62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A9DE9-B4A2-BD04-9A4B-FC31AE1F6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65853-5FCF-45D6-A6D6-5F5EFC53059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CBBF3-B4D5-3EA6-E878-E36F37AB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227FC-B24D-67B7-EBDA-849CBC465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952B-984F-4044-B5BF-AC38D51F4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52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CA8F4-3F75-C461-8B04-1A7BC4F88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F8995-A042-4ED9-5AA5-7A61CD96C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0961B-B001-CFEB-4BA4-B7F37B6F6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B7C55D-2634-DBF4-AE2A-7EB1776E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65853-5FCF-45D6-A6D6-5F5EFC53059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50EB-3BE1-F232-BFC4-A7C2CEF44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A5CD7-7301-819A-6475-4A7CB0A95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952B-984F-4044-B5BF-AC38D51F4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76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CAB29-4E2E-CE99-BA84-DCA0610A1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5ADCD-72E7-1A10-AA30-B36031ECE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AC768D-F5F9-152D-D6F1-677252B01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A4BEF7-9019-3DF8-32C3-851A98C68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04056D-BE30-7661-D82C-CFA939D428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3CA7FA-5902-5EB8-129D-E3C6D8253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65853-5FCF-45D6-A6D6-5F5EFC53059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5CB00-1A6B-7E23-E7D2-0B8EF27FC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193244-0741-09C1-8AF9-F153C97B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952B-984F-4044-B5BF-AC38D51F4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41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246C9-2B3A-0803-486F-EE593C1E1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28942-1FDF-3A1D-9F03-B99C264A2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65853-5FCF-45D6-A6D6-5F5EFC53059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375348-EF65-7383-8B82-6798732AF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CBF1A-2E62-3811-59F7-65ECFAB0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952B-984F-4044-B5BF-AC38D51F4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95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4ABE35-8752-DAE3-1696-B5D84B8A6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65853-5FCF-45D6-A6D6-5F5EFC53059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312651-4B36-FDDF-66DE-B1B1E5653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B997A-EA52-7948-201C-BE88D237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952B-984F-4044-B5BF-AC38D51F4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95812-E9C2-2DC6-3AA2-84BABF72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5C398-B1C5-0B5C-F1A3-330375858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DA121-4E83-FDBE-1D26-1BF339C6D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297A5-7F50-EE47-B4A7-BA1BC2001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65853-5FCF-45D6-A6D6-5F5EFC53059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432D0-E8D9-880E-BBDE-8869AEBD0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80FEF-1E14-5BF1-E5FA-477B38AC2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952B-984F-4044-B5BF-AC38D51F4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7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EFC06-14BE-936C-B7B2-48739783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28CC1A-C3A7-226E-0688-D192B71AB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3FF37-936F-EF49-4B8D-8A1BB668D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4E947-EB3C-F3ED-A6CF-77311DDC5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65853-5FCF-45D6-A6D6-5F5EFC53059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654B4-CCAD-7CE1-D75E-C4AEA195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3482D-8F85-2D0C-2BEB-B5BA2E5FC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952B-984F-4044-B5BF-AC38D51F4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209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D8AF-A9D4-27BB-4FAB-4EA5BE42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916E7-FF22-8247-81E4-68D960858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C53D1-1ED6-B88E-EAEC-FF831E1BF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65853-5FCF-45D6-A6D6-5F5EFC53059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B9288-EA3D-502A-3870-EA505AF4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F2F87-4EF4-B2DE-C425-2EB8CE5A6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952B-984F-4044-B5BF-AC38D51F4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482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87F09F-A304-AE4F-6042-25D4C5E80D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0F4BA-92E6-0377-1C0B-24E4F8320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BCF80-8105-D10A-CEA5-2F3B1D421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65853-5FCF-45D6-A6D6-5F5EFC53059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B472B-86B0-18DB-317A-CB87ECF6B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375D9-FF5F-C9EC-FCA6-97056D786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952B-984F-4044-B5BF-AC38D51F4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37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 blue gradient bkgd">
    <p:bg>
      <p:bgPr>
        <a:gradFill>
          <a:gsLst>
            <a:gs pos="0">
              <a:schemeClr val="accent6"/>
            </a:gs>
            <a:gs pos="26000">
              <a:schemeClr val="bg1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8043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42900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2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5948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00781B-26E9-4601-3623-7D1AA406F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EF918-EC84-3F2A-DA13-5DA635D3C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EE7BC-3AB3-1D1B-23C8-FB1F528F0D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65853-5FCF-45D6-A6D6-5F5EFC53059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13DE5-EAA7-DA6B-E09D-9471FB170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F5FAF-FCC3-5922-DB4B-DDF427C39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D952B-984F-4044-B5BF-AC38D51F4AF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84810A-E0E4-5D51-3E0E-525DEC64520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9699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821115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7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 userDrawn="1"/>
        </p:nvSpPr>
        <p:spPr>
          <a:xfrm>
            <a:off x="5120251" y="6702028"/>
            <a:ext cx="94577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D52492-B32C-4F5C-93C4-B867BDF3FDD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9699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69791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microsoft.com/office/2007/relationships/hdphoto" Target="../media/hdphoto1.wdp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DACE8-5B0A-0120-7844-0AE95F9C7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80D218E8-E186-555A-0131-22DFB3B813DB}"/>
              </a:ext>
            </a:extLst>
          </p:cNvPr>
          <p:cNvGrpSpPr/>
          <p:nvPr/>
        </p:nvGrpSpPr>
        <p:grpSpPr>
          <a:xfrm>
            <a:off x="437327" y="1013989"/>
            <a:ext cx="2848482" cy="5050358"/>
            <a:chOff x="437327" y="1013989"/>
            <a:chExt cx="2848482" cy="505035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13C4CDE-6299-2935-9E05-FA7A9F257BD9}"/>
                </a:ext>
              </a:extLst>
            </p:cNvPr>
            <p:cNvSpPr/>
            <p:nvPr/>
          </p:nvSpPr>
          <p:spPr>
            <a:xfrm>
              <a:off x="437328" y="1013989"/>
              <a:ext cx="2840099" cy="755219"/>
            </a:xfrm>
            <a:prstGeom prst="roundRect">
              <a:avLst/>
            </a:prstGeom>
            <a:noFill/>
            <a:ln w="1270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/>
                </a:rPr>
                <a:t>Custom Demos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529C1C4-BDE4-5AF6-5892-0449EF2BDF45}"/>
                </a:ext>
              </a:extLst>
            </p:cNvPr>
            <p:cNvSpPr/>
            <p:nvPr/>
          </p:nvSpPr>
          <p:spPr>
            <a:xfrm>
              <a:off x="437327" y="4248813"/>
              <a:ext cx="2840099" cy="755220"/>
            </a:xfrm>
            <a:prstGeom prst="roundRect">
              <a:avLst/>
            </a:prstGeom>
            <a:noFill/>
            <a:ln w="1270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/>
                </a:rPr>
                <a:t>Solutioning &amp; Peer Reviews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A13F237-0D13-E744-989C-98272877B366}"/>
                </a:ext>
              </a:extLst>
            </p:cNvPr>
            <p:cNvSpPr/>
            <p:nvPr/>
          </p:nvSpPr>
          <p:spPr>
            <a:xfrm>
              <a:off x="445710" y="2095988"/>
              <a:ext cx="2840099" cy="755219"/>
            </a:xfrm>
            <a:prstGeom prst="roundRect">
              <a:avLst/>
            </a:prstGeom>
            <a:noFill/>
            <a:ln w="1270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dirty="0">
                  <a:solidFill>
                    <a:schemeClr val="tx2"/>
                  </a:solidFill>
                  <a:latin typeface="Arial"/>
                </a:rPr>
                <a:t>Technical Deep Dives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8F44FFF-1861-1378-07BB-76FE9AF90A0C}"/>
                </a:ext>
              </a:extLst>
            </p:cNvPr>
            <p:cNvSpPr/>
            <p:nvPr/>
          </p:nvSpPr>
          <p:spPr>
            <a:xfrm>
              <a:off x="437327" y="3242380"/>
              <a:ext cx="2840099" cy="749563"/>
            </a:xfrm>
            <a:prstGeom prst="roundRect">
              <a:avLst/>
            </a:prstGeom>
            <a:noFill/>
            <a:ln w="1270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/>
                </a:rPr>
                <a:t>Workload/App Analysis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A7BDD85-6BE8-54B2-FB4B-BC8B0A18F7A0}"/>
                </a:ext>
              </a:extLst>
            </p:cNvPr>
            <p:cNvSpPr/>
            <p:nvPr/>
          </p:nvSpPr>
          <p:spPr>
            <a:xfrm>
              <a:off x="437327" y="5314784"/>
              <a:ext cx="2840099" cy="749563"/>
            </a:xfrm>
            <a:prstGeom prst="roundRect">
              <a:avLst/>
            </a:prstGeom>
            <a:noFill/>
            <a:ln w="1270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/>
                </a:rPr>
                <a:t>Competitive Landscape </a:t>
              </a:r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B687C38-D09B-23D7-7939-BB9574858B23}"/>
              </a:ext>
            </a:extLst>
          </p:cNvPr>
          <p:cNvSpPr/>
          <p:nvPr/>
        </p:nvSpPr>
        <p:spPr>
          <a:xfrm>
            <a:off x="8696368" y="1013989"/>
            <a:ext cx="2840099" cy="760949"/>
          </a:xfrm>
          <a:prstGeom prst="roundRect">
            <a:avLst/>
          </a:prstGeom>
          <a:noFill/>
          <a:ln w="12700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</a:rPr>
              <a:t>Tech &amp; Roadmap Updates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71F84AB-D92A-9B1F-BF22-1D043353B81C}"/>
              </a:ext>
            </a:extLst>
          </p:cNvPr>
          <p:cNvSpPr/>
          <p:nvPr/>
        </p:nvSpPr>
        <p:spPr>
          <a:xfrm>
            <a:off x="8640058" y="2064042"/>
            <a:ext cx="2896408" cy="760950"/>
          </a:xfrm>
          <a:prstGeom prst="roundRect">
            <a:avLst/>
          </a:prstGeom>
          <a:noFill/>
          <a:ln w="12700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</a:rPr>
              <a:t>Customer/Partner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tx2"/>
                </a:solidFill>
                <a:latin typeface="Arial"/>
              </a:rPr>
              <a:t>Enablement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1A7A87D-47BD-28B6-99CE-E0C9F5A48377}"/>
              </a:ext>
            </a:extLst>
          </p:cNvPr>
          <p:cNvSpPr/>
          <p:nvPr/>
        </p:nvSpPr>
        <p:spPr>
          <a:xfrm>
            <a:off x="8640059" y="4240919"/>
            <a:ext cx="2896407" cy="748201"/>
          </a:xfrm>
          <a:prstGeom prst="roundRect">
            <a:avLst/>
          </a:prstGeom>
          <a:noFill/>
          <a:ln w="12700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</a:rPr>
              <a:t>Proof Of Concepts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36A0881-87CD-E6EF-35C6-53B93055B834}"/>
              </a:ext>
            </a:extLst>
          </p:cNvPr>
          <p:cNvGrpSpPr/>
          <p:nvPr/>
        </p:nvGrpSpPr>
        <p:grpSpPr>
          <a:xfrm>
            <a:off x="4132026" y="3894438"/>
            <a:ext cx="3747963" cy="2336288"/>
            <a:chOff x="4053384" y="3832310"/>
            <a:chExt cx="3841845" cy="247187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042C103-EB30-AC86-BF58-C08238743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404434" y="4400820"/>
              <a:ext cx="3195409" cy="537176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51000"/>
                </a:srgbClr>
              </a:outerShdw>
            </a:effec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9ACEB9D-9B48-91F5-B054-2DB4007B8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67207" y="3832310"/>
              <a:ext cx="2854979" cy="502519"/>
            </a:xfrm>
            <a:prstGeom prst="rect">
              <a:avLst/>
            </a:prstGeom>
          </p:spPr>
        </p:pic>
        <p:pic>
          <p:nvPicPr>
            <p:cNvPr id="14" name="Picture 13" descr="Graphical user interface&#10;&#10;Description automatically generated">
              <a:extLst>
                <a:ext uri="{FF2B5EF4-FFF2-40B4-BE49-F238E27FC236}">
                  <a16:creationId xmlns:a16="http://schemas.microsoft.com/office/drawing/2014/main" id="{8E18C216-DAF8-9CE0-FF97-CBC405EB3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24" t="8635" r="1523" b="8300"/>
            <a:stretch/>
          </p:blipFill>
          <p:spPr>
            <a:xfrm>
              <a:off x="4114800" y="5713816"/>
              <a:ext cx="3698543" cy="590365"/>
            </a:xfrm>
            <a:prstGeom prst="rect">
              <a:avLst/>
            </a:prstGeom>
            <a:effectLst>
              <a:reflection blurRad="6350" stA="52000" endA="300" endPos="35000" dir="5400000" sy="-100000" algn="bl" rotWithShape="0"/>
            </a:effectLst>
          </p:spPr>
        </p:pic>
        <p:pic>
          <p:nvPicPr>
            <p:cNvPr id="15" name="Picture 14" descr="A close-up of a computer&#10;&#10;Description automatically generated">
              <a:extLst>
                <a:ext uri="{FF2B5EF4-FFF2-40B4-BE49-F238E27FC236}">
                  <a16:creationId xmlns:a16="http://schemas.microsoft.com/office/drawing/2014/main" id="{B0A51D88-9714-9D58-3778-0FDB528EC6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11882"/>
            <a:stretch/>
          </p:blipFill>
          <p:spPr>
            <a:xfrm>
              <a:off x="4053384" y="4977680"/>
              <a:ext cx="3841845" cy="604460"/>
            </a:xfrm>
            <a:prstGeom prst="rect">
              <a:avLst/>
            </a:prstGeom>
            <a:effectLst/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B2C9409-C2C0-78AA-79B5-DCDC57564293}"/>
              </a:ext>
            </a:extLst>
          </p:cNvPr>
          <p:cNvGrpSpPr/>
          <p:nvPr/>
        </p:nvGrpSpPr>
        <p:grpSpPr>
          <a:xfrm>
            <a:off x="4709768" y="850052"/>
            <a:ext cx="2772464" cy="2185518"/>
            <a:chOff x="4785385" y="704440"/>
            <a:chExt cx="2772464" cy="218551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17DB5A2-D74E-40CD-07AD-0EE8D68DB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196" r="2196"/>
            <a:stretch/>
          </p:blipFill>
          <p:spPr>
            <a:xfrm>
              <a:off x="4866931" y="1719981"/>
              <a:ext cx="2609372" cy="452698"/>
            </a:xfrm>
            <a:prstGeom prst="rect">
              <a:avLst/>
            </a:prstGeom>
            <a:noFill/>
            <a:effectLst/>
          </p:spPr>
        </p:pic>
        <p:pic>
          <p:nvPicPr>
            <p:cNvPr id="17" name="Picture 16" descr="Dell PowerMax server">
              <a:extLst>
                <a:ext uri="{FF2B5EF4-FFF2-40B4-BE49-F238E27FC236}">
                  <a16:creationId xmlns:a16="http://schemas.microsoft.com/office/drawing/2014/main" id="{EC82CEFC-7DBF-1D49-1B55-E013E04968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39325"/>
            <a:stretch/>
          </p:blipFill>
          <p:spPr>
            <a:xfrm>
              <a:off x="4785385" y="704440"/>
              <a:ext cx="2772464" cy="938472"/>
            </a:xfrm>
            <a:prstGeom prst="rect">
              <a:avLst/>
            </a:prstGeom>
          </p:spPr>
        </p:pic>
        <p:pic>
          <p:nvPicPr>
            <p:cNvPr id="27" name="Picture 26" title="PowerEdge Unity XT ">
              <a:extLst>
                <a:ext uri="{FF2B5EF4-FFF2-40B4-BE49-F238E27FC236}">
                  <a16:creationId xmlns:a16="http://schemas.microsoft.com/office/drawing/2014/main" id="{4B69F818-13A4-218A-3BFE-DE4B4896F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3000" contrast="-1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2004" y="2319054"/>
              <a:ext cx="2319225" cy="570904"/>
            </a:xfrm>
            <a:prstGeom prst="rect">
              <a:avLst/>
            </a:prstGeom>
          </p:spPr>
        </p:pic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D9B8718-113D-ABCE-CDF4-695B17B31601}"/>
              </a:ext>
            </a:extLst>
          </p:cNvPr>
          <p:cNvSpPr/>
          <p:nvPr/>
        </p:nvSpPr>
        <p:spPr>
          <a:xfrm>
            <a:off x="4620661" y="2979795"/>
            <a:ext cx="2770696" cy="396974"/>
          </a:xfrm>
          <a:prstGeom prst="roundRect">
            <a:avLst/>
          </a:prstGeom>
          <a:noFill/>
          <a:ln w="12700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</a:rPr>
              <a:t>Primary Storage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14E2685-DFB1-67BD-EABA-2987BFA10125}"/>
              </a:ext>
            </a:extLst>
          </p:cNvPr>
          <p:cNvSpPr/>
          <p:nvPr/>
        </p:nvSpPr>
        <p:spPr>
          <a:xfrm>
            <a:off x="4620660" y="3427919"/>
            <a:ext cx="2770696" cy="396974"/>
          </a:xfrm>
          <a:prstGeom prst="roundRect">
            <a:avLst/>
          </a:prstGeom>
          <a:noFill/>
          <a:ln w="12700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</a:rPr>
              <a:t>Multi-cloud 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C5F3790-A17A-F426-C930-93D81980C7A7}"/>
              </a:ext>
            </a:extLst>
          </p:cNvPr>
          <p:cNvSpPr/>
          <p:nvPr/>
        </p:nvSpPr>
        <p:spPr>
          <a:xfrm>
            <a:off x="8640059" y="3172885"/>
            <a:ext cx="2896408" cy="760950"/>
          </a:xfrm>
          <a:prstGeom prst="roundRect">
            <a:avLst/>
          </a:prstGeom>
          <a:noFill/>
          <a:ln w="12700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</a:rPr>
              <a:t>Internal Enablement Sessions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884A10A-E042-DF57-A141-4005446ED766}"/>
              </a:ext>
            </a:extLst>
          </p:cNvPr>
          <p:cNvSpPr/>
          <p:nvPr/>
        </p:nvSpPr>
        <p:spPr>
          <a:xfrm>
            <a:off x="8640059" y="5314784"/>
            <a:ext cx="2896407" cy="748201"/>
          </a:xfrm>
          <a:prstGeom prst="roundRect">
            <a:avLst/>
          </a:prstGeom>
          <a:noFill/>
          <a:ln w="12700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</a:rPr>
              <a:t>Consultative Conversations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8D111B-7216-C448-F534-7A161EEAC0DC}"/>
              </a:ext>
            </a:extLst>
          </p:cNvPr>
          <p:cNvSpPr txBox="1"/>
          <p:nvPr/>
        </p:nvSpPr>
        <p:spPr>
          <a:xfrm>
            <a:off x="748457" y="227963"/>
            <a:ext cx="1049512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2"/>
                </a:solidFill>
              </a:rPr>
              <a:t>Cloud Inside Specialists Value Add</a:t>
            </a:r>
          </a:p>
        </p:txBody>
      </p:sp>
    </p:spTree>
    <p:extLst>
      <p:ext uri="{BB962C8B-B14F-4D97-AF65-F5344CB8AC3E}">
        <p14:creationId xmlns:p14="http://schemas.microsoft.com/office/powerpoint/2010/main" val="3066595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3_Dell Tech template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custClrLst>
    <a:custClr name="White">
      <a:srgbClr val="FFFFFF"/>
    </a:custClr>
    <a:custClr name="Carbon">
      <a:srgbClr val="444444"/>
    </a:custClr>
    <a:custClr name="Midnight">
      <a:srgbClr val="0D2155"/>
    </a:custClr>
    <a:custClr name="Cornflower">
      <a:srgbClr val="58A5E6"/>
    </a:custClr>
    <a:custClr name="Deep Green">
      <a:srgbClr val="244739"/>
    </a:custClr>
    <a:custClr name="Grass">
      <a:srgbClr val="4EE760"/>
    </a:custClr>
    <a:custClr name="Raisin">
      <a:srgbClr val="2A145A"/>
    </a:custClr>
    <a:custClr name="Iris">
      <a:srgbClr val="9F78FC"/>
    </a:custClr>
    <a:custClr name="Wine">
      <a:srgbClr val="4A193A"/>
    </a:custClr>
    <a:custClr name="Coral">
      <a:srgbClr val="E1633F"/>
    </a:custClr>
    <a:custClr name="White">
      <a:srgbClr val="FFFFFF"/>
    </a:custClr>
    <a:custClr name="Steel">
      <a:srgbClr val="6E6E6E"/>
    </a:custClr>
    <a:custClr name="Navy">
      <a:srgbClr val="00227F"/>
    </a:custClr>
    <a:custClr name="Sky">
      <a:srgbClr val="80C7FB"/>
    </a:custClr>
    <a:custClr name="Forest">
      <a:srgbClr val="1B5744"/>
    </a:custClr>
    <a:custClr name="Mint">
      <a:srgbClr val="7BFC76"/>
    </a:custClr>
    <a:custClr name="Eggplant">
      <a:srgbClr val="500A96"/>
    </a:custClr>
    <a:custClr name="Wisteria">
      <a:srgbClr val="AA96FA"/>
    </a:custClr>
    <a:custClr name="Burgundy">
      <a:srgbClr val="691D3F"/>
    </a:custClr>
    <a:custClr name="Orange">
      <a:srgbClr val="E17F3F"/>
    </a:custClr>
    <a:custClr name="White">
      <a:srgbClr val="FFFFFF"/>
    </a:custClr>
    <a:custClr name="Gray">
      <a:srgbClr val="808080"/>
    </a:custClr>
    <a:custClr name="Royal">
      <a:srgbClr val="0C32A4"/>
    </a:custClr>
    <a:custClr name="Pool">
      <a:srgbClr val="9FDDFF"/>
    </a:custClr>
    <a:custClr name="Hunter">
      <a:srgbClr val="247554"/>
    </a:custClr>
    <a:custClr name="Lime">
      <a:srgbClr val="9FFF99"/>
    </a:custClr>
    <a:custClr name="Plum">
      <a:srgbClr val="612CB0"/>
    </a:custClr>
    <a:custClr name="Lavender">
      <a:srgbClr val="BEAFFF"/>
    </a:custClr>
    <a:custClr name="Ruby">
      <a:srgbClr val="85133F"/>
    </a:custClr>
    <a:custClr name="Apricot">
      <a:srgbClr val="F4BB5E"/>
    </a:custClr>
    <a:custClr name="White">
      <a:srgbClr val="FFFFFF"/>
    </a:custClr>
    <a:custClr name="Granite">
      <a:srgbClr val="C8C9C7"/>
    </a:custClr>
    <a:custClr name="Cobalt">
      <a:srgbClr val="1D56C0"/>
    </a:custClr>
    <a:custClr name="Mist">
      <a:srgbClr val="CBEEFF"/>
    </a:custClr>
    <a:custClr name="Kelly">
      <a:srgbClr val="349E5F"/>
    </a:custClr>
    <a:custClr name="Honeydew">
      <a:srgbClr val="BFFFB7"/>
    </a:custClr>
    <a:custClr name="Violet">
      <a:srgbClr val="743DD4"/>
    </a:custClr>
    <a:custClr name="Lilac">
      <a:srgbClr val="C8C0FF"/>
    </a:custClr>
    <a:custClr name="Scarlet">
      <a:srgbClr val="B30B37"/>
    </a:custClr>
    <a:custClr name="Marigold">
      <a:srgbClr val="F9D674"/>
    </a:custClr>
    <a:custClr name="White">
      <a:srgbClr val="FFFFFF"/>
    </a:custClr>
    <a:custClr name="Quartz">
      <a:srgbClr val="EEEEEE"/>
    </a:custClr>
    <a:custClr name="Dell Blue">
      <a:srgbClr val="0672CB"/>
    </a:custClr>
    <a:custClr name="Glacier">
      <a:srgbClr val="E5F8FF"/>
    </a:custClr>
    <a:custClr name="Basil">
      <a:srgbClr val="37CC5C"/>
    </a:custClr>
    <a:custClr name="Tea Green">
      <a:srgbClr val="E4FFD6"/>
    </a:custClr>
    <a:custClr name="Amethyst">
      <a:srgbClr val="8E5CEF"/>
    </a:custClr>
    <a:custClr name="Periwinkle">
      <a:srgbClr val="DEDDFF"/>
    </a:custClr>
    <a:custClr name="Cherry">
      <a:srgbClr val="D2333D"/>
    </a:custClr>
    <a:custClr name="Sand">
      <a:srgbClr val="FBEECE"/>
    </a:custClr>
  </a:custClrLst>
  <a:extLst>
    <a:ext uri="{05A4C25C-085E-4340-85A3-A5531E510DB2}">
      <thm15:themeFamily xmlns:thm15="http://schemas.microsoft.com/office/thememl/2012/main" name="Presentation1" id="{5EF1CDA1-EC36-4443-B599-32522B80A227}" vid="{FFE54AAF-3F30-4CFF-8037-C36F2264C18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243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3_Dell Tech template</vt:lpstr>
      <vt:lpstr>PowerPoint Presentation</vt:lpstr>
    </vt:vector>
  </TitlesOfParts>
  <Company>Dell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Shukla, Harsh</dc:creator>
  <cp:lastModifiedBy>Shukla, Harsh</cp:lastModifiedBy>
  <cp:revision>2</cp:revision>
  <dcterms:created xsi:type="dcterms:W3CDTF">2025-06-18T14:21:41Z</dcterms:created>
  <dcterms:modified xsi:type="dcterms:W3CDTF">2026-06-18T03:47:44Z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dd1fcc-24d7-4f55-9dc2-c1518f171327_Enabled">
    <vt:lpwstr>true</vt:lpwstr>
  </property>
  <property fmtid="{D5CDD505-2E9C-101B-9397-08002B2CF9AE}" pid="3" name="MSIP_Label_73dd1fcc-24d7-4f55-9dc2-c1518f171327_SetDate">
    <vt:lpwstr>2025-06-18T16:04:10Z</vt:lpwstr>
  </property>
  <property fmtid="{D5CDD505-2E9C-101B-9397-08002B2CF9AE}" pid="4" name="MSIP_Label_73dd1fcc-24d7-4f55-9dc2-c1518f171327_Method">
    <vt:lpwstr>Privileged</vt:lpwstr>
  </property>
  <property fmtid="{D5CDD505-2E9C-101B-9397-08002B2CF9AE}" pid="5" name="MSIP_Label_73dd1fcc-24d7-4f55-9dc2-c1518f171327_Name">
    <vt:lpwstr>No Protection (Label Only) - Internal Use</vt:lpwstr>
  </property>
  <property fmtid="{D5CDD505-2E9C-101B-9397-08002B2CF9AE}" pid="6" name="MSIP_Label_73dd1fcc-24d7-4f55-9dc2-c1518f171327_SiteId">
    <vt:lpwstr>945c199a-83a2-4e80-9f8c-5a91be5752dd</vt:lpwstr>
  </property>
  <property fmtid="{D5CDD505-2E9C-101B-9397-08002B2CF9AE}" pid="7" name="MSIP_Label_73dd1fcc-24d7-4f55-9dc2-c1518f171327_ActionId">
    <vt:lpwstr>e2ae35dd-d891-4280-99b7-fe8537cff61e</vt:lpwstr>
  </property>
  <property fmtid="{D5CDD505-2E9C-101B-9397-08002B2CF9AE}" pid="8" name="MSIP_Label_73dd1fcc-24d7-4f55-9dc2-c1518f171327_ContentBits">
    <vt:lpwstr>2</vt:lpwstr>
  </property>
  <property fmtid="{D5CDD505-2E9C-101B-9397-08002B2CF9AE}" pid="9" name="MSIP_Label_73dd1fcc-24d7-4f55-9dc2-c1518f171327_Tag">
    <vt:lpwstr>10, 0, 1, 1</vt:lpwstr>
  </property>
  <property fmtid="{D5CDD505-2E9C-101B-9397-08002B2CF9AE}" pid="10" name="ClassificationContentMarkingFooterLocations">
    <vt:lpwstr>Office Theme:8\3_Dell Tech template:4</vt:lpwstr>
  </property>
  <property fmtid="{D5CDD505-2E9C-101B-9397-08002B2CF9AE}" pid="11" name="ClassificationContentMarkingFooterText">
    <vt:lpwstr>Internal Use - Confidential</vt:lpwstr>
  </property>
</Properties>
</file>