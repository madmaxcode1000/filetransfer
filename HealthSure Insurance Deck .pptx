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5"/>
  </p:notesMasterIdLst>
  <p:sldIdLst>
    <p:sldId id="256" r:id="rId3"/>
    <p:sldId id="257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404" autoAdjust="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9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6/11/2026</a:t>
            </a:fld>
            <a:endParaRPr lang="en-US"/>
          </a:p>
        </p:txBody>
      </p:sp>
      <p:sp>
        <p:nvSpPr>
          <p:cNvPr id="104889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9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9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9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strong. Let the 5-day outage number land before moving to the next slide. The stats set the stakes.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incident sequence first — credential compromise → snapshot delete → backup encrypt → 5-day tape restore. Then point to each component on the diagram that failed. Let the red borders tell the story visually.</a:t>
            </a:r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14657-D12B-1963-4747-0ED13B6F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>
            <a:extLst>
              <a:ext uri="{FF2B5EF4-FFF2-40B4-BE49-F238E27FC236}">
                <a16:creationId xmlns:a16="http://schemas.microsoft.com/office/drawing/2014/main" id="{5B100333-58E7-6CBC-22E9-1B1D79DD4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5" name="Notes Placeholder 2">
            <a:extLst>
              <a:ext uri="{FF2B5EF4-FFF2-40B4-BE49-F238E27FC236}">
                <a16:creationId xmlns:a16="http://schemas.microsoft.com/office/drawing/2014/main" id="{F5D8686E-B18A-095E-FADA-E2DD29F6B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incident sequence first — credential compromise → snapshot delete → backup encrypt → 5-day tape restore. Then point to each component on the diagram that failed. Let the red borders tell the story visually.</a:t>
            </a:r>
          </a:p>
        </p:txBody>
      </p:sp>
      <p:sp>
        <p:nvSpPr>
          <p:cNvPr id="1048636" name="Slide Number Placeholder 3">
            <a:extLst>
              <a:ext uri="{FF2B5EF4-FFF2-40B4-BE49-F238E27FC236}">
                <a16:creationId xmlns:a16="http://schemas.microsoft.com/office/drawing/2014/main" id="{D263E654-B2F1-1E6D-81CD-5306EAADC2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4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4 (EHR Object Storage) is thne focus of n n nn nnthis session. When presenting, spend more time here — connect it to the 10 PB cost objection and the HIPAA compliance risk.</a:t>
            </a:r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bridge slide. For each gap you diagnosed on Slide 3, there is a specific Everpure product answering it. Make sure you can explain WHY each product was chosen — not just that it exists.</a:t>
            </a:r>
          </a:p>
        </p:txBody>
      </p:sp>
      <p:sp>
        <p:nvSpPr>
          <p:cNvPr id="10487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competitive differentiator. Be precise — PowerStore read-only is NOT the same as SafeMode firmware-level undeletability. Own this distinction.</a:t>
            </a:r>
          </a:p>
        </p:txBody>
      </p:sp>
      <p:sp>
        <p:nvSpPr>
          <p:cNvPr id="10487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EHR deep dive. Key points: 1) Always use compliance mode not governance for HIPAA. 2) Don't propose moving all 10 PB to flash — tier it. 3) Don't lead with DRR for pre-compressed imaging data — that's a trap.</a:t>
            </a:r>
          </a:p>
        </p:txBody>
      </p:sp>
      <p:sp>
        <p:nvSpPr>
          <p:cNvPr id="10487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Mediator is FREE — emphasise this. It's a tiebreaker process in cloud, not a licensed product. ActiveCluster is separately licensed. ActiveDR is separately licensed. Know the commercial distinction.</a:t>
            </a:r>
          </a:p>
        </p:txBody>
      </p:sp>
      <p:sp>
        <p:nvSpPr>
          <p:cNvPr id="10488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Portworx is a storage platform, not a backup product. PX-Backup is the backup component — containerized, running as pods. Veeam cannot protect Kubernetes PVs at this level — this is a genuine gap in the existing stack.</a:t>
            </a:r>
          </a:p>
        </p:txBody>
      </p:sp>
      <p:sp>
        <p:nvSpPr>
          <p:cNvPr id="10488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closing slide. Let the architecture speak first — then deliver the closing line with conviction. Pause before it. One sentence. Make it land.</a:t>
            </a:r>
          </a:p>
        </p:txBody>
      </p:sp>
      <p:sp>
        <p:nvSpPr>
          <p:cNvPr id="10488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slide proactively — don't wait to be asked about concerns. Walking into trade-offs yourself builds credibility. The panel will respect that you know the limits of your own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389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value summary — connect every card back to a gap you diagnosed. Don't just list features. Say: 'HealthSure came in with a 5-day tape restore. They leave with zero viable attack paths to their recovery points.'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219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2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854" y="1629918"/>
            <a:ext cx="573247" cy="640080"/>
          </a:xfrm>
          <a:prstGeom prst="rect">
            <a:avLst/>
          </a:prstGeom>
        </p:spPr>
      </p:pic>
      <p:sp>
        <p:nvSpPr>
          <p:cNvPr id="1048578" name="Text 2"/>
          <p:cNvSpPr/>
          <p:nvPr/>
        </p:nvSpPr>
        <p:spPr>
          <a:xfrm>
            <a:off x="2473094" y="1584198"/>
            <a:ext cx="6141937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HealthSure Insurance</a:t>
            </a:r>
            <a:endParaRPr lang="en-US" sz="3600" dirty="0"/>
          </a:p>
        </p:txBody>
      </p:sp>
      <p:sp>
        <p:nvSpPr>
          <p:cNvPr id="1048579" name="Text 3"/>
          <p:cNvSpPr/>
          <p:nvPr/>
        </p:nvSpPr>
        <p:spPr>
          <a:xfrm>
            <a:off x="1695854" y="2343150"/>
            <a:ext cx="73703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&amp; Ransomware-Resilient Architecture</a:t>
            </a:r>
            <a:endParaRPr lang="en-US" sz="1700" dirty="0"/>
          </a:p>
        </p:txBody>
      </p:sp>
      <p:sp>
        <p:nvSpPr>
          <p:cNvPr id="1048594" name="Text 1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DC8A5A-09D5-21D4-E0FE-F9223A403868}"/>
              </a:ext>
            </a:extLst>
          </p:cNvPr>
          <p:cNvSpPr txBox="1"/>
          <p:nvPr/>
        </p:nvSpPr>
        <p:spPr>
          <a:xfrm>
            <a:off x="249677" y="4264568"/>
            <a:ext cx="415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8EADC7"/>
                </a:solidFill>
              </a:rPr>
              <a:t>Ranjeeth B  |  Solutions Engineer, </a:t>
            </a:r>
            <a:r>
              <a:rPr lang="en-US" i="1" dirty="0" err="1">
                <a:solidFill>
                  <a:srgbClr val="8EADC7"/>
                </a:solidFill>
              </a:rPr>
              <a:t>Everpure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599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Current Environment &amp; Challenges</a:t>
            </a:r>
            <a:endParaRPr lang="en-US" sz="1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E46EC8-EE4E-9CEB-C9BF-12687198A5B5}"/>
              </a:ext>
            </a:extLst>
          </p:cNvPr>
          <p:cNvGrpSpPr/>
          <p:nvPr/>
        </p:nvGrpSpPr>
        <p:grpSpPr>
          <a:xfrm>
            <a:off x="5743657" y="790534"/>
            <a:ext cx="3200400" cy="4178808"/>
            <a:chOff x="274320" y="685800"/>
            <a:chExt cx="3200400" cy="4178808"/>
          </a:xfrm>
        </p:grpSpPr>
        <p:sp>
          <p:nvSpPr>
            <p:cNvPr id="1048600" name="Shape 2"/>
            <p:cNvSpPr/>
            <p:nvPr/>
          </p:nvSpPr>
          <p:spPr>
            <a:xfrm>
              <a:off x="274320" y="685800"/>
              <a:ext cx="3200400" cy="1417320"/>
            </a:xfrm>
            <a:prstGeom prst="roundRect">
              <a:avLst>
                <a:gd name="adj" fmla="val 6452"/>
              </a:avLst>
            </a:prstGeom>
            <a:solidFill>
              <a:srgbClr val="0D1B2A"/>
            </a:solidFill>
            <a:ln w="19050">
              <a:solidFill>
                <a:srgbClr val="E63946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09715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749808"/>
              <a:ext cx="292608" cy="292608"/>
            </a:xfrm>
            <a:prstGeom prst="rect">
              <a:avLst/>
            </a:prstGeom>
          </p:spPr>
        </p:pic>
        <p:sp>
          <p:nvSpPr>
            <p:cNvPr id="1048601" name="Text 3"/>
            <p:cNvSpPr/>
            <p:nvPr/>
          </p:nvSpPr>
          <p:spPr>
            <a:xfrm>
              <a:off x="777240" y="749808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63946"/>
                  </a:solidFill>
                </a:rPr>
                <a:t>The Incident</a:t>
              </a:r>
              <a:endParaRPr lang="en-US" sz="1200" dirty="0"/>
            </a:p>
          </p:txBody>
        </p:sp>
        <p:sp>
          <p:nvSpPr>
            <p:cNvPr id="1048602" name="Text 4"/>
            <p:cNvSpPr/>
            <p:nvPr/>
          </p:nvSpPr>
          <p:spPr>
            <a:xfrm>
              <a:off x="411480" y="1097280"/>
              <a:ext cx="2926080" cy="914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Ransomware attack — credential compromise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Snapshot metadata deleted first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Backup catalog encrypted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5-day tape restore — massive business impact</a:t>
              </a:r>
              <a:endParaRPr lang="en-US" sz="1000" dirty="0"/>
            </a:p>
          </p:txBody>
        </p:sp>
        <p:sp>
          <p:nvSpPr>
            <p:cNvPr id="1048603" name="Shape 5"/>
            <p:cNvSpPr/>
            <p:nvPr/>
          </p:nvSpPr>
          <p:spPr>
            <a:xfrm>
              <a:off x="274320" y="2212848"/>
              <a:ext cx="3200400" cy="2651760"/>
            </a:xfrm>
            <a:prstGeom prst="roundRect">
              <a:avLst>
                <a:gd name="adj" fmla="val 3448"/>
              </a:avLst>
            </a:prstGeom>
            <a:solidFill>
              <a:srgbClr val="0D1B2A"/>
            </a:solidFill>
            <a:ln w="12700">
              <a:solidFill>
                <a:srgbClr val="00B4D8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09715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2286000"/>
              <a:ext cx="292608" cy="292608"/>
            </a:xfrm>
            <a:prstGeom prst="rect">
              <a:avLst/>
            </a:prstGeom>
          </p:spPr>
        </p:pic>
        <p:sp>
          <p:nvSpPr>
            <p:cNvPr id="1048604" name="Text 6"/>
            <p:cNvSpPr/>
            <p:nvPr/>
          </p:nvSpPr>
          <p:spPr>
            <a:xfrm>
              <a:off x="777240" y="2286000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B4D8"/>
                  </a:solidFill>
                </a:rPr>
                <a:t>What HealthSure Needs</a:t>
              </a:r>
              <a:endParaRPr lang="en-US" sz="1200" dirty="0"/>
            </a:p>
          </p:txBody>
        </p:sp>
        <p:pic>
          <p:nvPicPr>
            <p:cNvPr id="209715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2670048"/>
              <a:ext cx="201168" cy="201168"/>
            </a:xfrm>
            <a:prstGeom prst="rect">
              <a:avLst/>
            </a:prstGeom>
          </p:spPr>
        </p:pic>
        <p:sp>
          <p:nvSpPr>
            <p:cNvPr id="1048605" name="Text 7"/>
            <p:cNvSpPr/>
            <p:nvPr/>
          </p:nvSpPr>
          <p:spPr>
            <a:xfrm>
              <a:off x="685800" y="2651760"/>
              <a:ext cx="26517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Zero RPO for Oracle claims processing</a:t>
              </a:r>
              <a:endParaRPr lang="en-US" sz="1000" dirty="0"/>
            </a:p>
          </p:txBody>
        </p:sp>
        <p:pic>
          <p:nvPicPr>
            <p:cNvPr id="2097160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3008376"/>
              <a:ext cx="201168" cy="201168"/>
            </a:xfrm>
            <a:prstGeom prst="rect">
              <a:avLst/>
            </a:prstGeom>
          </p:spPr>
        </p:pic>
        <p:sp>
          <p:nvSpPr>
            <p:cNvPr id="1048606" name="Text 8"/>
            <p:cNvSpPr/>
            <p:nvPr/>
          </p:nvSpPr>
          <p:spPr>
            <a:xfrm>
              <a:off x="685800" y="2990088"/>
              <a:ext cx="26517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RTO under 15 minutes</a:t>
              </a:r>
              <a:endParaRPr lang="en-US" sz="1000" dirty="0"/>
            </a:p>
          </p:txBody>
        </p:sp>
        <p:pic>
          <p:nvPicPr>
            <p:cNvPr id="2097161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3346704"/>
              <a:ext cx="201168" cy="201168"/>
            </a:xfrm>
            <a:prstGeom prst="rect">
              <a:avLst/>
            </a:prstGeom>
          </p:spPr>
        </p:pic>
        <p:sp>
          <p:nvSpPr>
            <p:cNvPr id="1048607" name="Text 9"/>
            <p:cNvSpPr/>
            <p:nvPr/>
          </p:nvSpPr>
          <p:spPr>
            <a:xfrm>
              <a:off x="685800" y="3328416"/>
              <a:ext cx="26517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7–10 year EHR immutability (HIPAA)</a:t>
              </a:r>
              <a:endParaRPr lang="en-US" sz="1000" dirty="0"/>
            </a:p>
          </p:txBody>
        </p:sp>
        <p:pic>
          <p:nvPicPr>
            <p:cNvPr id="2097162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3685032"/>
              <a:ext cx="201168" cy="201168"/>
            </a:xfrm>
            <a:prstGeom prst="rect">
              <a:avLst/>
            </a:prstGeom>
          </p:spPr>
        </p:pic>
        <p:sp>
          <p:nvSpPr>
            <p:cNvPr id="1048608" name="Text 10"/>
            <p:cNvSpPr/>
            <p:nvPr/>
          </p:nvSpPr>
          <p:spPr>
            <a:xfrm>
              <a:off x="685800" y="3666744"/>
              <a:ext cx="26517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HIPAA &amp; ISO 27001 compliance</a:t>
              </a:r>
              <a:endParaRPr lang="en-US" sz="1000" dirty="0"/>
            </a:p>
          </p:txBody>
        </p:sp>
        <p:pic>
          <p:nvPicPr>
            <p:cNvPr id="2097163" name="Image 6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4023360"/>
              <a:ext cx="201168" cy="201168"/>
            </a:xfrm>
            <a:prstGeom prst="rect">
              <a:avLst/>
            </a:prstGeom>
          </p:spPr>
        </p:pic>
        <p:sp>
          <p:nvSpPr>
            <p:cNvPr id="1048609" name="Text 11"/>
            <p:cNvSpPr/>
            <p:nvPr/>
          </p:nvSpPr>
          <p:spPr>
            <a:xfrm>
              <a:off x="685800" y="4005072"/>
              <a:ext cx="26517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Insider &amp; credential attack protection</a:t>
              </a:r>
              <a:endParaRPr lang="en-US" sz="1000" dirty="0"/>
            </a:p>
          </p:txBody>
        </p:sp>
        <p:pic>
          <p:nvPicPr>
            <p:cNvPr id="2097164" name="Image 7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4361688"/>
              <a:ext cx="201168" cy="201168"/>
            </a:xfrm>
            <a:prstGeom prst="rect">
              <a:avLst/>
            </a:prstGeom>
          </p:spPr>
        </p:pic>
        <p:sp>
          <p:nvSpPr>
            <p:cNvPr id="1048610" name="Text 12"/>
            <p:cNvSpPr/>
            <p:nvPr/>
          </p:nvSpPr>
          <p:spPr>
            <a:xfrm>
              <a:off x="685800" y="4343400"/>
              <a:ext cx="26517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Kubernetes workload protection (OpenShift)</a:t>
              </a:r>
              <a:endParaRPr lang="en-US" sz="10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1CA61-DE68-3477-94FB-ED61F2FA3CC0}"/>
              </a:ext>
            </a:extLst>
          </p:cNvPr>
          <p:cNvGrpSpPr/>
          <p:nvPr/>
        </p:nvGrpSpPr>
        <p:grpSpPr>
          <a:xfrm>
            <a:off x="138781" y="833401"/>
            <a:ext cx="5120640" cy="2999232"/>
            <a:chOff x="3749040" y="685800"/>
            <a:chExt cx="5120640" cy="2999232"/>
          </a:xfrm>
        </p:grpSpPr>
        <p:sp>
          <p:nvSpPr>
            <p:cNvPr id="1048611" name="Shape 13"/>
            <p:cNvSpPr/>
            <p:nvPr/>
          </p:nvSpPr>
          <p:spPr>
            <a:xfrm>
              <a:off x="3749040" y="685800"/>
              <a:ext cx="2926080" cy="2999232"/>
            </a:xfrm>
            <a:prstGeom prst="roundRect">
              <a:avLst>
                <a:gd name="adj" fmla="val 3125"/>
              </a:avLst>
            </a:prstGeom>
            <a:solidFill>
              <a:srgbClr val="243B55"/>
            </a:solidFill>
            <a:ln w="19050">
              <a:solidFill>
                <a:srgbClr val="F4A261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612" name="Text 14"/>
            <p:cNvSpPr/>
            <p:nvPr/>
          </p:nvSpPr>
          <p:spPr>
            <a:xfrm>
              <a:off x="3840480" y="749808"/>
              <a:ext cx="274320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4A261"/>
                  </a:solidFill>
                </a:rPr>
                <a:t>HYDERABAD DC  ⚠</a:t>
              </a:r>
              <a:endParaRPr lang="en-US" sz="1100" dirty="0"/>
            </a:p>
          </p:txBody>
        </p:sp>
        <p:sp>
          <p:nvSpPr>
            <p:cNvPr id="1048613" name="Shape 15"/>
            <p:cNvSpPr/>
            <p:nvPr/>
          </p:nvSpPr>
          <p:spPr>
            <a:xfrm>
              <a:off x="3886200" y="1078992"/>
              <a:ext cx="2651760" cy="384048"/>
            </a:xfrm>
            <a:prstGeom prst="roundRect">
              <a:avLst>
                <a:gd name="adj" fmla="val 14286"/>
              </a:avLst>
            </a:prstGeom>
            <a:solidFill>
              <a:srgbClr val="1A2F4A"/>
            </a:solidFill>
            <a:ln w="9525">
              <a:solidFill>
                <a:srgbClr val="8EAD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97165" name="Image 8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0208" y="1152144"/>
              <a:ext cx="201168" cy="201168"/>
            </a:xfrm>
            <a:prstGeom prst="rect">
              <a:avLst/>
            </a:prstGeom>
          </p:spPr>
        </p:pic>
        <p:sp>
          <p:nvSpPr>
            <p:cNvPr id="1048614" name="Text 16"/>
            <p:cNvSpPr/>
            <p:nvPr/>
          </p:nvSpPr>
          <p:spPr>
            <a:xfrm>
              <a:off x="4288536" y="1161547"/>
              <a:ext cx="21031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VMware + OpenShift</a:t>
              </a:r>
              <a:endParaRPr lang="en-US" sz="900" dirty="0"/>
            </a:p>
          </p:txBody>
        </p:sp>
        <p:sp>
          <p:nvSpPr>
            <p:cNvPr id="1048615" name="Shape 17"/>
            <p:cNvSpPr/>
            <p:nvPr/>
          </p:nvSpPr>
          <p:spPr>
            <a:xfrm>
              <a:off x="3886200" y="1508760"/>
              <a:ext cx="2651760" cy="384048"/>
            </a:xfrm>
            <a:prstGeom prst="roundRect">
              <a:avLst>
                <a:gd name="adj" fmla="val 14286"/>
              </a:avLst>
            </a:prstGeom>
            <a:solidFill>
              <a:srgbClr val="1A2F4A"/>
            </a:solidFill>
            <a:ln w="9525">
              <a:solidFill>
                <a:srgbClr val="E6394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97166" name="Image 9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0208" y="1581912"/>
              <a:ext cx="201168" cy="201168"/>
            </a:xfrm>
            <a:prstGeom prst="rect">
              <a:avLst/>
            </a:prstGeom>
          </p:spPr>
        </p:pic>
        <p:sp>
          <p:nvSpPr>
            <p:cNvPr id="1048616" name="Text 18"/>
            <p:cNvSpPr/>
            <p:nvPr/>
          </p:nvSpPr>
          <p:spPr>
            <a:xfrm>
              <a:off x="4270248" y="1598060"/>
              <a:ext cx="21031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Oracle DB → Block Storage</a:t>
              </a:r>
              <a:endParaRPr lang="en-US" sz="900" dirty="0"/>
            </a:p>
          </p:txBody>
        </p:sp>
        <p:sp>
          <p:nvSpPr>
            <p:cNvPr id="1048618" name="Shape 20"/>
            <p:cNvSpPr/>
            <p:nvPr/>
          </p:nvSpPr>
          <p:spPr>
            <a:xfrm>
              <a:off x="3886200" y="1993392"/>
              <a:ext cx="2651760" cy="384048"/>
            </a:xfrm>
            <a:prstGeom prst="roundRect">
              <a:avLst>
                <a:gd name="adj" fmla="val 14286"/>
              </a:avLst>
            </a:prstGeom>
            <a:solidFill>
              <a:srgbClr val="1A2F4A"/>
            </a:solidFill>
            <a:ln w="9525">
              <a:solidFill>
                <a:srgbClr val="E6394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97167" name="Image 10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0208" y="2066544"/>
              <a:ext cx="201168" cy="201168"/>
            </a:xfrm>
            <a:prstGeom prst="rect">
              <a:avLst/>
            </a:prstGeom>
          </p:spPr>
        </p:pic>
        <p:sp>
          <p:nvSpPr>
            <p:cNvPr id="1048619" name="Text 21"/>
            <p:cNvSpPr/>
            <p:nvPr/>
          </p:nvSpPr>
          <p:spPr>
            <a:xfrm>
              <a:off x="4288536" y="2075688"/>
              <a:ext cx="21031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10+ PB EHR — S3 Object</a:t>
              </a:r>
              <a:endParaRPr lang="en-US" sz="900" dirty="0"/>
            </a:p>
          </p:txBody>
        </p:sp>
        <p:sp>
          <p:nvSpPr>
            <p:cNvPr id="1048621" name="Shape 23"/>
            <p:cNvSpPr/>
            <p:nvPr/>
          </p:nvSpPr>
          <p:spPr>
            <a:xfrm>
              <a:off x="3886200" y="2478024"/>
              <a:ext cx="2651760" cy="384048"/>
            </a:xfrm>
            <a:prstGeom prst="roundRect">
              <a:avLst>
                <a:gd name="adj" fmla="val 14286"/>
              </a:avLst>
            </a:prstGeom>
            <a:solidFill>
              <a:srgbClr val="1A2F4A"/>
            </a:solidFill>
            <a:ln w="9525">
              <a:solidFill>
                <a:srgbClr val="E6394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97168" name="Image 1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0208" y="2551176"/>
              <a:ext cx="201168" cy="201168"/>
            </a:xfrm>
            <a:prstGeom prst="rect">
              <a:avLst/>
            </a:prstGeom>
          </p:spPr>
        </p:pic>
        <p:sp>
          <p:nvSpPr>
            <p:cNvPr id="1048622" name="Text 24"/>
            <p:cNvSpPr/>
            <p:nvPr/>
          </p:nvSpPr>
          <p:spPr>
            <a:xfrm>
              <a:off x="4270248" y="2572966"/>
              <a:ext cx="21031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Legacy NAS (PostgreSQL)</a:t>
              </a:r>
              <a:endParaRPr lang="en-US" sz="900" dirty="0"/>
            </a:p>
          </p:txBody>
        </p:sp>
        <p:sp>
          <p:nvSpPr>
            <p:cNvPr id="1048624" name="Shape 26"/>
            <p:cNvSpPr/>
            <p:nvPr/>
          </p:nvSpPr>
          <p:spPr>
            <a:xfrm>
              <a:off x="3886200" y="2962656"/>
              <a:ext cx="2651760" cy="384048"/>
            </a:xfrm>
            <a:prstGeom prst="roundRect">
              <a:avLst>
                <a:gd name="adj" fmla="val 14286"/>
              </a:avLst>
            </a:prstGeom>
            <a:solidFill>
              <a:srgbClr val="1A2F4A"/>
            </a:solidFill>
            <a:ln w="9525">
              <a:solidFill>
                <a:srgbClr val="E6394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97169" name="Image 12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50208" y="3035808"/>
              <a:ext cx="201168" cy="201168"/>
            </a:xfrm>
            <a:prstGeom prst="rect">
              <a:avLst/>
            </a:prstGeom>
          </p:spPr>
        </p:pic>
        <p:sp>
          <p:nvSpPr>
            <p:cNvPr id="1048625" name="Text 27"/>
            <p:cNvSpPr/>
            <p:nvPr/>
          </p:nvSpPr>
          <p:spPr>
            <a:xfrm>
              <a:off x="4270248" y="2980944"/>
              <a:ext cx="21031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Backup Server (Veeam)</a:t>
              </a:r>
              <a:endParaRPr lang="en-US" sz="900" dirty="0"/>
            </a:p>
          </p:txBody>
        </p:sp>
        <p:sp>
          <p:nvSpPr>
            <p:cNvPr id="1048626" name="Text 28"/>
            <p:cNvSpPr/>
            <p:nvPr/>
          </p:nvSpPr>
          <p:spPr>
            <a:xfrm>
              <a:off x="4288536" y="3149946"/>
              <a:ext cx="2103120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E63946"/>
                  </a:solidFill>
                </a:rPr>
                <a:t>On production network</a:t>
              </a:r>
              <a:endParaRPr lang="en-US" sz="800" dirty="0"/>
            </a:p>
          </p:txBody>
        </p:sp>
        <p:sp>
          <p:nvSpPr>
            <p:cNvPr id="1048628" name="Shape 30"/>
            <p:cNvSpPr/>
            <p:nvPr/>
          </p:nvSpPr>
          <p:spPr>
            <a:xfrm>
              <a:off x="6812280" y="685800"/>
              <a:ext cx="2057400" cy="2962656"/>
            </a:xfrm>
            <a:prstGeom prst="roundRect">
              <a:avLst>
                <a:gd name="adj" fmla="val 6452"/>
              </a:avLst>
            </a:prstGeom>
            <a:solidFill>
              <a:srgbClr val="243B55"/>
            </a:solidFill>
            <a:ln w="19050">
              <a:solidFill>
                <a:srgbClr val="E63946"/>
              </a:solidFill>
              <a:prstDash val="dash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629" name="Text 31"/>
            <p:cNvSpPr/>
            <p:nvPr/>
          </p:nvSpPr>
          <p:spPr>
            <a:xfrm>
              <a:off x="6903720" y="758952"/>
              <a:ext cx="1874520" cy="2560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63946"/>
                  </a:solidFill>
                </a:rPr>
                <a:t>PUNE DC  ⚠</a:t>
              </a:r>
              <a:endParaRPr lang="en-US" sz="1000" dirty="0"/>
            </a:p>
          </p:txBody>
        </p:sp>
        <p:sp>
          <p:nvSpPr>
            <p:cNvPr id="1048630" name="Text 32"/>
            <p:cNvSpPr/>
            <p:nvPr/>
          </p:nvSpPr>
          <p:spPr>
            <a:xfrm>
              <a:off x="6903720" y="1051560"/>
              <a:ext cx="1874520" cy="8229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Cold Standby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Never Tested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</a:rPr>
                <a:t>RTO = Days</a:t>
              </a:r>
              <a:endParaRPr lang="en-US" sz="1000" dirty="0"/>
            </a:p>
          </p:txBody>
        </p:sp>
        <p:sp>
          <p:nvSpPr>
            <p:cNvPr id="1048631" name="Shape 33"/>
            <p:cNvSpPr/>
            <p:nvPr/>
          </p:nvSpPr>
          <p:spPr>
            <a:xfrm>
              <a:off x="6693408" y="1371600"/>
              <a:ext cx="118872" cy="0"/>
            </a:xfrm>
            <a:prstGeom prst="line">
              <a:avLst/>
            </a:prstGeom>
            <a:noFill/>
            <a:ln w="19050">
              <a:solidFill>
                <a:srgbClr val="E63946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79A744C-A466-30EF-9590-0E75BEE980A5}"/>
              </a:ext>
            </a:extLst>
          </p:cNvPr>
          <p:cNvGrpSpPr/>
          <p:nvPr/>
        </p:nvGrpSpPr>
        <p:grpSpPr>
          <a:xfrm>
            <a:off x="84955" y="4099106"/>
            <a:ext cx="5174466" cy="822960"/>
            <a:chOff x="6812280" y="2331720"/>
            <a:chExt cx="2057400" cy="822960"/>
          </a:xfrm>
        </p:grpSpPr>
        <p:sp>
          <p:nvSpPr>
            <p:cNvPr id="1048632" name="Shape 34"/>
            <p:cNvSpPr/>
            <p:nvPr/>
          </p:nvSpPr>
          <p:spPr>
            <a:xfrm>
              <a:off x="6812280" y="2331720"/>
              <a:ext cx="2057400" cy="822960"/>
            </a:xfrm>
            <a:prstGeom prst="roundRect">
              <a:avLst>
                <a:gd name="adj" fmla="val 8889"/>
              </a:avLst>
            </a:prstGeom>
            <a:solidFill>
              <a:srgbClr val="3D0000"/>
            </a:solidFill>
            <a:ln w="12700">
              <a:solidFill>
                <a:srgbClr val="E6394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33" name="Text 35"/>
            <p:cNvSpPr/>
            <p:nvPr/>
          </p:nvSpPr>
          <p:spPr>
            <a:xfrm>
              <a:off x="6858000" y="2377440"/>
              <a:ext cx="1965960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3946"/>
                  </a:solidFill>
                </a:rPr>
                <a:t>Tape Restore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E63946"/>
                  </a:solidFill>
                </a:rPr>
                <a:t>5-Day Outage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E63946"/>
                  </a:solidFill>
                </a:rPr>
                <a:t>Claims Halted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09AFB-0F5B-1444-430D-E5C9217E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hape 0">
            <a:extLst>
              <a:ext uri="{FF2B5EF4-FFF2-40B4-BE49-F238E27FC236}">
                <a16:creationId xmlns:a16="http://schemas.microsoft.com/office/drawing/2014/main" id="{E8E33E26-16C0-2072-1010-2BFCF199CE7D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599" name="Text 1">
            <a:extLst>
              <a:ext uri="{FF2B5EF4-FFF2-40B4-BE49-F238E27FC236}">
                <a16:creationId xmlns:a16="http://schemas.microsoft.com/office/drawing/2014/main" id="{0A157EAC-BDD3-CFFB-80C9-3AEF5287ACF8}"/>
              </a:ext>
            </a:extLst>
          </p:cNvPr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 Understood: Customer Challenges &amp; Current Environment</a:t>
            </a:r>
            <a:endParaRPr lang="en-US" sz="1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B4CA013-D990-9200-6C42-A6638FD1E9E4}"/>
              </a:ext>
            </a:extLst>
          </p:cNvPr>
          <p:cNvGrpSpPr/>
          <p:nvPr/>
        </p:nvGrpSpPr>
        <p:grpSpPr>
          <a:xfrm>
            <a:off x="-822960" y="1783080"/>
            <a:ext cx="3200400" cy="4178808"/>
            <a:chOff x="274320" y="685800"/>
            <a:chExt cx="3200400" cy="4178808"/>
          </a:xfrm>
        </p:grpSpPr>
        <p:sp>
          <p:nvSpPr>
            <p:cNvPr id="1048600" name="Shape 2">
              <a:extLst>
                <a:ext uri="{FF2B5EF4-FFF2-40B4-BE49-F238E27FC236}">
                  <a16:creationId xmlns:a16="http://schemas.microsoft.com/office/drawing/2014/main" id="{F1A5E084-64E1-431E-D809-E6A1607C7720}"/>
                </a:ext>
              </a:extLst>
            </p:cNvPr>
            <p:cNvSpPr/>
            <p:nvPr/>
          </p:nvSpPr>
          <p:spPr>
            <a:xfrm>
              <a:off x="274320" y="685800"/>
              <a:ext cx="3200400" cy="1417320"/>
            </a:xfrm>
            <a:prstGeom prst="roundRect">
              <a:avLst>
                <a:gd name="adj" fmla="val 6452"/>
              </a:avLst>
            </a:prstGeom>
            <a:solidFill>
              <a:srgbClr val="0D1B2A"/>
            </a:solidFill>
            <a:ln w="19050">
              <a:solidFill>
                <a:srgbClr val="E63946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097157" name="Image 0" descr="preencoded.png">
              <a:extLst>
                <a:ext uri="{FF2B5EF4-FFF2-40B4-BE49-F238E27FC236}">
                  <a16:creationId xmlns:a16="http://schemas.microsoft.com/office/drawing/2014/main" id="{C8C99972-CD09-1D29-FC13-AF4D9851A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749808"/>
              <a:ext cx="292608" cy="292608"/>
            </a:xfrm>
            <a:prstGeom prst="rect">
              <a:avLst/>
            </a:prstGeom>
          </p:spPr>
        </p:pic>
        <p:sp>
          <p:nvSpPr>
            <p:cNvPr id="1048601" name="Text 3">
              <a:extLst>
                <a:ext uri="{FF2B5EF4-FFF2-40B4-BE49-F238E27FC236}">
                  <a16:creationId xmlns:a16="http://schemas.microsoft.com/office/drawing/2014/main" id="{E6E5DC59-8E43-E13E-F54D-8A3B1CA3477F}"/>
                </a:ext>
              </a:extLst>
            </p:cNvPr>
            <p:cNvSpPr/>
            <p:nvPr/>
          </p:nvSpPr>
          <p:spPr>
            <a:xfrm>
              <a:off x="777240" y="749808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63946"/>
                  </a:solidFill>
                </a:rPr>
                <a:t>The Incident</a:t>
              </a:r>
              <a:endParaRPr lang="en-US" sz="1200" dirty="0"/>
            </a:p>
          </p:txBody>
        </p:sp>
        <p:sp>
          <p:nvSpPr>
            <p:cNvPr id="1048602" name="Text 4">
              <a:extLst>
                <a:ext uri="{FF2B5EF4-FFF2-40B4-BE49-F238E27FC236}">
                  <a16:creationId xmlns:a16="http://schemas.microsoft.com/office/drawing/2014/main" id="{0C5B8066-27FA-38A9-D426-1A441597C3D3}"/>
                </a:ext>
              </a:extLst>
            </p:cNvPr>
            <p:cNvSpPr/>
            <p:nvPr/>
          </p:nvSpPr>
          <p:spPr>
            <a:xfrm>
              <a:off x="411480" y="1097280"/>
              <a:ext cx="2926080" cy="914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Ransomware attack — credential compromise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Snapshot metadata deleted first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Backup catalog encrypted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8EAD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5-day tape restore — massive business impact</a:t>
              </a:r>
              <a:endParaRPr lang="en-US" sz="10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5D59DFF-0053-3C7E-3771-4E5EF78AC1E6}"/>
                </a:ext>
              </a:extLst>
            </p:cNvPr>
            <p:cNvGrpSpPr/>
            <p:nvPr/>
          </p:nvGrpSpPr>
          <p:grpSpPr>
            <a:xfrm>
              <a:off x="274320" y="2212848"/>
              <a:ext cx="3200400" cy="2651760"/>
              <a:chOff x="274320" y="2212848"/>
              <a:chExt cx="3200400" cy="2651760"/>
            </a:xfrm>
          </p:grpSpPr>
          <p:sp>
            <p:nvSpPr>
              <p:cNvPr id="1048603" name="Shape 5">
                <a:extLst>
                  <a:ext uri="{FF2B5EF4-FFF2-40B4-BE49-F238E27FC236}">
                    <a16:creationId xmlns:a16="http://schemas.microsoft.com/office/drawing/2014/main" id="{9DF84279-4B59-D338-B9B8-961E17A113A1}"/>
                  </a:ext>
                </a:extLst>
              </p:cNvPr>
              <p:cNvSpPr/>
              <p:nvPr/>
            </p:nvSpPr>
            <p:spPr>
              <a:xfrm>
                <a:off x="274320" y="2212848"/>
                <a:ext cx="3200400" cy="2651760"/>
              </a:xfrm>
              <a:prstGeom prst="roundRect">
                <a:avLst>
                  <a:gd name="adj" fmla="val 3448"/>
                </a:avLst>
              </a:prstGeom>
              <a:solidFill>
                <a:srgbClr val="0D1B2A"/>
              </a:solidFill>
              <a:ln w="12700">
                <a:solidFill>
                  <a:srgbClr val="00B4D8"/>
                </a:solidFill>
                <a:prstDash val="solid"/>
              </a:ln>
              <a:effectLst>
                <a:outerShdw blurRad="101600" dist="38100" dir="27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097158" name="Image 1" descr="preencoded.png">
                <a:extLst>
                  <a:ext uri="{FF2B5EF4-FFF2-40B4-BE49-F238E27FC236}">
                    <a16:creationId xmlns:a16="http://schemas.microsoft.com/office/drawing/2014/main" id="{7F9DBF29-F333-B1AD-BFE1-1384ABA213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2286000"/>
                <a:ext cx="292608" cy="292608"/>
              </a:xfrm>
              <a:prstGeom prst="rect">
                <a:avLst/>
              </a:prstGeom>
            </p:spPr>
          </p:pic>
          <p:sp>
            <p:nvSpPr>
              <p:cNvPr id="1048604" name="Text 6">
                <a:extLst>
                  <a:ext uri="{FF2B5EF4-FFF2-40B4-BE49-F238E27FC236}">
                    <a16:creationId xmlns:a16="http://schemas.microsoft.com/office/drawing/2014/main" id="{26DACB95-6F6E-E070-AF09-FFF9ED001FE0}"/>
                  </a:ext>
                </a:extLst>
              </p:cNvPr>
              <p:cNvSpPr/>
              <p:nvPr/>
            </p:nvSpPr>
            <p:spPr>
              <a:xfrm>
                <a:off x="777240" y="2286000"/>
                <a:ext cx="2560320" cy="2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0B4D8"/>
                    </a:solidFill>
                  </a:rPr>
                  <a:t>What HealthSure Needs</a:t>
                </a:r>
                <a:endParaRPr lang="en-US" sz="1200" dirty="0"/>
              </a:p>
            </p:txBody>
          </p:sp>
          <p:pic>
            <p:nvPicPr>
              <p:cNvPr id="2097159" name="Image 2" descr="preencoded.png">
                <a:extLst>
                  <a:ext uri="{FF2B5EF4-FFF2-40B4-BE49-F238E27FC236}">
                    <a16:creationId xmlns:a16="http://schemas.microsoft.com/office/drawing/2014/main" id="{834FC5C2-05A2-38C2-5F51-361B36FB4D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2670048"/>
                <a:ext cx="201168" cy="201168"/>
              </a:xfrm>
              <a:prstGeom prst="rect">
                <a:avLst/>
              </a:prstGeom>
            </p:spPr>
          </p:pic>
          <p:sp>
            <p:nvSpPr>
              <p:cNvPr id="1048605" name="Text 7">
                <a:extLst>
                  <a:ext uri="{FF2B5EF4-FFF2-40B4-BE49-F238E27FC236}">
                    <a16:creationId xmlns:a16="http://schemas.microsoft.com/office/drawing/2014/main" id="{13058E96-3718-0BB7-D9AD-026FA023B532}"/>
                  </a:ext>
                </a:extLst>
              </p:cNvPr>
              <p:cNvSpPr/>
              <p:nvPr/>
            </p:nvSpPr>
            <p:spPr>
              <a:xfrm>
                <a:off x="685800" y="2651760"/>
                <a:ext cx="265176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8EADC7"/>
                    </a:solidFill>
                  </a:rPr>
                  <a:t>Zero RPO for Oracle claims processing</a:t>
                </a:r>
                <a:endParaRPr lang="en-US" sz="1000" dirty="0"/>
              </a:p>
            </p:txBody>
          </p:sp>
          <p:pic>
            <p:nvPicPr>
              <p:cNvPr id="2097160" name="Image 3" descr="preencoded.png">
                <a:extLst>
                  <a:ext uri="{FF2B5EF4-FFF2-40B4-BE49-F238E27FC236}">
                    <a16:creationId xmlns:a16="http://schemas.microsoft.com/office/drawing/2014/main" id="{B768A5B4-E836-5CE3-E64F-59D7F4DD2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3008376"/>
                <a:ext cx="201168" cy="201168"/>
              </a:xfrm>
              <a:prstGeom prst="rect">
                <a:avLst/>
              </a:prstGeom>
            </p:spPr>
          </p:pic>
          <p:sp>
            <p:nvSpPr>
              <p:cNvPr id="1048606" name="Text 8">
                <a:extLst>
                  <a:ext uri="{FF2B5EF4-FFF2-40B4-BE49-F238E27FC236}">
                    <a16:creationId xmlns:a16="http://schemas.microsoft.com/office/drawing/2014/main" id="{D7113F15-4988-7FA0-71DA-F9724FCD499F}"/>
                  </a:ext>
                </a:extLst>
              </p:cNvPr>
              <p:cNvSpPr/>
              <p:nvPr/>
            </p:nvSpPr>
            <p:spPr>
              <a:xfrm>
                <a:off x="685800" y="2990088"/>
                <a:ext cx="265176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8EADC7"/>
                    </a:solidFill>
                  </a:rPr>
                  <a:t>RTO under 15 minutes</a:t>
                </a:r>
                <a:endParaRPr lang="en-US" sz="1000" dirty="0"/>
              </a:p>
            </p:txBody>
          </p:sp>
          <p:pic>
            <p:nvPicPr>
              <p:cNvPr id="2097161" name="Image 4" descr="preencoded.png">
                <a:extLst>
                  <a:ext uri="{FF2B5EF4-FFF2-40B4-BE49-F238E27FC236}">
                    <a16:creationId xmlns:a16="http://schemas.microsoft.com/office/drawing/2014/main" id="{7DE57B1B-56A6-22CA-E277-E11E23782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3346704"/>
                <a:ext cx="201168" cy="201168"/>
              </a:xfrm>
              <a:prstGeom prst="rect">
                <a:avLst/>
              </a:prstGeom>
            </p:spPr>
          </p:pic>
          <p:sp>
            <p:nvSpPr>
              <p:cNvPr id="1048607" name="Text 9">
                <a:extLst>
                  <a:ext uri="{FF2B5EF4-FFF2-40B4-BE49-F238E27FC236}">
                    <a16:creationId xmlns:a16="http://schemas.microsoft.com/office/drawing/2014/main" id="{5E99CB37-91A3-CAEA-C773-29D4D98A944E}"/>
                  </a:ext>
                </a:extLst>
              </p:cNvPr>
              <p:cNvSpPr/>
              <p:nvPr/>
            </p:nvSpPr>
            <p:spPr>
              <a:xfrm>
                <a:off x="685800" y="3328416"/>
                <a:ext cx="265176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8EADC7"/>
                    </a:solidFill>
                  </a:rPr>
                  <a:t>7–10 year EHR immutability (HIPAA)</a:t>
                </a:r>
                <a:endParaRPr lang="en-US" sz="1000" dirty="0"/>
              </a:p>
            </p:txBody>
          </p:sp>
          <p:pic>
            <p:nvPicPr>
              <p:cNvPr id="2097162" name="Image 5" descr="preencoded.png">
                <a:extLst>
                  <a:ext uri="{FF2B5EF4-FFF2-40B4-BE49-F238E27FC236}">
                    <a16:creationId xmlns:a16="http://schemas.microsoft.com/office/drawing/2014/main" id="{3A52C2A2-3639-44E6-2E6F-88917D4DBE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3685032"/>
                <a:ext cx="201168" cy="201168"/>
              </a:xfrm>
              <a:prstGeom prst="rect">
                <a:avLst/>
              </a:prstGeom>
            </p:spPr>
          </p:pic>
          <p:sp>
            <p:nvSpPr>
              <p:cNvPr id="1048608" name="Text 10">
                <a:extLst>
                  <a:ext uri="{FF2B5EF4-FFF2-40B4-BE49-F238E27FC236}">
                    <a16:creationId xmlns:a16="http://schemas.microsoft.com/office/drawing/2014/main" id="{411E1D43-425D-C5F5-F44B-88FB6B2A9298}"/>
                  </a:ext>
                </a:extLst>
              </p:cNvPr>
              <p:cNvSpPr/>
              <p:nvPr/>
            </p:nvSpPr>
            <p:spPr>
              <a:xfrm>
                <a:off x="685800" y="3666744"/>
                <a:ext cx="265176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8EADC7"/>
                    </a:solidFill>
                  </a:rPr>
                  <a:t>HIPAA &amp; ISO 27001 compliance</a:t>
                </a:r>
                <a:endParaRPr lang="en-US" sz="1000" dirty="0"/>
              </a:p>
            </p:txBody>
          </p:sp>
          <p:pic>
            <p:nvPicPr>
              <p:cNvPr id="2097163" name="Image 6" descr="preencoded.png">
                <a:extLst>
                  <a:ext uri="{FF2B5EF4-FFF2-40B4-BE49-F238E27FC236}">
                    <a16:creationId xmlns:a16="http://schemas.microsoft.com/office/drawing/2014/main" id="{36ACB4C7-EB1C-8472-749C-CD4EB681A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4023360"/>
                <a:ext cx="201168" cy="201168"/>
              </a:xfrm>
              <a:prstGeom prst="rect">
                <a:avLst/>
              </a:prstGeom>
            </p:spPr>
          </p:pic>
          <p:sp>
            <p:nvSpPr>
              <p:cNvPr id="1048609" name="Text 11">
                <a:extLst>
                  <a:ext uri="{FF2B5EF4-FFF2-40B4-BE49-F238E27FC236}">
                    <a16:creationId xmlns:a16="http://schemas.microsoft.com/office/drawing/2014/main" id="{7411F884-FA9A-C105-63C0-929CA59F7E57}"/>
                  </a:ext>
                </a:extLst>
              </p:cNvPr>
              <p:cNvSpPr/>
              <p:nvPr/>
            </p:nvSpPr>
            <p:spPr>
              <a:xfrm>
                <a:off x="685800" y="4005072"/>
                <a:ext cx="265176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8EADC7"/>
                    </a:solidFill>
                  </a:rPr>
                  <a:t>Insider &amp; credential attack protection</a:t>
                </a:r>
                <a:endParaRPr lang="en-US" sz="1000" dirty="0"/>
              </a:p>
            </p:txBody>
          </p:sp>
          <p:pic>
            <p:nvPicPr>
              <p:cNvPr id="2097164" name="Image 7" descr="preencoded.png">
                <a:extLst>
                  <a:ext uri="{FF2B5EF4-FFF2-40B4-BE49-F238E27FC236}">
                    <a16:creationId xmlns:a16="http://schemas.microsoft.com/office/drawing/2014/main" id="{DFC1E622-B8CC-5B7E-FD31-8632BFF027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4361688"/>
                <a:ext cx="201168" cy="201168"/>
              </a:xfrm>
              <a:prstGeom prst="rect">
                <a:avLst/>
              </a:prstGeom>
            </p:spPr>
          </p:pic>
          <p:sp>
            <p:nvSpPr>
              <p:cNvPr id="1048610" name="Text 12">
                <a:extLst>
                  <a:ext uri="{FF2B5EF4-FFF2-40B4-BE49-F238E27FC236}">
                    <a16:creationId xmlns:a16="http://schemas.microsoft.com/office/drawing/2014/main" id="{927D5D07-B37B-CF5C-7D17-1919DB92FD21}"/>
                  </a:ext>
                </a:extLst>
              </p:cNvPr>
              <p:cNvSpPr/>
              <p:nvPr/>
            </p:nvSpPr>
            <p:spPr>
              <a:xfrm>
                <a:off x="685800" y="4343400"/>
                <a:ext cx="265176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8EADC7"/>
                    </a:solidFill>
                  </a:rPr>
                  <a:t>Kubernetes workload protection (OpenShift)</a:t>
                </a:r>
                <a:endParaRPr lang="en-US" sz="1000" dirty="0"/>
              </a:p>
            </p:txBody>
          </p:sp>
        </p:grpSp>
      </p:grpSp>
      <p:sp>
        <p:nvSpPr>
          <p:cNvPr id="1048611" name="Shape 13">
            <a:extLst>
              <a:ext uri="{FF2B5EF4-FFF2-40B4-BE49-F238E27FC236}">
                <a16:creationId xmlns:a16="http://schemas.microsoft.com/office/drawing/2014/main" id="{83BE7DDB-E3E0-E43F-612A-4C13EFB833C1}"/>
              </a:ext>
            </a:extLst>
          </p:cNvPr>
          <p:cNvSpPr/>
          <p:nvPr/>
        </p:nvSpPr>
        <p:spPr>
          <a:xfrm>
            <a:off x="3749040" y="685800"/>
            <a:ext cx="2926080" cy="2999232"/>
          </a:xfrm>
          <a:prstGeom prst="roundRect">
            <a:avLst>
              <a:gd name="adj" fmla="val 3125"/>
            </a:avLst>
          </a:prstGeom>
          <a:solidFill>
            <a:srgbClr val="243B55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12" name="Text 14">
            <a:extLst>
              <a:ext uri="{FF2B5EF4-FFF2-40B4-BE49-F238E27FC236}">
                <a16:creationId xmlns:a16="http://schemas.microsoft.com/office/drawing/2014/main" id="{C8A9BEA4-DF71-7E36-F736-427A5B517A69}"/>
              </a:ext>
            </a:extLst>
          </p:cNvPr>
          <p:cNvSpPr/>
          <p:nvPr/>
        </p:nvSpPr>
        <p:spPr>
          <a:xfrm>
            <a:off x="3840480" y="7498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HYDERABAD DC  ⚠</a:t>
            </a:r>
            <a:endParaRPr lang="en-US" sz="1100" dirty="0"/>
          </a:p>
        </p:txBody>
      </p:sp>
      <p:sp>
        <p:nvSpPr>
          <p:cNvPr id="1048613" name="Shape 15">
            <a:extLst>
              <a:ext uri="{FF2B5EF4-FFF2-40B4-BE49-F238E27FC236}">
                <a16:creationId xmlns:a16="http://schemas.microsoft.com/office/drawing/2014/main" id="{FB5A1334-A5E4-94B2-69CF-E84FA00DA837}"/>
              </a:ext>
            </a:extLst>
          </p:cNvPr>
          <p:cNvSpPr/>
          <p:nvPr/>
        </p:nvSpPr>
        <p:spPr>
          <a:xfrm>
            <a:off x="3886200" y="10789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8EAD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65" name="Image 8" descr="preencoded.png">
            <a:extLst>
              <a:ext uri="{FF2B5EF4-FFF2-40B4-BE49-F238E27FC236}">
                <a16:creationId xmlns:a16="http://schemas.microsoft.com/office/drawing/2014/main" id="{CA6B76D5-B08E-60E5-701F-CC577A258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1152144"/>
            <a:ext cx="201168" cy="201168"/>
          </a:xfrm>
          <a:prstGeom prst="rect">
            <a:avLst/>
          </a:prstGeom>
        </p:spPr>
      </p:pic>
      <p:sp>
        <p:nvSpPr>
          <p:cNvPr id="1048614" name="Text 16">
            <a:extLst>
              <a:ext uri="{FF2B5EF4-FFF2-40B4-BE49-F238E27FC236}">
                <a16:creationId xmlns:a16="http://schemas.microsoft.com/office/drawing/2014/main" id="{F98CA4C0-D155-468D-7888-ECCE8C0AFB7E}"/>
              </a:ext>
            </a:extLst>
          </p:cNvPr>
          <p:cNvSpPr/>
          <p:nvPr/>
        </p:nvSpPr>
        <p:spPr>
          <a:xfrm>
            <a:off x="4206240" y="10972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VMware + OpenShift</a:t>
            </a:r>
            <a:endParaRPr lang="en-US" sz="900" dirty="0"/>
          </a:p>
        </p:txBody>
      </p:sp>
      <p:sp>
        <p:nvSpPr>
          <p:cNvPr id="1048615" name="Shape 17">
            <a:extLst>
              <a:ext uri="{FF2B5EF4-FFF2-40B4-BE49-F238E27FC236}">
                <a16:creationId xmlns:a16="http://schemas.microsoft.com/office/drawing/2014/main" id="{4DC5B17D-FDB5-52C6-6741-78AB7FAD5F24}"/>
              </a:ext>
            </a:extLst>
          </p:cNvPr>
          <p:cNvSpPr/>
          <p:nvPr/>
        </p:nvSpPr>
        <p:spPr>
          <a:xfrm>
            <a:off x="3886200" y="15087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66" name="Image 9" descr="preencoded.png">
            <a:extLst>
              <a:ext uri="{FF2B5EF4-FFF2-40B4-BE49-F238E27FC236}">
                <a16:creationId xmlns:a16="http://schemas.microsoft.com/office/drawing/2014/main" id="{BF9BFA68-4EE5-3592-3E6C-2122E7CED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1581912"/>
            <a:ext cx="201168" cy="201168"/>
          </a:xfrm>
          <a:prstGeom prst="rect">
            <a:avLst/>
          </a:prstGeom>
        </p:spPr>
      </p:pic>
      <p:sp>
        <p:nvSpPr>
          <p:cNvPr id="1048616" name="Text 18">
            <a:extLst>
              <a:ext uri="{FF2B5EF4-FFF2-40B4-BE49-F238E27FC236}">
                <a16:creationId xmlns:a16="http://schemas.microsoft.com/office/drawing/2014/main" id="{12428238-9F40-EB62-0585-587C54793611}"/>
              </a:ext>
            </a:extLst>
          </p:cNvPr>
          <p:cNvSpPr/>
          <p:nvPr/>
        </p:nvSpPr>
        <p:spPr>
          <a:xfrm>
            <a:off x="4206240" y="15270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DB → Block Storage</a:t>
            </a:r>
            <a:endParaRPr lang="en-US" sz="900" dirty="0"/>
          </a:p>
        </p:txBody>
      </p:sp>
      <p:sp>
        <p:nvSpPr>
          <p:cNvPr id="1048617" name="Text 19">
            <a:extLst>
              <a:ext uri="{FF2B5EF4-FFF2-40B4-BE49-F238E27FC236}">
                <a16:creationId xmlns:a16="http://schemas.microsoft.com/office/drawing/2014/main" id="{286F1103-0E76-9136-1CEB-EA0F9148270F}"/>
              </a:ext>
            </a:extLst>
          </p:cNvPr>
          <p:cNvSpPr/>
          <p:nvPr/>
        </p:nvSpPr>
        <p:spPr>
          <a:xfrm>
            <a:off x="4206240" y="170992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Snapshots deletable</a:t>
            </a:r>
            <a:endParaRPr lang="en-US" sz="800" dirty="0"/>
          </a:p>
        </p:txBody>
      </p:sp>
      <p:sp>
        <p:nvSpPr>
          <p:cNvPr id="1048618" name="Shape 20">
            <a:extLst>
              <a:ext uri="{FF2B5EF4-FFF2-40B4-BE49-F238E27FC236}">
                <a16:creationId xmlns:a16="http://schemas.microsoft.com/office/drawing/2014/main" id="{85303B39-6CD1-43F6-4D86-8C4F636EDE4F}"/>
              </a:ext>
            </a:extLst>
          </p:cNvPr>
          <p:cNvSpPr/>
          <p:nvPr/>
        </p:nvSpPr>
        <p:spPr>
          <a:xfrm>
            <a:off x="3886200" y="19933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67" name="Image 10" descr="preencoded.png">
            <a:extLst>
              <a:ext uri="{FF2B5EF4-FFF2-40B4-BE49-F238E27FC236}">
                <a16:creationId xmlns:a16="http://schemas.microsoft.com/office/drawing/2014/main" id="{A0447ADF-2A29-A95B-F460-8ACD1637E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2066544"/>
            <a:ext cx="201168" cy="201168"/>
          </a:xfrm>
          <a:prstGeom prst="rect">
            <a:avLst/>
          </a:prstGeom>
        </p:spPr>
      </p:pic>
      <p:sp>
        <p:nvSpPr>
          <p:cNvPr id="1048619" name="Text 21">
            <a:extLst>
              <a:ext uri="{FF2B5EF4-FFF2-40B4-BE49-F238E27FC236}">
                <a16:creationId xmlns:a16="http://schemas.microsoft.com/office/drawing/2014/main" id="{A683A55F-1F34-15D1-FDD5-C4A4490A5FAA}"/>
              </a:ext>
            </a:extLst>
          </p:cNvPr>
          <p:cNvSpPr/>
          <p:nvPr/>
        </p:nvSpPr>
        <p:spPr>
          <a:xfrm>
            <a:off x="4206240" y="20116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10+ PB EHR — S3 Object</a:t>
            </a:r>
            <a:endParaRPr lang="en-US" sz="900" dirty="0"/>
          </a:p>
        </p:txBody>
      </p:sp>
      <p:sp>
        <p:nvSpPr>
          <p:cNvPr id="1048620" name="Text 22">
            <a:extLst>
              <a:ext uri="{FF2B5EF4-FFF2-40B4-BE49-F238E27FC236}">
                <a16:creationId xmlns:a16="http://schemas.microsoft.com/office/drawing/2014/main" id="{F40F8BE8-D90F-8D4B-9A06-AE58889E58CB}"/>
              </a:ext>
            </a:extLst>
          </p:cNvPr>
          <p:cNvSpPr/>
          <p:nvPr/>
        </p:nvSpPr>
        <p:spPr>
          <a:xfrm>
            <a:off x="4206240" y="219456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No WORM / No Lock</a:t>
            </a:r>
            <a:endParaRPr lang="en-US" sz="800" dirty="0"/>
          </a:p>
        </p:txBody>
      </p:sp>
      <p:sp>
        <p:nvSpPr>
          <p:cNvPr id="1048621" name="Shape 23">
            <a:extLst>
              <a:ext uri="{FF2B5EF4-FFF2-40B4-BE49-F238E27FC236}">
                <a16:creationId xmlns:a16="http://schemas.microsoft.com/office/drawing/2014/main" id="{FE08D058-8F87-6751-E869-D48525723C91}"/>
              </a:ext>
            </a:extLst>
          </p:cNvPr>
          <p:cNvSpPr/>
          <p:nvPr/>
        </p:nvSpPr>
        <p:spPr>
          <a:xfrm>
            <a:off x="3886200" y="2478024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68" name="Image 11" descr="preencoded.png">
            <a:extLst>
              <a:ext uri="{FF2B5EF4-FFF2-40B4-BE49-F238E27FC236}">
                <a16:creationId xmlns:a16="http://schemas.microsoft.com/office/drawing/2014/main" id="{E396A4E0-C363-5423-3791-9C99E741E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2551176"/>
            <a:ext cx="201168" cy="201168"/>
          </a:xfrm>
          <a:prstGeom prst="rect">
            <a:avLst/>
          </a:prstGeom>
        </p:spPr>
      </p:pic>
      <p:sp>
        <p:nvSpPr>
          <p:cNvPr id="1048622" name="Text 24">
            <a:extLst>
              <a:ext uri="{FF2B5EF4-FFF2-40B4-BE49-F238E27FC236}">
                <a16:creationId xmlns:a16="http://schemas.microsoft.com/office/drawing/2014/main" id="{6E9B1C43-CAA6-6CDF-5E6F-EA75C5190FC2}"/>
              </a:ext>
            </a:extLst>
          </p:cNvPr>
          <p:cNvSpPr/>
          <p:nvPr/>
        </p:nvSpPr>
        <p:spPr>
          <a:xfrm>
            <a:off x="4206240" y="249631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NAS (PostgreSQL)</a:t>
            </a:r>
            <a:endParaRPr lang="en-US" sz="900" dirty="0"/>
          </a:p>
        </p:txBody>
      </p:sp>
      <p:sp>
        <p:nvSpPr>
          <p:cNvPr id="1048623" name="Text 25">
            <a:extLst>
              <a:ext uri="{FF2B5EF4-FFF2-40B4-BE49-F238E27FC236}">
                <a16:creationId xmlns:a16="http://schemas.microsoft.com/office/drawing/2014/main" id="{F9DD0152-0A31-BAE6-09CC-12A3B005856A}"/>
              </a:ext>
            </a:extLst>
          </p:cNvPr>
          <p:cNvSpPr/>
          <p:nvPr/>
        </p:nvSpPr>
        <p:spPr>
          <a:xfrm>
            <a:off x="4206240" y="2679192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No immutability</a:t>
            </a:r>
            <a:endParaRPr lang="en-US" sz="800" dirty="0"/>
          </a:p>
        </p:txBody>
      </p:sp>
      <p:sp>
        <p:nvSpPr>
          <p:cNvPr id="1048624" name="Shape 26">
            <a:extLst>
              <a:ext uri="{FF2B5EF4-FFF2-40B4-BE49-F238E27FC236}">
                <a16:creationId xmlns:a16="http://schemas.microsoft.com/office/drawing/2014/main" id="{22005FFE-8DAD-6EDD-258F-6E809564258E}"/>
              </a:ext>
            </a:extLst>
          </p:cNvPr>
          <p:cNvSpPr/>
          <p:nvPr/>
        </p:nvSpPr>
        <p:spPr>
          <a:xfrm>
            <a:off x="3886200" y="296265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69" name="Image 12" descr="preencoded.png">
            <a:extLst>
              <a:ext uri="{FF2B5EF4-FFF2-40B4-BE49-F238E27FC236}">
                <a16:creationId xmlns:a16="http://schemas.microsoft.com/office/drawing/2014/main" id="{81CBA64D-28CF-CF35-50BB-714AE84429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3035808"/>
            <a:ext cx="201168" cy="201168"/>
          </a:xfrm>
          <a:prstGeom prst="rect">
            <a:avLst/>
          </a:prstGeom>
        </p:spPr>
      </p:pic>
      <p:sp>
        <p:nvSpPr>
          <p:cNvPr id="1048625" name="Text 27">
            <a:extLst>
              <a:ext uri="{FF2B5EF4-FFF2-40B4-BE49-F238E27FC236}">
                <a16:creationId xmlns:a16="http://schemas.microsoft.com/office/drawing/2014/main" id="{1CCFC97E-ADE5-8FA3-AE6C-8D09E2D8E82C}"/>
              </a:ext>
            </a:extLst>
          </p:cNvPr>
          <p:cNvSpPr/>
          <p:nvPr/>
        </p:nvSpPr>
        <p:spPr>
          <a:xfrm>
            <a:off x="4206240" y="298094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Backup Server (Veeam)</a:t>
            </a:r>
            <a:endParaRPr lang="en-US" sz="900" dirty="0"/>
          </a:p>
        </p:txBody>
      </p:sp>
      <p:sp>
        <p:nvSpPr>
          <p:cNvPr id="1048626" name="Text 28">
            <a:extLst>
              <a:ext uri="{FF2B5EF4-FFF2-40B4-BE49-F238E27FC236}">
                <a16:creationId xmlns:a16="http://schemas.microsoft.com/office/drawing/2014/main" id="{56839DFD-BC7B-090E-8D98-CD59E8E39154}"/>
              </a:ext>
            </a:extLst>
          </p:cNvPr>
          <p:cNvSpPr/>
          <p:nvPr/>
        </p:nvSpPr>
        <p:spPr>
          <a:xfrm>
            <a:off x="4206240" y="316382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</a:rPr>
              <a:t>On production network</a:t>
            </a:r>
            <a:endParaRPr lang="en-US" sz="800" dirty="0"/>
          </a:p>
        </p:txBody>
      </p:sp>
      <p:sp>
        <p:nvSpPr>
          <p:cNvPr id="1048627" name="Text 29">
            <a:extLst>
              <a:ext uri="{FF2B5EF4-FFF2-40B4-BE49-F238E27FC236}">
                <a16:creationId xmlns:a16="http://schemas.microsoft.com/office/drawing/2014/main" id="{493BDB83-0772-137F-3D93-7EBA06147771}"/>
              </a:ext>
            </a:extLst>
          </p:cNvPr>
          <p:cNvSpPr/>
          <p:nvPr/>
        </p:nvSpPr>
        <p:spPr>
          <a:xfrm>
            <a:off x="3749040" y="341985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</a:rPr>
              <a:t>⚠ No Quorum Arbiter — Split-brain risk</a:t>
            </a:r>
            <a:endParaRPr lang="en-US" sz="900" dirty="0"/>
          </a:p>
        </p:txBody>
      </p:sp>
      <p:sp>
        <p:nvSpPr>
          <p:cNvPr id="1048628" name="Shape 30">
            <a:extLst>
              <a:ext uri="{FF2B5EF4-FFF2-40B4-BE49-F238E27FC236}">
                <a16:creationId xmlns:a16="http://schemas.microsoft.com/office/drawing/2014/main" id="{0C85562E-ACD4-816D-A6AA-3952A2F40DA3}"/>
              </a:ext>
            </a:extLst>
          </p:cNvPr>
          <p:cNvSpPr/>
          <p:nvPr/>
        </p:nvSpPr>
        <p:spPr>
          <a:xfrm>
            <a:off x="6812280" y="685800"/>
            <a:ext cx="2057400" cy="2962656"/>
          </a:xfrm>
          <a:prstGeom prst="roundRect">
            <a:avLst>
              <a:gd name="adj" fmla="val 6452"/>
            </a:avLst>
          </a:prstGeom>
          <a:solidFill>
            <a:srgbClr val="243B55"/>
          </a:solidFill>
          <a:ln w="19050">
            <a:solidFill>
              <a:srgbClr val="E63946"/>
            </a:solidFill>
            <a:prstDash val="dash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29" name="Text 31">
            <a:extLst>
              <a:ext uri="{FF2B5EF4-FFF2-40B4-BE49-F238E27FC236}">
                <a16:creationId xmlns:a16="http://schemas.microsoft.com/office/drawing/2014/main" id="{3C467909-F335-88DA-073C-174E904223D3}"/>
              </a:ext>
            </a:extLst>
          </p:cNvPr>
          <p:cNvSpPr/>
          <p:nvPr/>
        </p:nvSpPr>
        <p:spPr>
          <a:xfrm>
            <a:off x="6903720" y="75895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PUNE DC  ⚠</a:t>
            </a:r>
            <a:endParaRPr lang="en-US" sz="1000" dirty="0"/>
          </a:p>
        </p:txBody>
      </p:sp>
      <p:sp>
        <p:nvSpPr>
          <p:cNvPr id="1048630" name="Text 32">
            <a:extLst>
              <a:ext uri="{FF2B5EF4-FFF2-40B4-BE49-F238E27FC236}">
                <a16:creationId xmlns:a16="http://schemas.microsoft.com/office/drawing/2014/main" id="{E3085E6A-A6E6-8211-A182-F02514504AC0}"/>
              </a:ext>
            </a:extLst>
          </p:cNvPr>
          <p:cNvSpPr/>
          <p:nvPr/>
        </p:nvSpPr>
        <p:spPr>
          <a:xfrm>
            <a:off x="6903720" y="1051560"/>
            <a:ext cx="1874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Cold Standby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Never Tested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RTO = Days</a:t>
            </a:r>
            <a:endParaRPr lang="en-US" sz="1000" dirty="0"/>
          </a:p>
        </p:txBody>
      </p:sp>
      <p:sp>
        <p:nvSpPr>
          <p:cNvPr id="1048631" name="Shape 33">
            <a:extLst>
              <a:ext uri="{FF2B5EF4-FFF2-40B4-BE49-F238E27FC236}">
                <a16:creationId xmlns:a16="http://schemas.microsoft.com/office/drawing/2014/main" id="{3C5959C5-DFF0-759E-58BA-741CECE205DC}"/>
              </a:ext>
            </a:extLst>
          </p:cNvPr>
          <p:cNvSpPr/>
          <p:nvPr/>
        </p:nvSpPr>
        <p:spPr>
          <a:xfrm>
            <a:off x="6693408" y="1371600"/>
            <a:ext cx="118872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CCB3A4-5495-F94F-0205-DB1E507D59D7}"/>
              </a:ext>
            </a:extLst>
          </p:cNvPr>
          <p:cNvGrpSpPr/>
          <p:nvPr/>
        </p:nvGrpSpPr>
        <p:grpSpPr>
          <a:xfrm>
            <a:off x="3749040" y="3794760"/>
            <a:ext cx="5174466" cy="822960"/>
            <a:chOff x="6812280" y="2331720"/>
            <a:chExt cx="2057400" cy="822960"/>
          </a:xfrm>
        </p:grpSpPr>
        <p:sp>
          <p:nvSpPr>
            <p:cNvPr id="1048632" name="Shape 34">
              <a:extLst>
                <a:ext uri="{FF2B5EF4-FFF2-40B4-BE49-F238E27FC236}">
                  <a16:creationId xmlns:a16="http://schemas.microsoft.com/office/drawing/2014/main" id="{912E4155-1DA3-AE98-7914-D95BFAA0B0E8}"/>
                </a:ext>
              </a:extLst>
            </p:cNvPr>
            <p:cNvSpPr/>
            <p:nvPr/>
          </p:nvSpPr>
          <p:spPr>
            <a:xfrm>
              <a:off x="6812280" y="2331720"/>
              <a:ext cx="2057400" cy="822960"/>
            </a:xfrm>
            <a:prstGeom prst="roundRect">
              <a:avLst>
                <a:gd name="adj" fmla="val 8889"/>
              </a:avLst>
            </a:prstGeom>
            <a:solidFill>
              <a:srgbClr val="3D0000"/>
            </a:solidFill>
            <a:ln w="12700">
              <a:solidFill>
                <a:srgbClr val="E6394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633" name="Text 35">
              <a:extLst>
                <a:ext uri="{FF2B5EF4-FFF2-40B4-BE49-F238E27FC236}">
                  <a16:creationId xmlns:a16="http://schemas.microsoft.com/office/drawing/2014/main" id="{7DBECA7E-2BC6-0FD4-DF7B-089500E39F21}"/>
                </a:ext>
              </a:extLst>
            </p:cNvPr>
            <p:cNvSpPr/>
            <p:nvPr/>
          </p:nvSpPr>
          <p:spPr>
            <a:xfrm>
              <a:off x="6858000" y="2377440"/>
              <a:ext cx="1965960" cy="7315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3946"/>
                  </a:solidFill>
                </a:rPr>
                <a:t>Tape Restore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E63946"/>
                  </a:solidFill>
                </a:rPr>
                <a:t>5-Day Outage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E63946"/>
                  </a:solidFill>
                </a:rPr>
                <a:t>Claims Halted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3911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38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Gaps Identified — Where the Architecture Failed</a:t>
            </a:r>
            <a:endParaRPr lang="en-US" sz="1600" dirty="0"/>
          </a:p>
        </p:txBody>
      </p:sp>
      <p:sp>
        <p:nvSpPr>
          <p:cNvPr id="1048639" name="Shape 2"/>
          <p:cNvSpPr/>
          <p:nvPr/>
        </p:nvSpPr>
        <p:spPr>
          <a:xfrm>
            <a:off x="27432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40" name="Shape 3"/>
          <p:cNvSpPr/>
          <p:nvPr/>
        </p:nvSpPr>
        <p:spPr>
          <a:xfrm>
            <a:off x="36576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41" name="Text 4"/>
          <p:cNvSpPr/>
          <p:nvPr/>
        </p:nvSpPr>
        <p:spPr>
          <a:xfrm>
            <a:off x="365760" y="8869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48642" name="Text 5"/>
          <p:cNvSpPr/>
          <p:nvPr/>
        </p:nvSpPr>
        <p:spPr>
          <a:xfrm>
            <a:off x="749808" y="740664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Snapshot Immutability</a:t>
            </a:r>
            <a:endParaRPr lang="en-US" sz="1100" dirty="0"/>
          </a:p>
        </p:txBody>
      </p:sp>
      <p:sp>
        <p:nvSpPr>
          <p:cNvPr id="1048643" name="Text 6"/>
          <p:cNvSpPr/>
          <p:nvPr/>
        </p:nvSpPr>
        <p:spPr>
          <a:xfrm>
            <a:off x="749808" y="996696"/>
            <a:ext cx="3639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Snapshot metadata was soft-deleted by attacker. No firmware-level protection. Admin credentials were enough to destroy recovery points.</a:t>
            </a:r>
            <a:endParaRPr lang="en-US" sz="900" dirty="0"/>
          </a:p>
        </p:txBody>
      </p:sp>
      <p:sp>
        <p:nvSpPr>
          <p:cNvPr id="1048644" name="Shape 7"/>
          <p:cNvSpPr/>
          <p:nvPr/>
        </p:nvSpPr>
        <p:spPr>
          <a:xfrm>
            <a:off x="27432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45" name="Shape 8"/>
          <p:cNvSpPr/>
          <p:nvPr/>
        </p:nvSpPr>
        <p:spPr>
          <a:xfrm>
            <a:off x="36576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46" name="Text 9"/>
          <p:cNvSpPr/>
          <p:nvPr/>
        </p:nvSpPr>
        <p:spPr>
          <a:xfrm>
            <a:off x="365760" y="18013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48647" name="Text 10"/>
          <p:cNvSpPr/>
          <p:nvPr/>
        </p:nvSpPr>
        <p:spPr>
          <a:xfrm>
            <a:off x="749808" y="1655064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Backup Separation</a:t>
            </a:r>
            <a:endParaRPr lang="en-US" sz="1100" dirty="0"/>
          </a:p>
        </p:txBody>
      </p:sp>
      <p:sp>
        <p:nvSpPr>
          <p:cNvPr id="1048648" name="Text 11"/>
          <p:cNvSpPr/>
          <p:nvPr/>
        </p:nvSpPr>
        <p:spPr>
          <a:xfrm>
            <a:off x="749808" y="1911096"/>
            <a:ext cx="3639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Veeam catalog server sat on the same network as production. Encrypted alongside primary data — the recovery tool became part of the attack surface.</a:t>
            </a:r>
            <a:endParaRPr lang="en-US" sz="900" dirty="0"/>
          </a:p>
        </p:txBody>
      </p:sp>
      <p:sp>
        <p:nvSpPr>
          <p:cNvPr id="1048649" name="Shape 12"/>
          <p:cNvSpPr/>
          <p:nvPr/>
        </p:nvSpPr>
        <p:spPr>
          <a:xfrm>
            <a:off x="27432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50" name="Shape 13"/>
          <p:cNvSpPr/>
          <p:nvPr/>
        </p:nvSpPr>
        <p:spPr>
          <a:xfrm>
            <a:off x="36576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51" name="Text 14"/>
          <p:cNvSpPr/>
          <p:nvPr/>
        </p:nvSpPr>
        <p:spPr>
          <a:xfrm>
            <a:off x="365760" y="27157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048652" name="Text 15"/>
          <p:cNvSpPr/>
          <p:nvPr/>
        </p:nvSpPr>
        <p:spPr>
          <a:xfrm>
            <a:off x="749808" y="2569464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DR Readiness</a:t>
            </a:r>
            <a:endParaRPr lang="en-US" sz="1100" dirty="0"/>
          </a:p>
        </p:txBody>
      </p:sp>
      <p:sp>
        <p:nvSpPr>
          <p:cNvPr id="1048653" name="Text 16"/>
          <p:cNvSpPr/>
          <p:nvPr/>
        </p:nvSpPr>
        <p:spPr>
          <a:xfrm>
            <a:off x="749808" y="2825496"/>
            <a:ext cx="3639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Cold standby at Pune, never tested. RTO of &lt;15 minutes is impossible. A standby that is never tested is not DR — it is a hope.</a:t>
            </a:r>
            <a:endParaRPr lang="en-US" sz="900" dirty="0"/>
          </a:p>
        </p:txBody>
      </p:sp>
      <p:sp>
        <p:nvSpPr>
          <p:cNvPr id="1048654" name="Shape 17"/>
          <p:cNvSpPr/>
          <p:nvPr/>
        </p:nvSpPr>
        <p:spPr>
          <a:xfrm>
            <a:off x="274320" y="34290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55" name="Shape 18"/>
          <p:cNvSpPr/>
          <p:nvPr/>
        </p:nvSpPr>
        <p:spPr>
          <a:xfrm>
            <a:off x="365760" y="3630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56" name="Text 19"/>
          <p:cNvSpPr/>
          <p:nvPr/>
        </p:nvSpPr>
        <p:spPr>
          <a:xfrm>
            <a:off x="365760" y="36301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048657" name="Text 20"/>
          <p:cNvSpPr/>
          <p:nvPr/>
        </p:nvSpPr>
        <p:spPr>
          <a:xfrm>
            <a:off x="749808" y="3483864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EHR Object Storage</a:t>
            </a:r>
            <a:endParaRPr lang="en-US" sz="1100" dirty="0"/>
          </a:p>
        </p:txBody>
      </p:sp>
      <p:sp>
        <p:nvSpPr>
          <p:cNvPr id="1048658" name="Text 21"/>
          <p:cNvSpPr/>
          <p:nvPr/>
        </p:nvSpPr>
        <p:spPr>
          <a:xfrm>
            <a:off x="749808" y="3739896"/>
            <a:ext cx="3639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10+ PB of EHR on S3-compatible storage with no WORM and no Object Lock. 7–10 year retention requirement unmet. HIPAA compliance gap.</a:t>
            </a:r>
            <a:endParaRPr lang="en-US" sz="900" dirty="0"/>
          </a:p>
        </p:txBody>
      </p:sp>
      <p:sp>
        <p:nvSpPr>
          <p:cNvPr id="1048659" name="Shape 22"/>
          <p:cNvSpPr/>
          <p:nvPr/>
        </p:nvSpPr>
        <p:spPr>
          <a:xfrm>
            <a:off x="470916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60" name="Shape 23"/>
          <p:cNvSpPr/>
          <p:nvPr/>
        </p:nvSpPr>
        <p:spPr>
          <a:xfrm>
            <a:off x="480060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61" name="Text 24"/>
          <p:cNvSpPr/>
          <p:nvPr/>
        </p:nvSpPr>
        <p:spPr>
          <a:xfrm>
            <a:off x="4800600" y="8869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048662" name="Text 25"/>
          <p:cNvSpPr/>
          <p:nvPr/>
        </p:nvSpPr>
        <p:spPr>
          <a:xfrm>
            <a:off x="5184648" y="740664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Kubernetes Protection</a:t>
            </a:r>
            <a:endParaRPr lang="en-US" sz="1100" dirty="0"/>
          </a:p>
        </p:txBody>
      </p:sp>
      <p:sp>
        <p:nvSpPr>
          <p:cNvPr id="1048663" name="Text 26"/>
          <p:cNvSpPr/>
          <p:nvPr/>
        </p:nvSpPr>
        <p:spPr>
          <a:xfrm>
            <a:off x="5184648" y="996696"/>
            <a:ext cx="3639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PostgreSQL and stateful apps on OpenShift unprotected. Veeam does not natively protect Kubernetes Persistent Volumes at this depth.</a:t>
            </a:r>
            <a:endParaRPr lang="en-US" sz="900" dirty="0"/>
          </a:p>
        </p:txBody>
      </p:sp>
      <p:sp>
        <p:nvSpPr>
          <p:cNvPr id="1048664" name="Shape 27"/>
          <p:cNvSpPr/>
          <p:nvPr/>
        </p:nvSpPr>
        <p:spPr>
          <a:xfrm>
            <a:off x="470916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65" name="Shape 28"/>
          <p:cNvSpPr/>
          <p:nvPr/>
        </p:nvSpPr>
        <p:spPr>
          <a:xfrm>
            <a:off x="480060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66" name="Text 29"/>
          <p:cNvSpPr/>
          <p:nvPr/>
        </p:nvSpPr>
        <p:spPr>
          <a:xfrm>
            <a:off x="4800600" y="18013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048667" name="Text 30"/>
          <p:cNvSpPr/>
          <p:nvPr/>
        </p:nvSpPr>
        <p:spPr>
          <a:xfrm>
            <a:off x="5184648" y="1655064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Credential Controls</a:t>
            </a:r>
            <a:endParaRPr lang="en-US" sz="1100" dirty="0"/>
          </a:p>
        </p:txBody>
      </p:sp>
      <p:sp>
        <p:nvSpPr>
          <p:cNvPr id="1048668" name="Text 31"/>
          <p:cNvSpPr/>
          <p:nvPr/>
        </p:nvSpPr>
        <p:spPr>
          <a:xfrm>
            <a:off x="5184648" y="1911096"/>
            <a:ext cx="3639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No out-of-band authentication to modify or destroy protection policies. One compromised account was enough to dismantle all snapshots.</a:t>
            </a:r>
            <a:endParaRPr lang="en-US" sz="900" dirty="0"/>
          </a:p>
        </p:txBody>
      </p:sp>
      <p:sp>
        <p:nvSpPr>
          <p:cNvPr id="1048669" name="Shape 32"/>
          <p:cNvSpPr/>
          <p:nvPr/>
        </p:nvSpPr>
        <p:spPr>
          <a:xfrm>
            <a:off x="470916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70" name="Shape 33"/>
          <p:cNvSpPr/>
          <p:nvPr/>
        </p:nvSpPr>
        <p:spPr>
          <a:xfrm>
            <a:off x="480060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71" name="Text 34"/>
          <p:cNvSpPr/>
          <p:nvPr/>
        </p:nvSpPr>
        <p:spPr>
          <a:xfrm>
            <a:off x="4800600" y="27157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1048672" name="Text 35"/>
          <p:cNvSpPr/>
          <p:nvPr/>
        </p:nvSpPr>
        <p:spPr>
          <a:xfrm>
            <a:off x="5184648" y="2569464"/>
            <a:ext cx="3639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Two Sites Only</a:t>
            </a:r>
            <a:endParaRPr lang="en-US" sz="1100" dirty="0"/>
          </a:p>
        </p:txBody>
      </p:sp>
      <p:sp>
        <p:nvSpPr>
          <p:cNvPr id="1048673" name="Text 36"/>
          <p:cNvSpPr/>
          <p:nvPr/>
        </p:nvSpPr>
        <p:spPr>
          <a:xfrm>
            <a:off x="5184648" y="2825496"/>
            <a:ext cx="3639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Hyderabad and Pune only. No quorum arbiter for tiebreaker decisions. Split-brain risk on failover with no clean resolution mechanism.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78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Everpure Fills Each Gap</a:t>
            </a:r>
            <a:endParaRPr lang="en-US" sz="1600" dirty="0"/>
          </a:p>
        </p:txBody>
      </p:sp>
      <p:sp>
        <p:nvSpPr>
          <p:cNvPr id="1048679" name="Shape 2"/>
          <p:cNvSpPr/>
          <p:nvPr/>
        </p:nvSpPr>
        <p:spPr>
          <a:xfrm>
            <a:off x="274320" y="65836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80" name="Text 3"/>
          <p:cNvSpPr/>
          <p:nvPr/>
        </p:nvSpPr>
        <p:spPr>
          <a:xfrm>
            <a:off x="320040" y="658368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Snapshot Immutability</a:t>
            </a:r>
            <a:endParaRPr lang="en-US" sz="1000" dirty="0"/>
          </a:p>
        </p:txBody>
      </p:sp>
      <p:sp>
        <p:nvSpPr>
          <p:cNvPr id="1048681" name="Shape 4"/>
          <p:cNvSpPr/>
          <p:nvPr/>
        </p:nvSpPr>
        <p:spPr>
          <a:xfrm>
            <a:off x="2880360" y="91440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82" name="Text 5"/>
          <p:cNvSpPr/>
          <p:nvPr/>
        </p:nvSpPr>
        <p:spPr>
          <a:xfrm>
            <a:off x="3154680" y="749808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48683" name="Shape 6"/>
          <p:cNvSpPr/>
          <p:nvPr/>
        </p:nvSpPr>
        <p:spPr>
          <a:xfrm>
            <a:off x="3429000" y="65836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84" name="Text 7"/>
          <p:cNvSpPr/>
          <p:nvPr/>
        </p:nvSpPr>
        <p:spPr>
          <a:xfrm>
            <a:off x="3520440" y="6766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FlashArray//XL + SafeMode Snapshots</a:t>
            </a:r>
            <a:endParaRPr lang="en-US" sz="1100" dirty="0"/>
          </a:p>
        </p:txBody>
      </p:sp>
      <p:sp>
        <p:nvSpPr>
          <p:cNvPr id="1048685" name="Text 8"/>
          <p:cNvSpPr/>
          <p:nvPr/>
        </p:nvSpPr>
        <p:spPr>
          <a:xfrm>
            <a:off x="3520440" y="91440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Firmware-level — not deletable even with admin credentials</a:t>
            </a:r>
            <a:endParaRPr lang="en-US" sz="900" dirty="0"/>
          </a:p>
        </p:txBody>
      </p:sp>
      <p:sp>
        <p:nvSpPr>
          <p:cNvPr id="1048686" name="Shape 9"/>
          <p:cNvSpPr/>
          <p:nvPr/>
        </p:nvSpPr>
        <p:spPr>
          <a:xfrm>
            <a:off x="274320" y="128930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87" name="Text 10"/>
          <p:cNvSpPr/>
          <p:nvPr/>
        </p:nvSpPr>
        <p:spPr>
          <a:xfrm>
            <a:off x="320040" y="1289304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Backup Separation</a:t>
            </a:r>
            <a:endParaRPr lang="en-US" sz="1000" dirty="0"/>
          </a:p>
        </p:txBody>
      </p:sp>
      <p:sp>
        <p:nvSpPr>
          <p:cNvPr id="1048688" name="Shape 11"/>
          <p:cNvSpPr/>
          <p:nvPr/>
        </p:nvSpPr>
        <p:spPr>
          <a:xfrm>
            <a:off x="2880360" y="1545336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89" name="Text 12"/>
          <p:cNvSpPr/>
          <p:nvPr/>
        </p:nvSpPr>
        <p:spPr>
          <a:xfrm>
            <a:off x="3154680" y="1380744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48690" name="Shape 13"/>
          <p:cNvSpPr/>
          <p:nvPr/>
        </p:nvSpPr>
        <p:spPr>
          <a:xfrm>
            <a:off x="3429000" y="128930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91" name="Text 14"/>
          <p:cNvSpPr/>
          <p:nvPr/>
        </p:nvSpPr>
        <p:spPr>
          <a:xfrm>
            <a:off x="3520440" y="1307592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SafeMode — separate auth layer</a:t>
            </a:r>
            <a:endParaRPr lang="en-US" sz="1100" dirty="0"/>
          </a:p>
        </p:txBody>
      </p:sp>
      <p:sp>
        <p:nvSpPr>
          <p:cNvPr id="1048692" name="Text 15"/>
          <p:cNvSpPr/>
          <p:nvPr/>
        </p:nvSpPr>
        <p:spPr>
          <a:xfrm>
            <a:off x="3520440" y="1545336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Out-of-band PIN required to modify any protection policy</a:t>
            </a:r>
            <a:endParaRPr lang="en-US" sz="900" dirty="0"/>
          </a:p>
        </p:txBody>
      </p:sp>
      <p:sp>
        <p:nvSpPr>
          <p:cNvPr id="1048693" name="Shape 16"/>
          <p:cNvSpPr/>
          <p:nvPr/>
        </p:nvSpPr>
        <p:spPr>
          <a:xfrm>
            <a:off x="274320" y="1920240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94" name="Text 17"/>
          <p:cNvSpPr/>
          <p:nvPr/>
        </p:nvSpPr>
        <p:spPr>
          <a:xfrm>
            <a:off x="320040" y="1920240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DR Readiness</a:t>
            </a:r>
            <a:endParaRPr lang="en-US" sz="1000" dirty="0"/>
          </a:p>
        </p:txBody>
      </p:sp>
      <p:sp>
        <p:nvSpPr>
          <p:cNvPr id="1048695" name="Shape 18"/>
          <p:cNvSpPr/>
          <p:nvPr/>
        </p:nvSpPr>
        <p:spPr>
          <a:xfrm>
            <a:off x="2880360" y="2176272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696" name="Text 19"/>
          <p:cNvSpPr/>
          <p:nvPr/>
        </p:nvSpPr>
        <p:spPr>
          <a:xfrm>
            <a:off x="3154680" y="2011680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48697" name="Shape 20"/>
          <p:cNvSpPr/>
          <p:nvPr/>
        </p:nvSpPr>
        <p:spPr>
          <a:xfrm>
            <a:off x="3429000" y="1920240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698" name="Text 21"/>
          <p:cNvSpPr/>
          <p:nvPr/>
        </p:nvSpPr>
        <p:spPr>
          <a:xfrm>
            <a:off x="3520440" y="1938528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ActiveCluster + ActiveDR + Pure Mediator</a:t>
            </a:r>
            <a:endParaRPr lang="en-US" sz="1100" dirty="0"/>
          </a:p>
        </p:txBody>
      </p:sp>
      <p:sp>
        <p:nvSpPr>
          <p:cNvPr id="1048699" name="Text 22"/>
          <p:cNvSpPr/>
          <p:nvPr/>
        </p:nvSpPr>
        <p:spPr>
          <a:xfrm>
            <a:off x="3520440" y="2176272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sync replication · RTO &lt;15 min · Free cloud arbiter</a:t>
            </a:r>
            <a:endParaRPr lang="en-US" sz="900" dirty="0"/>
          </a:p>
        </p:txBody>
      </p:sp>
      <p:sp>
        <p:nvSpPr>
          <p:cNvPr id="1048700" name="Shape 23"/>
          <p:cNvSpPr/>
          <p:nvPr/>
        </p:nvSpPr>
        <p:spPr>
          <a:xfrm>
            <a:off x="274320" y="2551176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01" name="Text 24"/>
          <p:cNvSpPr/>
          <p:nvPr/>
        </p:nvSpPr>
        <p:spPr>
          <a:xfrm>
            <a:off x="320040" y="2551176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EHR Object Storage</a:t>
            </a:r>
            <a:endParaRPr lang="en-US" sz="1000" dirty="0"/>
          </a:p>
        </p:txBody>
      </p:sp>
      <p:sp>
        <p:nvSpPr>
          <p:cNvPr id="1048702" name="Shape 25"/>
          <p:cNvSpPr/>
          <p:nvPr/>
        </p:nvSpPr>
        <p:spPr>
          <a:xfrm>
            <a:off x="2880360" y="2807208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03" name="Text 26"/>
          <p:cNvSpPr/>
          <p:nvPr/>
        </p:nvSpPr>
        <p:spPr>
          <a:xfrm>
            <a:off x="3154680" y="2642616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48704" name="Shape 27"/>
          <p:cNvSpPr/>
          <p:nvPr/>
        </p:nvSpPr>
        <p:spPr>
          <a:xfrm>
            <a:off x="3429000" y="2551176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05" name="Text 28"/>
          <p:cNvSpPr/>
          <p:nvPr/>
        </p:nvSpPr>
        <p:spPr>
          <a:xfrm>
            <a:off x="3520440" y="2569464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FlashBlade//S3 with Object Lock</a:t>
            </a:r>
            <a:endParaRPr lang="en-US" sz="1100" dirty="0"/>
          </a:p>
        </p:txBody>
      </p:sp>
      <p:sp>
        <p:nvSpPr>
          <p:cNvPr id="1048706" name="Text 29"/>
          <p:cNvSpPr/>
          <p:nvPr/>
        </p:nvSpPr>
        <p:spPr>
          <a:xfrm>
            <a:off x="3520440" y="2807208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Compliance mode WORM — nobody can delete until retention expires</a:t>
            </a:r>
            <a:endParaRPr lang="en-US" sz="900" dirty="0"/>
          </a:p>
        </p:txBody>
      </p:sp>
      <p:sp>
        <p:nvSpPr>
          <p:cNvPr id="1048707" name="Shape 30"/>
          <p:cNvSpPr/>
          <p:nvPr/>
        </p:nvSpPr>
        <p:spPr>
          <a:xfrm>
            <a:off x="274320" y="3182112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08" name="Text 31"/>
          <p:cNvSpPr/>
          <p:nvPr/>
        </p:nvSpPr>
        <p:spPr>
          <a:xfrm>
            <a:off x="320040" y="3182112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Kubernetes Protection</a:t>
            </a:r>
            <a:endParaRPr lang="en-US" sz="1000" dirty="0"/>
          </a:p>
        </p:txBody>
      </p:sp>
      <p:sp>
        <p:nvSpPr>
          <p:cNvPr id="1048709" name="Shape 32"/>
          <p:cNvSpPr/>
          <p:nvPr/>
        </p:nvSpPr>
        <p:spPr>
          <a:xfrm>
            <a:off x="2880360" y="3438144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10" name="Text 33"/>
          <p:cNvSpPr/>
          <p:nvPr/>
        </p:nvSpPr>
        <p:spPr>
          <a:xfrm>
            <a:off x="3154680" y="3273552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48711" name="Shape 34"/>
          <p:cNvSpPr/>
          <p:nvPr/>
        </p:nvSpPr>
        <p:spPr>
          <a:xfrm>
            <a:off x="3429000" y="3182112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12" name="Text 35"/>
          <p:cNvSpPr/>
          <p:nvPr/>
        </p:nvSpPr>
        <p:spPr>
          <a:xfrm>
            <a:off x="3520440" y="3200400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Portworx Enterprise + PX-Backup</a:t>
            </a:r>
            <a:endParaRPr lang="en-US" sz="1100" dirty="0"/>
          </a:p>
        </p:txBody>
      </p:sp>
      <p:sp>
        <p:nvSpPr>
          <p:cNvPr id="1048713" name="Text 36"/>
          <p:cNvSpPr/>
          <p:nvPr/>
        </p:nvSpPr>
        <p:spPr>
          <a:xfrm>
            <a:off x="3520440" y="3438144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K8s-native storage · PX-Backup protects PVs inside OpenShift</a:t>
            </a:r>
            <a:endParaRPr lang="en-US" sz="900" dirty="0"/>
          </a:p>
        </p:txBody>
      </p:sp>
      <p:sp>
        <p:nvSpPr>
          <p:cNvPr id="1048714" name="Shape 37"/>
          <p:cNvSpPr/>
          <p:nvPr/>
        </p:nvSpPr>
        <p:spPr>
          <a:xfrm>
            <a:off x="274320" y="381304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15" name="Text 38"/>
          <p:cNvSpPr/>
          <p:nvPr/>
        </p:nvSpPr>
        <p:spPr>
          <a:xfrm>
            <a:off x="320040" y="3813048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Credential Controls</a:t>
            </a:r>
            <a:endParaRPr lang="en-US" sz="1000" dirty="0"/>
          </a:p>
        </p:txBody>
      </p:sp>
      <p:sp>
        <p:nvSpPr>
          <p:cNvPr id="1048716" name="Shape 39"/>
          <p:cNvSpPr/>
          <p:nvPr/>
        </p:nvSpPr>
        <p:spPr>
          <a:xfrm>
            <a:off x="2880360" y="406908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17" name="Text 40"/>
          <p:cNvSpPr/>
          <p:nvPr/>
        </p:nvSpPr>
        <p:spPr>
          <a:xfrm>
            <a:off x="3154680" y="3904488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48718" name="Shape 41"/>
          <p:cNvSpPr/>
          <p:nvPr/>
        </p:nvSpPr>
        <p:spPr>
          <a:xfrm>
            <a:off x="3429000" y="381304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19" name="Text 42"/>
          <p:cNvSpPr/>
          <p:nvPr/>
        </p:nvSpPr>
        <p:spPr>
          <a:xfrm>
            <a:off x="3520440" y="383133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SafeMode Admin Separation</a:t>
            </a:r>
            <a:endParaRPr lang="en-US" sz="1100" dirty="0"/>
          </a:p>
        </p:txBody>
      </p:sp>
      <p:sp>
        <p:nvSpPr>
          <p:cNvPr id="1048720" name="Text 43"/>
          <p:cNvSpPr/>
          <p:nvPr/>
        </p:nvSpPr>
        <p:spPr>
          <a:xfrm>
            <a:off x="3520440" y="406908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Multi-factor, out-of-band — credential compromise cannot reach snapshots</a:t>
            </a:r>
            <a:endParaRPr lang="en-US" sz="900" dirty="0"/>
          </a:p>
        </p:txBody>
      </p:sp>
      <p:sp>
        <p:nvSpPr>
          <p:cNvPr id="1048721" name="Shape 44"/>
          <p:cNvSpPr/>
          <p:nvPr/>
        </p:nvSpPr>
        <p:spPr>
          <a:xfrm>
            <a:off x="274320" y="444398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22" name="Text 45"/>
          <p:cNvSpPr/>
          <p:nvPr/>
        </p:nvSpPr>
        <p:spPr>
          <a:xfrm>
            <a:off x="320040" y="4443984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Two Sites Only</a:t>
            </a:r>
            <a:endParaRPr lang="en-US" sz="1000" dirty="0"/>
          </a:p>
        </p:txBody>
      </p:sp>
      <p:sp>
        <p:nvSpPr>
          <p:cNvPr id="1048723" name="Shape 46"/>
          <p:cNvSpPr/>
          <p:nvPr/>
        </p:nvSpPr>
        <p:spPr>
          <a:xfrm>
            <a:off x="2880360" y="4700016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24" name="Text 47"/>
          <p:cNvSpPr/>
          <p:nvPr/>
        </p:nvSpPr>
        <p:spPr>
          <a:xfrm>
            <a:off x="3154680" y="4535424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48725" name="Shape 48"/>
          <p:cNvSpPr/>
          <p:nvPr/>
        </p:nvSpPr>
        <p:spPr>
          <a:xfrm>
            <a:off x="3429000" y="444398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26" name="Text 49"/>
          <p:cNvSpPr/>
          <p:nvPr/>
        </p:nvSpPr>
        <p:spPr>
          <a:xfrm>
            <a:off x="3520440" y="4462272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Pure Mediator (Cloud Tiebreaker)</a:t>
            </a:r>
            <a:endParaRPr lang="en-US" sz="1100" dirty="0"/>
          </a:p>
        </p:txBody>
      </p:sp>
      <p:sp>
        <p:nvSpPr>
          <p:cNvPr id="1048727" name="Text 50"/>
          <p:cNvSpPr/>
          <p:nvPr/>
        </p:nvSpPr>
        <p:spPr>
          <a:xfrm>
            <a:off x="3520440" y="4700016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Free lightweight cloud process — clean failover, no split-brain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1048732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1 &amp; 6: Snapshot Immutability &amp; Credential Controls → SafeMode</a:t>
            </a:r>
            <a:endParaRPr lang="en-US" sz="1400" dirty="0"/>
          </a:p>
        </p:txBody>
      </p:sp>
      <p:sp>
        <p:nvSpPr>
          <p:cNvPr id="1048733" name="Shape 2"/>
          <p:cNvSpPr/>
          <p:nvPr/>
        </p:nvSpPr>
        <p:spPr>
          <a:xfrm>
            <a:off x="274320" y="68580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1A2F4A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34" name="Text 3"/>
          <p:cNvSpPr/>
          <p:nvPr/>
        </p:nvSpPr>
        <p:spPr>
          <a:xfrm>
            <a:off x="457200" y="7772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BEFORE — Existing Stack</a:t>
            </a:r>
            <a:endParaRPr lang="en-US" sz="1200" dirty="0"/>
          </a:p>
        </p:txBody>
      </p:sp>
      <p:pic>
        <p:nvPicPr>
          <p:cNvPr id="209717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201168" cy="201168"/>
          </a:xfrm>
          <a:prstGeom prst="rect">
            <a:avLst/>
          </a:prstGeom>
        </p:spPr>
      </p:pic>
      <p:sp>
        <p:nvSpPr>
          <p:cNvPr id="1048735" name="Text 4"/>
          <p:cNvSpPr/>
          <p:nvPr/>
        </p:nvSpPr>
        <p:spPr>
          <a:xfrm>
            <a:off x="731520" y="117043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Snapshots stored as metadata on array</a:t>
            </a:r>
            <a:endParaRPr lang="en-US" sz="1000" dirty="0"/>
          </a:p>
        </p:txBody>
      </p:sp>
      <p:pic>
        <p:nvPicPr>
          <p:cNvPr id="209717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201168" cy="201168"/>
          </a:xfrm>
          <a:prstGeom prst="rect">
            <a:avLst/>
          </a:prstGeom>
        </p:spPr>
      </p:pic>
      <p:sp>
        <p:nvSpPr>
          <p:cNvPr id="1048736" name="Text 5"/>
          <p:cNvSpPr/>
          <p:nvPr/>
        </p:nvSpPr>
        <p:spPr>
          <a:xfrm>
            <a:off x="731520" y="162763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Admin credentials can delete snapshots</a:t>
            </a:r>
            <a:endParaRPr lang="en-US" sz="1000" dirty="0"/>
          </a:p>
        </p:txBody>
      </p:sp>
      <p:pic>
        <p:nvPicPr>
          <p:cNvPr id="209717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3120"/>
            <a:ext cx="201168" cy="201168"/>
          </a:xfrm>
          <a:prstGeom prst="rect">
            <a:avLst/>
          </a:prstGeom>
        </p:spPr>
      </p:pic>
      <p:sp>
        <p:nvSpPr>
          <p:cNvPr id="1048737" name="Text 6"/>
          <p:cNvSpPr/>
          <p:nvPr/>
        </p:nvSpPr>
        <p:spPr>
          <a:xfrm>
            <a:off x="731520" y="208483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Attacker deleted all recovery points</a:t>
            </a:r>
            <a:endParaRPr lang="en-US" sz="1000" dirty="0"/>
          </a:p>
        </p:txBody>
      </p:sp>
      <p:pic>
        <p:nvPicPr>
          <p:cNvPr id="209717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0"/>
            <a:ext cx="201168" cy="201168"/>
          </a:xfrm>
          <a:prstGeom prst="rect">
            <a:avLst/>
          </a:prstGeom>
        </p:spPr>
      </p:pic>
      <p:sp>
        <p:nvSpPr>
          <p:cNvPr id="1048738" name="Text 7"/>
          <p:cNvSpPr/>
          <p:nvPr/>
        </p:nvSpPr>
        <p:spPr>
          <a:xfrm>
            <a:off x="731520" y="254203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No secondary auth required</a:t>
            </a:r>
            <a:endParaRPr lang="en-US" sz="1000" dirty="0"/>
          </a:p>
        </p:txBody>
      </p:sp>
      <p:pic>
        <p:nvPicPr>
          <p:cNvPr id="209717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17520"/>
            <a:ext cx="201168" cy="201168"/>
          </a:xfrm>
          <a:prstGeom prst="rect">
            <a:avLst/>
          </a:prstGeom>
        </p:spPr>
      </p:pic>
      <p:sp>
        <p:nvSpPr>
          <p:cNvPr id="1048739" name="Text 8"/>
          <p:cNvSpPr/>
          <p:nvPr/>
        </p:nvSpPr>
        <p:spPr>
          <a:xfrm>
            <a:off x="731520" y="299923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Backup catalog on same network — encrypted</a:t>
            </a:r>
            <a:endParaRPr lang="en-US" sz="1000" dirty="0"/>
          </a:p>
        </p:txBody>
      </p:sp>
      <p:pic>
        <p:nvPicPr>
          <p:cNvPr id="209717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201168" cy="201168"/>
          </a:xfrm>
          <a:prstGeom prst="rect">
            <a:avLst/>
          </a:prstGeom>
        </p:spPr>
      </p:pic>
      <p:sp>
        <p:nvSpPr>
          <p:cNvPr id="1048740" name="Text 9"/>
          <p:cNvSpPr/>
          <p:nvPr/>
        </p:nvSpPr>
        <p:spPr>
          <a:xfrm>
            <a:off x="731520" y="345643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Result: Zero recovery options. 5-day tape restore.</a:t>
            </a:r>
            <a:endParaRPr lang="en-US" sz="1000" dirty="0"/>
          </a:p>
        </p:txBody>
      </p:sp>
      <p:sp>
        <p:nvSpPr>
          <p:cNvPr id="1048741" name="Shape 10"/>
          <p:cNvSpPr/>
          <p:nvPr/>
        </p:nvSpPr>
        <p:spPr>
          <a:xfrm>
            <a:off x="4572000" y="6858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42" name="Text 11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AFTER — Everpure SafeMode</a:t>
            </a:r>
            <a:endParaRPr lang="en-US" sz="1200" dirty="0"/>
          </a:p>
        </p:txBody>
      </p:sp>
      <p:pic>
        <p:nvPicPr>
          <p:cNvPr id="209717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188720"/>
            <a:ext cx="201168" cy="201168"/>
          </a:xfrm>
          <a:prstGeom prst="rect">
            <a:avLst/>
          </a:prstGeom>
        </p:spPr>
      </p:pic>
      <p:sp>
        <p:nvSpPr>
          <p:cNvPr id="1048743" name="Text 12"/>
          <p:cNvSpPr/>
          <p:nvPr/>
        </p:nvSpPr>
        <p:spPr>
          <a:xfrm>
            <a:off x="4983480" y="117043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SafeMode snapshots stored at firmware level</a:t>
            </a:r>
            <a:endParaRPr lang="en-US" sz="1000" dirty="0"/>
          </a:p>
        </p:txBody>
      </p:sp>
      <p:pic>
        <p:nvPicPr>
          <p:cNvPr id="209717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645920"/>
            <a:ext cx="201168" cy="201168"/>
          </a:xfrm>
          <a:prstGeom prst="rect">
            <a:avLst/>
          </a:prstGeom>
        </p:spPr>
      </p:pic>
      <p:sp>
        <p:nvSpPr>
          <p:cNvPr id="1048744" name="Text 13"/>
          <p:cNvSpPr/>
          <p:nvPr/>
        </p:nvSpPr>
        <p:spPr>
          <a:xfrm>
            <a:off x="4983480" y="162763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Cannot be deleted — even by compromised admin</a:t>
            </a:r>
            <a:endParaRPr lang="en-US" sz="1000" dirty="0"/>
          </a:p>
        </p:txBody>
      </p:sp>
      <p:pic>
        <p:nvPicPr>
          <p:cNvPr id="209717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103120"/>
            <a:ext cx="201168" cy="201168"/>
          </a:xfrm>
          <a:prstGeom prst="rect">
            <a:avLst/>
          </a:prstGeom>
        </p:spPr>
      </p:pic>
      <p:sp>
        <p:nvSpPr>
          <p:cNvPr id="1048745" name="Text 14"/>
          <p:cNvSpPr/>
          <p:nvPr/>
        </p:nvSpPr>
        <p:spPr>
          <a:xfrm>
            <a:off x="4983480" y="208483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Separate out-of-band PIN to modify any policy</a:t>
            </a:r>
            <a:endParaRPr lang="en-US" sz="1000" dirty="0"/>
          </a:p>
        </p:txBody>
      </p:sp>
      <p:pic>
        <p:nvPicPr>
          <p:cNvPr id="209718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560320"/>
            <a:ext cx="201168" cy="201168"/>
          </a:xfrm>
          <a:prstGeom prst="rect">
            <a:avLst/>
          </a:prstGeom>
        </p:spPr>
      </p:pic>
      <p:sp>
        <p:nvSpPr>
          <p:cNvPr id="1048746" name="Text 15"/>
          <p:cNvSpPr/>
          <p:nvPr/>
        </p:nvSpPr>
        <p:spPr>
          <a:xfrm>
            <a:off x="4983480" y="254203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Snapshots survive credential compromise</a:t>
            </a:r>
            <a:endParaRPr lang="en-US" sz="1000" dirty="0"/>
          </a:p>
        </p:txBody>
      </p:sp>
      <p:pic>
        <p:nvPicPr>
          <p:cNvPr id="209718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017520"/>
            <a:ext cx="201168" cy="201168"/>
          </a:xfrm>
          <a:prstGeom prst="rect">
            <a:avLst/>
          </a:prstGeom>
        </p:spPr>
      </p:pic>
      <p:sp>
        <p:nvSpPr>
          <p:cNvPr id="1048747" name="Text 16"/>
          <p:cNvSpPr/>
          <p:nvPr/>
        </p:nvSpPr>
        <p:spPr>
          <a:xfrm>
            <a:off x="4983480" y="299923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Pure support cannot delete without PIN</a:t>
            </a:r>
            <a:endParaRPr lang="en-US" sz="1000" dirty="0"/>
          </a:p>
        </p:txBody>
      </p:sp>
      <p:pic>
        <p:nvPicPr>
          <p:cNvPr id="209718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74720"/>
            <a:ext cx="201168" cy="201168"/>
          </a:xfrm>
          <a:prstGeom prst="rect">
            <a:avLst/>
          </a:prstGeom>
        </p:spPr>
      </p:pic>
      <p:sp>
        <p:nvSpPr>
          <p:cNvPr id="1048748" name="Text 17"/>
          <p:cNvSpPr/>
          <p:nvPr/>
        </p:nvSpPr>
        <p:spPr>
          <a:xfrm>
            <a:off x="4983480" y="345643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Result: Clean recovery in &lt;15 minutes.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8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1048755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4: EHR Object Storage → FlashBlade//S3 with Object Lock</a:t>
            </a:r>
            <a:endParaRPr lang="en-US" sz="1400" dirty="0"/>
          </a:p>
        </p:txBody>
      </p:sp>
      <p:sp>
        <p:nvSpPr>
          <p:cNvPr id="1048756" name="Shape 2"/>
          <p:cNvSpPr/>
          <p:nvPr/>
        </p:nvSpPr>
        <p:spPr>
          <a:xfrm>
            <a:off x="274320" y="6858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A000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57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The Problem: 10+ PB of EHR on legacy S3-compatible storage — no WORM, no Object Lock, no immutability. HIPAA requires 7–10 year retention. One compromised admin account can delete years of records.</a:t>
            </a:r>
            <a:endParaRPr lang="en-US" sz="1000" dirty="0"/>
          </a:p>
        </p:txBody>
      </p:sp>
      <p:sp>
        <p:nvSpPr>
          <p:cNvPr id="1048758" name="Text 4"/>
          <p:cNvSpPr/>
          <p:nvPr/>
        </p:nvSpPr>
        <p:spPr>
          <a:xfrm>
            <a:off x="274320" y="14447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Object Lock: Two Modes — Only One Meets HIPAA</a:t>
            </a:r>
            <a:endParaRPr lang="en-US" sz="1200" dirty="0"/>
          </a:p>
        </p:txBody>
      </p:sp>
      <p:sp>
        <p:nvSpPr>
          <p:cNvPr id="1048759" name="Shape 5"/>
          <p:cNvSpPr/>
          <p:nvPr/>
        </p:nvSpPr>
        <p:spPr>
          <a:xfrm>
            <a:off x="27432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60" name="Text 6"/>
          <p:cNvSpPr/>
          <p:nvPr/>
        </p:nvSpPr>
        <p:spPr>
          <a:xfrm>
            <a:off x="365760" y="18470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Governance Mode</a:t>
            </a:r>
            <a:endParaRPr lang="en-US" sz="1100" dirty="0"/>
          </a:p>
        </p:txBody>
      </p:sp>
      <p:sp>
        <p:nvSpPr>
          <p:cNvPr id="1048761" name="Text 7"/>
          <p:cNvSpPr/>
          <p:nvPr/>
        </p:nvSpPr>
        <p:spPr>
          <a:xfrm>
            <a:off x="365760" y="21488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Privileged users with special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permissions can override lock.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 compromised admin with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elevated access can still delete.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⚠ Not sufficient for HIPAA</a:t>
            </a:r>
            <a:endParaRPr lang="en-US" sz="900" dirty="0"/>
          </a:p>
        </p:txBody>
      </p:sp>
      <p:sp>
        <p:nvSpPr>
          <p:cNvPr id="1048762" name="Shape 8"/>
          <p:cNvSpPr/>
          <p:nvPr/>
        </p:nvSpPr>
        <p:spPr>
          <a:xfrm>
            <a:off x="288036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63" name="Text 9"/>
          <p:cNvSpPr/>
          <p:nvPr/>
        </p:nvSpPr>
        <p:spPr>
          <a:xfrm>
            <a:off x="2971800" y="18470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Compliance Mode  ✓</a:t>
            </a:r>
            <a:endParaRPr lang="en-US" sz="1100" dirty="0"/>
          </a:p>
        </p:txBody>
      </p:sp>
      <p:sp>
        <p:nvSpPr>
          <p:cNvPr id="1048764" name="Text 10"/>
          <p:cNvSpPr/>
          <p:nvPr/>
        </p:nvSpPr>
        <p:spPr>
          <a:xfrm>
            <a:off x="2971800" y="21488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Nobody can override — not root,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not storage admin, not Pure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support, not anyone.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Retention is in the object itself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at write time.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✓ Legally defensible for HIPAA</a:t>
            </a:r>
            <a:endParaRPr lang="en-US" sz="900" dirty="0"/>
          </a:p>
        </p:txBody>
      </p:sp>
      <p:sp>
        <p:nvSpPr>
          <p:cNvPr id="1048765" name="Text 11"/>
          <p:cNvSpPr/>
          <p:nvPr/>
        </p:nvSpPr>
        <p:spPr>
          <a:xfrm>
            <a:off x="5577840" y="144475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Addressing the 10 PB Cost Objection</a:t>
            </a:r>
            <a:endParaRPr lang="en-US" sz="1200" dirty="0"/>
          </a:p>
        </p:txBody>
      </p:sp>
      <p:sp>
        <p:nvSpPr>
          <p:cNvPr id="1048766" name="Shape 12"/>
          <p:cNvSpPr/>
          <p:nvPr/>
        </p:nvSpPr>
        <p:spPr>
          <a:xfrm>
            <a:off x="5577840" y="1783080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67" name="Text 13"/>
          <p:cNvSpPr/>
          <p:nvPr/>
        </p:nvSpPr>
        <p:spPr>
          <a:xfrm>
            <a:off x="5669280" y="181051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Hot Tier</a:t>
            </a:r>
            <a:endParaRPr lang="en-US" sz="1000" dirty="0"/>
          </a:p>
        </p:txBody>
      </p:sp>
      <p:sp>
        <p:nvSpPr>
          <p:cNvPr id="1048768" name="Text 14"/>
          <p:cNvSpPr/>
          <p:nvPr/>
        </p:nvSpPr>
        <p:spPr>
          <a:xfrm>
            <a:off x="5669280" y="20391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Active EHR · Last 12 mo</a:t>
            </a:r>
            <a:endParaRPr lang="en-US" sz="800" dirty="0"/>
          </a:p>
        </p:txBody>
      </p:sp>
      <p:sp>
        <p:nvSpPr>
          <p:cNvPr id="1048769" name="Text 15"/>
          <p:cNvSpPr/>
          <p:nvPr/>
        </p:nvSpPr>
        <p:spPr>
          <a:xfrm>
            <a:off x="6858000" y="18105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FlashBlade //S</a:t>
            </a:r>
            <a:endParaRPr lang="en-US" sz="1000" dirty="0"/>
          </a:p>
        </p:txBody>
      </p:sp>
      <p:sp>
        <p:nvSpPr>
          <p:cNvPr id="1048770" name="Text 16"/>
          <p:cNvSpPr/>
          <p:nvPr/>
        </p:nvSpPr>
        <p:spPr>
          <a:xfrm>
            <a:off x="6858000" y="203911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Fast retrieval + Object Lock</a:t>
            </a:r>
            <a:endParaRPr lang="en-US" sz="800" dirty="0"/>
          </a:p>
        </p:txBody>
      </p:sp>
      <p:sp>
        <p:nvSpPr>
          <p:cNvPr id="1048771" name="Shape 17"/>
          <p:cNvSpPr/>
          <p:nvPr/>
        </p:nvSpPr>
        <p:spPr>
          <a:xfrm>
            <a:off x="5577840" y="2359152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48CA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72" name="Text 18"/>
          <p:cNvSpPr/>
          <p:nvPr/>
        </p:nvSpPr>
        <p:spPr>
          <a:xfrm>
            <a:off x="5669280" y="23865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CAE4"/>
                </a:solidFill>
              </a:rPr>
              <a:t>Warm Tier</a:t>
            </a:r>
            <a:endParaRPr lang="en-US" sz="1000" dirty="0"/>
          </a:p>
        </p:txBody>
      </p:sp>
      <p:sp>
        <p:nvSpPr>
          <p:cNvPr id="1048773" name="Text 19"/>
          <p:cNvSpPr/>
          <p:nvPr/>
        </p:nvSpPr>
        <p:spPr>
          <a:xfrm>
            <a:off x="5669280" y="261518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1–3 years</a:t>
            </a:r>
            <a:endParaRPr lang="en-US" sz="800" dirty="0"/>
          </a:p>
        </p:txBody>
      </p:sp>
      <p:sp>
        <p:nvSpPr>
          <p:cNvPr id="1048774" name="Text 20"/>
          <p:cNvSpPr/>
          <p:nvPr/>
        </p:nvSpPr>
        <p:spPr>
          <a:xfrm>
            <a:off x="6858000" y="238658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FlashBlade //E</a:t>
            </a:r>
            <a:endParaRPr lang="en-US" sz="1000" dirty="0"/>
          </a:p>
        </p:txBody>
      </p:sp>
      <p:sp>
        <p:nvSpPr>
          <p:cNvPr id="1048775" name="Text 21"/>
          <p:cNvSpPr/>
          <p:nvPr/>
        </p:nvSpPr>
        <p:spPr>
          <a:xfrm>
            <a:off x="6858000" y="26151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Capacity-optimised flash</a:t>
            </a:r>
            <a:endParaRPr lang="en-US" sz="800" dirty="0"/>
          </a:p>
        </p:txBody>
      </p:sp>
      <p:sp>
        <p:nvSpPr>
          <p:cNvPr id="1048776" name="Shape 22"/>
          <p:cNvSpPr/>
          <p:nvPr/>
        </p:nvSpPr>
        <p:spPr>
          <a:xfrm>
            <a:off x="5577840" y="2935224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777" name="Text 23"/>
          <p:cNvSpPr/>
          <p:nvPr/>
        </p:nvSpPr>
        <p:spPr>
          <a:xfrm>
            <a:off x="5669280" y="29626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Cold Tier</a:t>
            </a:r>
            <a:endParaRPr lang="en-US" sz="1000" dirty="0"/>
          </a:p>
        </p:txBody>
      </p:sp>
      <p:sp>
        <p:nvSpPr>
          <p:cNvPr id="1048778" name="Text 24"/>
          <p:cNvSpPr/>
          <p:nvPr/>
        </p:nvSpPr>
        <p:spPr>
          <a:xfrm>
            <a:off x="5669280" y="319125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3–10 years, rare access</a:t>
            </a:r>
            <a:endParaRPr lang="en-US" sz="800" dirty="0"/>
          </a:p>
        </p:txBody>
      </p:sp>
      <p:sp>
        <p:nvSpPr>
          <p:cNvPr id="1048779" name="Text 25"/>
          <p:cNvSpPr/>
          <p:nvPr/>
        </p:nvSpPr>
        <p:spPr>
          <a:xfrm>
            <a:off x="6858000" y="296265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 Object/Cloud</a:t>
            </a:r>
            <a:endParaRPr lang="en-US" sz="1000" dirty="0"/>
          </a:p>
        </p:txBody>
      </p:sp>
      <p:sp>
        <p:nvSpPr>
          <p:cNvPr id="1048780" name="Text 26"/>
          <p:cNvSpPr/>
          <p:nvPr/>
        </p:nvSpPr>
        <p:spPr>
          <a:xfrm>
            <a:off x="6858000" y="319125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DC7"/>
                </a:solidFill>
              </a:rPr>
              <a:t>Cost-effective, policy WORM</a:t>
            </a:r>
            <a:endParaRPr lang="en-US" sz="800" dirty="0"/>
          </a:p>
        </p:txBody>
      </p:sp>
      <p:sp>
        <p:nvSpPr>
          <p:cNvPr id="1048781" name="Shape 27"/>
          <p:cNvSpPr/>
          <p:nvPr/>
        </p:nvSpPr>
        <p:spPr>
          <a:xfrm>
            <a:off x="5577840" y="35661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243B55"/>
          </a:solidFill>
          <a:ln w="9525">
            <a:solidFill>
              <a:srgbClr val="8EAD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782" name="Text 28"/>
          <p:cNvSpPr/>
          <p:nvPr/>
        </p:nvSpPr>
        <p:spPr>
          <a:xfrm>
            <a:off x="5669280" y="363016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DRR View</a:t>
            </a:r>
            <a:endParaRPr lang="en-US" sz="1000" dirty="0"/>
          </a:p>
        </p:txBody>
      </p:sp>
      <p:sp>
        <p:nvSpPr>
          <p:cNvPr id="1048783" name="Text 29"/>
          <p:cNvSpPr/>
          <p:nvPr/>
        </p:nvSpPr>
        <p:spPr>
          <a:xfrm>
            <a:off x="5669280" y="385876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Pre-compressed DICOM: ~1:1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Structured EHR/clinical docs: 3–5:1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8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1048790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Gap 3 &amp; 7: DR Readiness &amp; Two Sites → ActiveCluster + ActiveDR + Pure Mediator</a:t>
            </a:r>
            <a:endParaRPr lang="en-US" sz="13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FFFE03-ECE4-0C57-47B1-FFC72E3A6F02}"/>
              </a:ext>
            </a:extLst>
          </p:cNvPr>
          <p:cNvGrpSpPr/>
          <p:nvPr/>
        </p:nvGrpSpPr>
        <p:grpSpPr>
          <a:xfrm>
            <a:off x="73152" y="658368"/>
            <a:ext cx="2834640" cy="4206240"/>
            <a:chOff x="274320" y="658368"/>
            <a:chExt cx="2834640" cy="4206240"/>
          </a:xfrm>
        </p:grpSpPr>
        <p:sp>
          <p:nvSpPr>
            <p:cNvPr id="1048791" name="Shape 2"/>
            <p:cNvSpPr/>
            <p:nvPr/>
          </p:nvSpPr>
          <p:spPr>
            <a:xfrm>
              <a:off x="274320" y="658368"/>
              <a:ext cx="2834640" cy="4206240"/>
            </a:xfrm>
            <a:prstGeom prst="roundRect">
              <a:avLst>
                <a:gd name="adj" fmla="val 3226"/>
              </a:avLst>
            </a:prstGeom>
            <a:solidFill>
              <a:srgbClr val="1A2F4A"/>
            </a:solidFill>
            <a:ln w="19050">
              <a:solidFill>
                <a:srgbClr val="00B4D8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792" name="Text 3"/>
            <p:cNvSpPr/>
            <p:nvPr/>
          </p:nvSpPr>
          <p:spPr>
            <a:xfrm>
              <a:off x="411480" y="749808"/>
              <a:ext cx="256032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B4D8"/>
                  </a:solidFill>
                </a:rPr>
                <a:t>HYDERABAD DC</a:t>
              </a:r>
              <a:endParaRPr lang="en-US" sz="1200" dirty="0"/>
            </a:p>
          </p:txBody>
        </p:sp>
        <p:sp>
          <p:nvSpPr>
            <p:cNvPr id="1048793" name="Text 4"/>
            <p:cNvSpPr/>
            <p:nvPr/>
          </p:nvSpPr>
          <p:spPr>
            <a:xfrm>
              <a:off x="411480" y="1005840"/>
              <a:ext cx="25603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EADC7"/>
                  </a:solidFill>
                </a:rPr>
                <a:t>Primary</a:t>
              </a:r>
              <a:endParaRPr lang="en-US" sz="900" dirty="0"/>
            </a:p>
          </p:txBody>
        </p:sp>
        <p:pic>
          <p:nvPicPr>
            <p:cNvPr id="209718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1325880"/>
              <a:ext cx="201168" cy="201168"/>
            </a:xfrm>
            <a:prstGeom prst="rect">
              <a:avLst/>
            </a:prstGeom>
          </p:spPr>
        </p:pic>
        <p:sp>
          <p:nvSpPr>
            <p:cNvPr id="1048794" name="Text 5"/>
            <p:cNvSpPr/>
            <p:nvPr/>
          </p:nvSpPr>
          <p:spPr>
            <a:xfrm>
              <a:off x="685800" y="1307592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FlashArray//XL</a:t>
              </a:r>
              <a:endParaRPr lang="en-US" sz="1000" dirty="0"/>
            </a:p>
          </p:txBody>
        </p:sp>
        <p:pic>
          <p:nvPicPr>
            <p:cNvPr id="2097186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1837944"/>
              <a:ext cx="201168" cy="201168"/>
            </a:xfrm>
            <a:prstGeom prst="rect">
              <a:avLst/>
            </a:prstGeom>
          </p:spPr>
        </p:pic>
        <p:sp>
          <p:nvSpPr>
            <p:cNvPr id="1048795" name="Text 6"/>
            <p:cNvSpPr/>
            <p:nvPr/>
          </p:nvSpPr>
          <p:spPr>
            <a:xfrm>
              <a:off x="685800" y="1819656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ActiveCluster — Active/Active</a:t>
              </a:r>
              <a:endParaRPr lang="en-US" sz="1000" dirty="0"/>
            </a:p>
          </p:txBody>
        </p:sp>
        <p:pic>
          <p:nvPicPr>
            <p:cNvPr id="2097187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2350008"/>
              <a:ext cx="201168" cy="201168"/>
            </a:xfrm>
            <a:prstGeom prst="rect">
              <a:avLst/>
            </a:prstGeom>
          </p:spPr>
        </p:pic>
        <p:sp>
          <p:nvSpPr>
            <p:cNvPr id="1048796" name="Text 7"/>
            <p:cNvSpPr/>
            <p:nvPr/>
          </p:nvSpPr>
          <p:spPr>
            <a:xfrm>
              <a:off x="685800" y="2331720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Zero RPO sync replication</a:t>
              </a:r>
              <a:endParaRPr lang="en-US" sz="1000" dirty="0"/>
            </a:p>
          </p:txBody>
        </p:sp>
        <p:pic>
          <p:nvPicPr>
            <p:cNvPr id="2097188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2862072"/>
              <a:ext cx="201168" cy="201168"/>
            </a:xfrm>
            <a:prstGeom prst="rect">
              <a:avLst/>
            </a:prstGeom>
          </p:spPr>
        </p:pic>
        <p:sp>
          <p:nvSpPr>
            <p:cNvPr id="1048797" name="Text 8"/>
            <p:cNvSpPr/>
            <p:nvPr/>
          </p:nvSpPr>
          <p:spPr>
            <a:xfrm>
              <a:off x="685800" y="2843784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Serves live Oracle claims</a:t>
              </a:r>
              <a:endParaRPr lang="en-US" sz="10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E812DDF-BB31-84DD-511A-55792539E700}"/>
              </a:ext>
            </a:extLst>
          </p:cNvPr>
          <p:cNvGrpSpPr/>
          <p:nvPr/>
        </p:nvGrpSpPr>
        <p:grpSpPr>
          <a:xfrm>
            <a:off x="6281928" y="658368"/>
            <a:ext cx="2834640" cy="4206240"/>
            <a:chOff x="6217920" y="658368"/>
            <a:chExt cx="2834640" cy="4206240"/>
          </a:xfrm>
        </p:grpSpPr>
        <p:sp>
          <p:nvSpPr>
            <p:cNvPr id="1048805" name="Shape 16"/>
            <p:cNvSpPr/>
            <p:nvPr/>
          </p:nvSpPr>
          <p:spPr>
            <a:xfrm>
              <a:off x="6217920" y="658368"/>
              <a:ext cx="2834640" cy="4206240"/>
            </a:xfrm>
            <a:prstGeom prst="roundRect">
              <a:avLst>
                <a:gd name="adj" fmla="val 3226"/>
              </a:avLst>
            </a:prstGeom>
            <a:solidFill>
              <a:srgbClr val="1A2F4A"/>
            </a:solidFill>
            <a:ln w="19050">
              <a:solidFill>
                <a:srgbClr val="F4A261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806" name="Text 17"/>
            <p:cNvSpPr/>
            <p:nvPr/>
          </p:nvSpPr>
          <p:spPr>
            <a:xfrm>
              <a:off x="6355080" y="749808"/>
              <a:ext cx="256032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4A261"/>
                  </a:solidFill>
                </a:rPr>
                <a:t>CLOUD DR</a:t>
              </a:r>
              <a:endParaRPr lang="en-US" sz="1200" dirty="0"/>
            </a:p>
          </p:txBody>
        </p:sp>
        <p:sp>
          <p:nvSpPr>
            <p:cNvPr id="1048807" name="Text 18"/>
            <p:cNvSpPr/>
            <p:nvPr/>
          </p:nvSpPr>
          <p:spPr>
            <a:xfrm>
              <a:off x="6355080" y="1005840"/>
              <a:ext cx="25603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EADC7"/>
                  </a:solidFill>
                </a:rPr>
                <a:t>Tertiary site</a:t>
              </a:r>
              <a:endParaRPr lang="en-US" sz="900" dirty="0"/>
            </a:p>
          </p:txBody>
        </p:sp>
        <p:pic>
          <p:nvPicPr>
            <p:cNvPr id="2097193" name="Image 9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5080" y="1325880"/>
              <a:ext cx="201168" cy="201168"/>
            </a:xfrm>
            <a:prstGeom prst="rect">
              <a:avLst/>
            </a:prstGeom>
          </p:spPr>
        </p:pic>
        <p:sp>
          <p:nvSpPr>
            <p:cNvPr id="1048808" name="Text 19"/>
            <p:cNvSpPr/>
            <p:nvPr/>
          </p:nvSpPr>
          <p:spPr>
            <a:xfrm>
              <a:off x="6629400" y="1307592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ActiveDR async replication</a:t>
              </a:r>
              <a:endParaRPr lang="en-US" sz="1000" dirty="0"/>
            </a:p>
          </p:txBody>
        </p:sp>
        <p:pic>
          <p:nvPicPr>
            <p:cNvPr id="2097194" name="Image 1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5080" y="1837944"/>
              <a:ext cx="201168" cy="201168"/>
            </a:xfrm>
            <a:prstGeom prst="rect">
              <a:avLst/>
            </a:prstGeom>
          </p:spPr>
        </p:pic>
        <p:sp>
          <p:nvSpPr>
            <p:cNvPr id="1048809" name="Text 20"/>
            <p:cNvSpPr/>
            <p:nvPr/>
          </p:nvSpPr>
          <p:spPr>
            <a:xfrm>
              <a:off x="6629400" y="1819656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Pure Mediator (free)</a:t>
              </a:r>
              <a:endParaRPr lang="en-US" sz="1000" dirty="0"/>
            </a:p>
          </p:txBody>
        </p:sp>
        <p:pic>
          <p:nvPicPr>
            <p:cNvPr id="2097195" name="Image 1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5080" y="2350008"/>
              <a:ext cx="201168" cy="201168"/>
            </a:xfrm>
            <a:prstGeom prst="rect">
              <a:avLst/>
            </a:prstGeom>
          </p:spPr>
        </p:pic>
        <p:sp>
          <p:nvSpPr>
            <p:cNvPr id="1048810" name="Text 21"/>
            <p:cNvSpPr/>
            <p:nvPr/>
          </p:nvSpPr>
          <p:spPr>
            <a:xfrm>
              <a:off x="6629400" y="2331720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Lightweight tiebreaker</a:t>
              </a:r>
              <a:endParaRPr lang="en-US" sz="1000" dirty="0"/>
            </a:p>
          </p:txBody>
        </p:sp>
        <p:pic>
          <p:nvPicPr>
            <p:cNvPr id="2097196" name="Image 1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5080" y="2862072"/>
              <a:ext cx="201168" cy="201168"/>
            </a:xfrm>
            <a:prstGeom prst="rect">
              <a:avLst/>
            </a:prstGeom>
          </p:spPr>
        </p:pic>
        <p:sp>
          <p:nvSpPr>
            <p:cNvPr id="1048811" name="Text 22"/>
            <p:cNvSpPr/>
            <p:nvPr/>
          </p:nvSpPr>
          <p:spPr>
            <a:xfrm>
              <a:off x="6629400" y="2843784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RTO &lt;15 min on failover</a:t>
              </a:r>
              <a:endParaRPr lang="en-US" sz="1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787912-FF63-8E61-F99F-FF68F6C1A859}"/>
              </a:ext>
            </a:extLst>
          </p:cNvPr>
          <p:cNvGrpSpPr/>
          <p:nvPr/>
        </p:nvGrpSpPr>
        <p:grpSpPr>
          <a:xfrm>
            <a:off x="3177540" y="662940"/>
            <a:ext cx="2834640" cy="4206240"/>
            <a:chOff x="3246120" y="658368"/>
            <a:chExt cx="2834640" cy="4206240"/>
          </a:xfrm>
        </p:grpSpPr>
        <p:sp>
          <p:nvSpPr>
            <p:cNvPr id="1048798" name="Shape 9"/>
            <p:cNvSpPr/>
            <p:nvPr/>
          </p:nvSpPr>
          <p:spPr>
            <a:xfrm>
              <a:off x="3246120" y="658368"/>
              <a:ext cx="2834640" cy="4206240"/>
            </a:xfrm>
            <a:prstGeom prst="roundRect">
              <a:avLst>
                <a:gd name="adj" fmla="val 3226"/>
              </a:avLst>
            </a:prstGeom>
            <a:solidFill>
              <a:srgbClr val="1A2F4A"/>
            </a:solidFill>
            <a:ln w="19050">
              <a:solidFill>
                <a:srgbClr val="00B4D8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799" name="Text 10"/>
            <p:cNvSpPr/>
            <p:nvPr/>
          </p:nvSpPr>
          <p:spPr>
            <a:xfrm>
              <a:off x="3383280" y="749808"/>
              <a:ext cx="256032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B4D8"/>
                  </a:solidFill>
                </a:rPr>
                <a:t>PUNE DC</a:t>
              </a:r>
              <a:endParaRPr lang="en-US" sz="1200" dirty="0"/>
            </a:p>
          </p:txBody>
        </p:sp>
        <p:sp>
          <p:nvSpPr>
            <p:cNvPr id="1048800" name="Text 11"/>
            <p:cNvSpPr/>
            <p:nvPr/>
          </p:nvSpPr>
          <p:spPr>
            <a:xfrm>
              <a:off x="3383280" y="1005840"/>
              <a:ext cx="256032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EADC7"/>
                  </a:solidFill>
                </a:rPr>
                <a:t>Secondary</a:t>
              </a:r>
              <a:endParaRPr lang="en-US" sz="900" dirty="0"/>
            </a:p>
          </p:txBody>
        </p:sp>
        <p:pic>
          <p:nvPicPr>
            <p:cNvPr id="2097189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3280" y="1325880"/>
              <a:ext cx="201168" cy="201168"/>
            </a:xfrm>
            <a:prstGeom prst="rect">
              <a:avLst/>
            </a:prstGeom>
          </p:spPr>
        </p:pic>
        <p:sp>
          <p:nvSpPr>
            <p:cNvPr id="1048801" name="Text 12"/>
            <p:cNvSpPr/>
            <p:nvPr/>
          </p:nvSpPr>
          <p:spPr>
            <a:xfrm>
              <a:off x="3657600" y="1307592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FlashArray//XL</a:t>
              </a:r>
              <a:endParaRPr lang="en-US" sz="1000" dirty="0"/>
            </a:p>
          </p:txBody>
        </p:sp>
        <p:pic>
          <p:nvPicPr>
            <p:cNvPr id="2097190" name="Image 6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3280" y="1837944"/>
              <a:ext cx="201168" cy="201168"/>
            </a:xfrm>
            <a:prstGeom prst="rect">
              <a:avLst/>
            </a:prstGeom>
          </p:spPr>
        </p:pic>
        <p:sp>
          <p:nvSpPr>
            <p:cNvPr id="1048802" name="Text 13"/>
            <p:cNvSpPr/>
            <p:nvPr/>
          </p:nvSpPr>
          <p:spPr>
            <a:xfrm>
              <a:off x="3657600" y="1819656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ActiveCluster — Active/Active</a:t>
              </a:r>
              <a:endParaRPr lang="en-US" sz="1000" dirty="0"/>
            </a:p>
          </p:txBody>
        </p:sp>
        <p:pic>
          <p:nvPicPr>
            <p:cNvPr id="2097191" name="Image 7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3280" y="2350008"/>
              <a:ext cx="201168" cy="201168"/>
            </a:xfrm>
            <a:prstGeom prst="rect">
              <a:avLst/>
            </a:prstGeom>
          </p:spPr>
        </p:pic>
        <p:sp>
          <p:nvSpPr>
            <p:cNvPr id="1048803" name="Text 14"/>
            <p:cNvSpPr/>
            <p:nvPr/>
          </p:nvSpPr>
          <p:spPr>
            <a:xfrm>
              <a:off x="3657600" y="2331720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Same data, same time</a:t>
              </a:r>
              <a:endParaRPr lang="en-US" sz="1000" dirty="0"/>
            </a:p>
          </p:txBody>
        </p:sp>
        <p:pic>
          <p:nvPicPr>
            <p:cNvPr id="2097192" name="Image 8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3280" y="2862072"/>
              <a:ext cx="201168" cy="201168"/>
            </a:xfrm>
            <a:prstGeom prst="rect">
              <a:avLst/>
            </a:prstGeom>
          </p:spPr>
        </p:pic>
        <p:sp>
          <p:nvSpPr>
            <p:cNvPr id="1048804" name="Text 15"/>
            <p:cNvSpPr/>
            <p:nvPr/>
          </p:nvSpPr>
          <p:spPr>
            <a:xfrm>
              <a:off x="3657600" y="2843784"/>
              <a:ext cx="2331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Instant failover — no data loss</a:t>
              </a:r>
              <a:endParaRPr lang="en-US" sz="1000" dirty="0"/>
            </a:p>
          </p:txBody>
        </p:sp>
      </p:grpSp>
      <p:sp>
        <p:nvSpPr>
          <p:cNvPr id="1048813" name="Text 24"/>
          <p:cNvSpPr/>
          <p:nvPr/>
        </p:nvSpPr>
        <p:spPr>
          <a:xfrm>
            <a:off x="2092900" y="1894960"/>
            <a:ext cx="1912710" cy="11795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</a:rPr>
              <a:t>◀━ sync ━▶</a:t>
            </a:r>
            <a:endParaRPr lang="en-US" sz="800" dirty="0"/>
          </a:p>
        </p:txBody>
      </p:sp>
      <p:sp>
        <p:nvSpPr>
          <p:cNvPr id="1048815" name="Text 26"/>
          <p:cNvSpPr/>
          <p:nvPr/>
        </p:nvSpPr>
        <p:spPr>
          <a:xfrm>
            <a:off x="5673852" y="2395728"/>
            <a:ext cx="104080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</a:rPr>
              <a:t>async →</a:t>
            </a:r>
            <a:endParaRPr lang="en-US" sz="800" dirty="0"/>
          </a:p>
        </p:txBody>
      </p:sp>
      <p:sp>
        <p:nvSpPr>
          <p:cNvPr id="1048816" name="Shape 27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01A00"/>
          </a:solidFill>
          <a:ln w="9525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17" name="Text 28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Pure Mediator: Free lightweight cloud process — not a full VM, no licensing cost. Acts as tiebreaker between Hyderabad and Pune to prevent split-brain on failover.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9719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1048822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5: Kubernetes Protection → Portworx Enterprise + PX-Backup</a:t>
            </a:r>
            <a:endParaRPr lang="en-US" sz="1400" dirty="0"/>
          </a:p>
        </p:txBody>
      </p:sp>
      <p:sp>
        <p:nvSpPr>
          <p:cNvPr id="1048823" name="Shape 2"/>
          <p:cNvSpPr/>
          <p:nvPr/>
        </p:nvSpPr>
        <p:spPr>
          <a:xfrm>
            <a:off x="274320" y="68580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824" name="Text 3"/>
          <p:cNvSpPr/>
          <p:nvPr/>
        </p:nvSpPr>
        <p:spPr>
          <a:xfrm>
            <a:off x="457200" y="7772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Portworx Enterprise</a:t>
            </a:r>
            <a:endParaRPr lang="en-US" sz="1300" dirty="0"/>
          </a:p>
        </p:txBody>
      </p:sp>
      <p:sp>
        <p:nvSpPr>
          <p:cNvPr id="1048825" name="Text 4"/>
          <p:cNvSpPr/>
          <p:nvPr/>
        </p:nvSpPr>
        <p:spPr>
          <a:xfrm>
            <a:off x="457200" y="105156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Kubernetes-Native Storage Platform</a:t>
            </a:r>
            <a:endParaRPr lang="en-US" sz="1000" dirty="0"/>
          </a:p>
        </p:txBody>
      </p:sp>
      <p:pic>
        <p:nvPicPr>
          <p:cNvPr id="209719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201168" cy="201168"/>
          </a:xfrm>
          <a:prstGeom prst="rect">
            <a:avLst/>
          </a:prstGeom>
        </p:spPr>
      </p:pic>
      <p:sp>
        <p:nvSpPr>
          <p:cNvPr id="1048826" name="Text 5"/>
          <p:cNvSpPr/>
          <p:nvPr/>
        </p:nvSpPr>
        <p:spPr>
          <a:xfrm>
            <a:off x="731520" y="1353312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Storage orchestration inside Kubernetes</a:t>
            </a:r>
            <a:endParaRPr lang="en-US" sz="1000" dirty="0"/>
          </a:p>
        </p:txBody>
      </p:sp>
      <p:pic>
        <p:nvPicPr>
          <p:cNvPr id="209719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47088"/>
            <a:ext cx="201168" cy="201168"/>
          </a:xfrm>
          <a:prstGeom prst="rect">
            <a:avLst/>
          </a:prstGeom>
        </p:spPr>
      </p:pic>
      <p:sp>
        <p:nvSpPr>
          <p:cNvPr id="1048827" name="Text 6"/>
          <p:cNvSpPr/>
          <p:nvPr/>
        </p:nvSpPr>
        <p:spPr>
          <a:xfrm>
            <a:off x="731520" y="182880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Persistent Volumes survive pod restarts</a:t>
            </a:r>
            <a:endParaRPr lang="en-US" sz="1000" dirty="0"/>
          </a:p>
        </p:txBody>
      </p:sp>
      <p:pic>
        <p:nvPicPr>
          <p:cNvPr id="209720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22576"/>
            <a:ext cx="201168" cy="201168"/>
          </a:xfrm>
          <a:prstGeom prst="rect">
            <a:avLst/>
          </a:prstGeom>
        </p:spPr>
      </p:pic>
      <p:sp>
        <p:nvSpPr>
          <p:cNvPr id="1048828" name="Text 7"/>
          <p:cNvSpPr/>
          <p:nvPr/>
        </p:nvSpPr>
        <p:spPr>
          <a:xfrm>
            <a:off x="731520" y="2304288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Runs as a DaemonSet — part of the cluster</a:t>
            </a:r>
            <a:endParaRPr lang="en-US" sz="1000" dirty="0"/>
          </a:p>
        </p:txBody>
      </p:sp>
      <p:pic>
        <p:nvPicPr>
          <p:cNvPr id="209720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98064"/>
            <a:ext cx="201168" cy="201168"/>
          </a:xfrm>
          <a:prstGeom prst="rect">
            <a:avLst/>
          </a:prstGeom>
        </p:spPr>
      </p:pic>
      <p:sp>
        <p:nvSpPr>
          <p:cNvPr id="1048829" name="Text 8"/>
          <p:cNvSpPr/>
          <p:nvPr/>
        </p:nvSpPr>
        <p:spPr>
          <a:xfrm>
            <a:off x="731520" y="2779776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StorageClass integration with OpenShift</a:t>
            </a:r>
            <a:endParaRPr lang="en-US" sz="1000" dirty="0"/>
          </a:p>
        </p:txBody>
      </p:sp>
      <p:pic>
        <p:nvPicPr>
          <p:cNvPr id="209720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73552"/>
            <a:ext cx="201168" cy="201168"/>
          </a:xfrm>
          <a:prstGeom prst="rect">
            <a:avLst/>
          </a:prstGeom>
        </p:spPr>
      </p:pic>
      <p:sp>
        <p:nvSpPr>
          <p:cNvPr id="1048830" name="Text 9"/>
          <p:cNvSpPr/>
          <p:nvPr/>
        </p:nvSpPr>
        <p:spPr>
          <a:xfrm>
            <a:off x="731520" y="3255264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Application-consistent snapshots of stateful apps</a:t>
            </a:r>
            <a:endParaRPr lang="en-US" sz="1000" dirty="0"/>
          </a:p>
        </p:txBody>
      </p:sp>
      <p:pic>
        <p:nvPicPr>
          <p:cNvPr id="209720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40"/>
            <a:ext cx="201168" cy="201168"/>
          </a:xfrm>
          <a:prstGeom prst="rect">
            <a:avLst/>
          </a:prstGeom>
        </p:spPr>
      </p:pic>
      <p:sp>
        <p:nvSpPr>
          <p:cNvPr id="1048831" name="Text 10"/>
          <p:cNvSpPr/>
          <p:nvPr/>
        </p:nvSpPr>
        <p:spPr>
          <a:xfrm>
            <a:off x="731520" y="3730752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 and Oracle K8s workloads protected</a:t>
            </a:r>
            <a:endParaRPr lang="en-US" sz="1000" dirty="0"/>
          </a:p>
        </p:txBody>
      </p:sp>
      <p:sp>
        <p:nvSpPr>
          <p:cNvPr id="1048832" name="Shape 11"/>
          <p:cNvSpPr/>
          <p:nvPr/>
        </p:nvSpPr>
        <p:spPr>
          <a:xfrm>
            <a:off x="4663440" y="6858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833" name="Text 12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</a:rPr>
              <a:t>PX-Backup</a:t>
            </a:r>
            <a:endParaRPr lang="en-US" sz="1300" dirty="0"/>
          </a:p>
        </p:txBody>
      </p:sp>
      <p:sp>
        <p:nvSpPr>
          <p:cNvPr id="1048834" name="Text 13"/>
          <p:cNvSpPr/>
          <p:nvPr/>
        </p:nvSpPr>
        <p:spPr>
          <a:xfrm>
            <a:off x="4846320" y="105156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DC7"/>
                </a:solidFill>
              </a:rPr>
              <a:t>Containerised Backup — Not a VM</a:t>
            </a:r>
            <a:endParaRPr lang="en-US" sz="1000" dirty="0"/>
          </a:p>
        </p:txBody>
      </p:sp>
      <p:pic>
        <p:nvPicPr>
          <p:cNvPr id="209720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201168" cy="201168"/>
          </a:xfrm>
          <a:prstGeom prst="rect">
            <a:avLst/>
          </a:prstGeom>
        </p:spPr>
      </p:pic>
      <p:sp>
        <p:nvSpPr>
          <p:cNvPr id="1048835" name="Text 14"/>
          <p:cNvSpPr/>
          <p:nvPr/>
        </p:nvSpPr>
        <p:spPr>
          <a:xfrm>
            <a:off x="5120640" y="135331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Runs as pods inside OpenShift cluster</a:t>
            </a:r>
            <a:endParaRPr lang="en-US" sz="1000" dirty="0"/>
          </a:p>
        </p:txBody>
      </p:sp>
      <p:pic>
        <p:nvPicPr>
          <p:cNvPr id="209720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47088"/>
            <a:ext cx="201168" cy="201168"/>
          </a:xfrm>
          <a:prstGeom prst="rect">
            <a:avLst/>
          </a:prstGeom>
        </p:spPr>
      </p:pic>
      <p:sp>
        <p:nvSpPr>
          <p:cNvPr id="1048836" name="Text 15"/>
          <p:cNvSpPr/>
          <p:nvPr/>
        </p:nvSpPr>
        <p:spPr>
          <a:xfrm>
            <a:off x="5120640" y="1828800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Backs up entire app namespace — PVs + config</a:t>
            </a:r>
            <a:endParaRPr lang="en-US" sz="1000" dirty="0"/>
          </a:p>
        </p:txBody>
      </p:sp>
      <p:pic>
        <p:nvPicPr>
          <p:cNvPr id="209720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22576"/>
            <a:ext cx="201168" cy="201168"/>
          </a:xfrm>
          <a:prstGeom prst="rect">
            <a:avLst/>
          </a:prstGeom>
        </p:spPr>
      </p:pic>
      <p:sp>
        <p:nvSpPr>
          <p:cNvPr id="1048837" name="Text 16"/>
          <p:cNvSpPr/>
          <p:nvPr/>
        </p:nvSpPr>
        <p:spPr>
          <a:xfrm>
            <a:off x="5120640" y="2304288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Application-aware: PostgreSQL consistent backup</a:t>
            </a:r>
            <a:endParaRPr lang="en-US" sz="1000" dirty="0"/>
          </a:p>
        </p:txBody>
      </p:sp>
      <p:pic>
        <p:nvPicPr>
          <p:cNvPr id="209720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98064"/>
            <a:ext cx="201168" cy="201168"/>
          </a:xfrm>
          <a:prstGeom prst="rect">
            <a:avLst/>
          </a:prstGeom>
        </p:spPr>
      </p:pic>
      <p:sp>
        <p:nvSpPr>
          <p:cNvPr id="1048838" name="Text 17"/>
          <p:cNvSpPr/>
          <p:nvPr/>
        </p:nvSpPr>
        <p:spPr>
          <a:xfrm>
            <a:off x="5120640" y="2779776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Restore to same or different namespace/cluster</a:t>
            </a:r>
            <a:endParaRPr lang="en-US" sz="1000" dirty="0"/>
          </a:p>
        </p:txBody>
      </p:sp>
      <p:pic>
        <p:nvPicPr>
          <p:cNvPr id="209720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73552"/>
            <a:ext cx="201168" cy="201168"/>
          </a:xfrm>
          <a:prstGeom prst="rect">
            <a:avLst/>
          </a:prstGeom>
        </p:spPr>
      </p:pic>
      <p:sp>
        <p:nvSpPr>
          <p:cNvPr id="1048839" name="Text 18"/>
          <p:cNvSpPr/>
          <p:nvPr/>
        </p:nvSpPr>
        <p:spPr>
          <a:xfrm>
            <a:off x="5120640" y="3255264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Policy-driven — schedule, retention, RPO</a:t>
            </a:r>
            <a:endParaRPr lang="en-US" sz="1000" dirty="0"/>
          </a:p>
        </p:txBody>
      </p:sp>
      <p:pic>
        <p:nvPicPr>
          <p:cNvPr id="209720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49040"/>
            <a:ext cx="201168" cy="201168"/>
          </a:xfrm>
          <a:prstGeom prst="rect">
            <a:avLst/>
          </a:prstGeom>
        </p:spPr>
      </p:pic>
      <p:sp>
        <p:nvSpPr>
          <p:cNvPr id="1048840" name="Text 19"/>
          <p:cNvSpPr/>
          <p:nvPr/>
        </p:nvSpPr>
        <p:spPr>
          <a:xfrm>
            <a:off x="5120640" y="3730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vs Veeam: Veeam cannot protect K8s PVs natively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45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State — Everpure Architecture</a:t>
            </a:r>
            <a:endParaRPr lang="en-US" sz="1600" dirty="0"/>
          </a:p>
        </p:txBody>
      </p:sp>
      <p:sp>
        <p:nvSpPr>
          <p:cNvPr id="1048846" name="Shape 2"/>
          <p:cNvSpPr/>
          <p:nvPr/>
        </p:nvSpPr>
        <p:spPr>
          <a:xfrm>
            <a:off x="22860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847" name="Text 3"/>
          <p:cNvSpPr/>
          <p:nvPr/>
        </p:nvSpPr>
        <p:spPr>
          <a:xfrm>
            <a:off x="365760" y="7498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HYDERABAD DC</a:t>
            </a:r>
            <a:endParaRPr lang="en-US" sz="1100" dirty="0"/>
          </a:p>
        </p:txBody>
      </p:sp>
      <p:sp>
        <p:nvSpPr>
          <p:cNvPr id="1048848" name="Shape 4"/>
          <p:cNvSpPr/>
          <p:nvPr/>
        </p:nvSpPr>
        <p:spPr>
          <a:xfrm>
            <a:off x="36576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49" name="Text 5"/>
          <p:cNvSpPr/>
          <p:nvPr/>
        </p:nvSpPr>
        <p:spPr>
          <a:xfrm>
            <a:off x="457200" y="111556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FlashArray//XL</a:t>
            </a:r>
            <a:endParaRPr lang="en-US" sz="1000" dirty="0"/>
          </a:p>
        </p:txBody>
      </p:sp>
      <p:sp>
        <p:nvSpPr>
          <p:cNvPr id="1048850" name="Text 6"/>
          <p:cNvSpPr/>
          <p:nvPr/>
        </p:nvSpPr>
        <p:spPr>
          <a:xfrm>
            <a:off x="457200" y="13716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Oracle DB · SafeMode Snapshots</a:t>
            </a:r>
            <a:endParaRPr lang="en-US" sz="900" dirty="0"/>
          </a:p>
        </p:txBody>
      </p:sp>
      <p:sp>
        <p:nvSpPr>
          <p:cNvPr id="1048851" name="Shape 7"/>
          <p:cNvSpPr/>
          <p:nvPr/>
        </p:nvSpPr>
        <p:spPr>
          <a:xfrm>
            <a:off x="36576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52" name="Text 8"/>
          <p:cNvSpPr/>
          <p:nvPr/>
        </p:nvSpPr>
        <p:spPr>
          <a:xfrm>
            <a:off x="457200" y="186537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FlashBlade//S + //E</a:t>
            </a:r>
            <a:endParaRPr lang="en-US" sz="1000" dirty="0"/>
          </a:p>
        </p:txBody>
      </p:sp>
      <p:sp>
        <p:nvSpPr>
          <p:cNvPr id="1048853" name="Text 9"/>
          <p:cNvSpPr/>
          <p:nvPr/>
        </p:nvSpPr>
        <p:spPr>
          <a:xfrm>
            <a:off x="457200" y="212140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10+ PB EHR · Object Lock WORM</a:t>
            </a:r>
            <a:endParaRPr lang="en-US" sz="900" dirty="0"/>
          </a:p>
        </p:txBody>
      </p:sp>
      <p:sp>
        <p:nvSpPr>
          <p:cNvPr id="1048854" name="Shape 10"/>
          <p:cNvSpPr/>
          <p:nvPr/>
        </p:nvSpPr>
        <p:spPr>
          <a:xfrm>
            <a:off x="36576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55" name="Text 11"/>
          <p:cNvSpPr/>
          <p:nvPr/>
        </p:nvSpPr>
        <p:spPr>
          <a:xfrm>
            <a:off x="457200" y="261518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Portworx Enterprise</a:t>
            </a:r>
            <a:endParaRPr lang="en-US" sz="1000" dirty="0"/>
          </a:p>
        </p:txBody>
      </p:sp>
      <p:sp>
        <p:nvSpPr>
          <p:cNvPr id="1048856" name="Text 12"/>
          <p:cNvSpPr/>
          <p:nvPr/>
        </p:nvSpPr>
        <p:spPr>
          <a:xfrm>
            <a:off x="457200" y="287121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OpenShift K8s · PX-Backup</a:t>
            </a:r>
            <a:endParaRPr lang="en-US" sz="900" dirty="0"/>
          </a:p>
        </p:txBody>
      </p:sp>
      <p:sp>
        <p:nvSpPr>
          <p:cNvPr id="1048857" name="Shape 13"/>
          <p:cNvSpPr/>
          <p:nvPr/>
        </p:nvSpPr>
        <p:spPr>
          <a:xfrm>
            <a:off x="36576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58" name="Text 14"/>
          <p:cNvSpPr/>
          <p:nvPr/>
        </p:nvSpPr>
        <p:spPr>
          <a:xfrm>
            <a:off x="457200" y="33649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ActiveCluster (Primary)</a:t>
            </a:r>
            <a:endParaRPr lang="en-US" sz="1000" dirty="0"/>
          </a:p>
        </p:txBody>
      </p:sp>
      <p:sp>
        <p:nvSpPr>
          <p:cNvPr id="1048859" name="Text 15"/>
          <p:cNvSpPr/>
          <p:nvPr/>
        </p:nvSpPr>
        <p:spPr>
          <a:xfrm>
            <a:off x="457200" y="36210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sync to Pune</a:t>
            </a:r>
            <a:endParaRPr lang="en-US" sz="900" dirty="0"/>
          </a:p>
        </p:txBody>
      </p:sp>
      <p:sp>
        <p:nvSpPr>
          <p:cNvPr id="1048860" name="Shape 16"/>
          <p:cNvSpPr/>
          <p:nvPr/>
        </p:nvSpPr>
        <p:spPr>
          <a:xfrm>
            <a:off x="347472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861" name="Text 17"/>
          <p:cNvSpPr/>
          <p:nvPr/>
        </p:nvSpPr>
        <p:spPr>
          <a:xfrm>
            <a:off x="3611880" y="7498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PUNE DC</a:t>
            </a:r>
            <a:endParaRPr lang="en-US" sz="1100" dirty="0"/>
          </a:p>
        </p:txBody>
      </p:sp>
      <p:sp>
        <p:nvSpPr>
          <p:cNvPr id="1048862" name="Shape 18"/>
          <p:cNvSpPr/>
          <p:nvPr/>
        </p:nvSpPr>
        <p:spPr>
          <a:xfrm>
            <a:off x="361188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63" name="Text 19"/>
          <p:cNvSpPr/>
          <p:nvPr/>
        </p:nvSpPr>
        <p:spPr>
          <a:xfrm>
            <a:off x="3703320" y="111556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FlashArray//XL</a:t>
            </a:r>
            <a:endParaRPr lang="en-US" sz="1000" dirty="0"/>
          </a:p>
        </p:txBody>
      </p:sp>
      <p:sp>
        <p:nvSpPr>
          <p:cNvPr id="1048864" name="Text 20"/>
          <p:cNvSpPr/>
          <p:nvPr/>
        </p:nvSpPr>
        <p:spPr>
          <a:xfrm>
            <a:off x="3703320" y="13716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ActiveCluster · Hot standby</a:t>
            </a:r>
            <a:endParaRPr lang="en-US" sz="900" dirty="0"/>
          </a:p>
        </p:txBody>
      </p:sp>
      <p:sp>
        <p:nvSpPr>
          <p:cNvPr id="1048865" name="Shape 21"/>
          <p:cNvSpPr/>
          <p:nvPr/>
        </p:nvSpPr>
        <p:spPr>
          <a:xfrm>
            <a:off x="361188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66" name="Text 22"/>
          <p:cNvSpPr/>
          <p:nvPr/>
        </p:nvSpPr>
        <p:spPr>
          <a:xfrm>
            <a:off x="3703320" y="186537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FlashBlade//S</a:t>
            </a:r>
            <a:endParaRPr lang="en-US" sz="1000" dirty="0"/>
          </a:p>
        </p:txBody>
      </p:sp>
      <p:sp>
        <p:nvSpPr>
          <p:cNvPr id="1048867" name="Text 23"/>
          <p:cNvSpPr/>
          <p:nvPr/>
        </p:nvSpPr>
        <p:spPr>
          <a:xfrm>
            <a:off x="3703320" y="212140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EHR replica · Object Lock</a:t>
            </a:r>
            <a:endParaRPr lang="en-US" sz="900" dirty="0"/>
          </a:p>
        </p:txBody>
      </p:sp>
      <p:sp>
        <p:nvSpPr>
          <p:cNvPr id="1048868" name="Shape 24"/>
          <p:cNvSpPr/>
          <p:nvPr/>
        </p:nvSpPr>
        <p:spPr>
          <a:xfrm>
            <a:off x="361188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69" name="Text 25"/>
          <p:cNvSpPr/>
          <p:nvPr/>
        </p:nvSpPr>
        <p:spPr>
          <a:xfrm>
            <a:off x="3703320" y="261518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ActiveDR</a:t>
            </a:r>
            <a:endParaRPr lang="en-US" sz="1000" dirty="0"/>
          </a:p>
        </p:txBody>
      </p:sp>
      <p:sp>
        <p:nvSpPr>
          <p:cNvPr id="1048870" name="Text 26"/>
          <p:cNvSpPr/>
          <p:nvPr/>
        </p:nvSpPr>
        <p:spPr>
          <a:xfrm>
            <a:off x="3703320" y="287121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Async DR · &lt;15 min RTO</a:t>
            </a:r>
            <a:endParaRPr lang="en-US" sz="900" dirty="0"/>
          </a:p>
        </p:txBody>
      </p:sp>
      <p:sp>
        <p:nvSpPr>
          <p:cNvPr id="1048871" name="Shape 27"/>
          <p:cNvSpPr/>
          <p:nvPr/>
        </p:nvSpPr>
        <p:spPr>
          <a:xfrm>
            <a:off x="361188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72" name="Text 28"/>
          <p:cNvSpPr/>
          <p:nvPr/>
        </p:nvSpPr>
        <p:spPr>
          <a:xfrm>
            <a:off x="3703320" y="33649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ActiveCluster (Mirror)</a:t>
            </a:r>
            <a:endParaRPr lang="en-US" sz="1000" dirty="0"/>
          </a:p>
        </p:txBody>
      </p:sp>
      <p:sp>
        <p:nvSpPr>
          <p:cNvPr id="1048873" name="Text 29"/>
          <p:cNvSpPr/>
          <p:nvPr/>
        </p:nvSpPr>
        <p:spPr>
          <a:xfrm>
            <a:off x="3703320" y="36210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mirror from Hyderabad</a:t>
            </a:r>
            <a:endParaRPr lang="en-US" sz="900" dirty="0"/>
          </a:p>
        </p:txBody>
      </p:sp>
      <p:sp>
        <p:nvSpPr>
          <p:cNvPr id="1048874" name="Shape 30"/>
          <p:cNvSpPr/>
          <p:nvPr/>
        </p:nvSpPr>
        <p:spPr>
          <a:xfrm>
            <a:off x="6720840" y="658368"/>
            <a:ext cx="2194560" cy="2011680"/>
          </a:xfrm>
          <a:prstGeom prst="roundRect">
            <a:avLst>
              <a:gd name="adj" fmla="val 5455"/>
            </a:avLst>
          </a:prstGeom>
          <a:solidFill>
            <a:srgbClr val="1A2F4A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875" name="Text 31"/>
          <p:cNvSpPr/>
          <p:nvPr/>
        </p:nvSpPr>
        <p:spPr>
          <a:xfrm>
            <a:off x="6858000" y="7498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CLOUD DR</a:t>
            </a:r>
            <a:endParaRPr lang="en-US" sz="1100" dirty="0"/>
          </a:p>
        </p:txBody>
      </p:sp>
      <p:pic>
        <p:nvPicPr>
          <p:cNvPr id="20972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182880" cy="182880"/>
          </a:xfrm>
          <a:prstGeom prst="rect">
            <a:avLst/>
          </a:prstGeom>
        </p:spPr>
      </p:pic>
      <p:sp>
        <p:nvSpPr>
          <p:cNvPr id="1048876" name="Text 32"/>
          <p:cNvSpPr/>
          <p:nvPr/>
        </p:nvSpPr>
        <p:spPr>
          <a:xfrm>
            <a:off x="7086600" y="107899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Pure Mediator</a:t>
            </a:r>
            <a:endParaRPr lang="en-US" sz="900" dirty="0"/>
          </a:p>
        </p:txBody>
      </p:sp>
      <p:pic>
        <p:nvPicPr>
          <p:cNvPr id="20972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44752"/>
            <a:ext cx="182880" cy="182880"/>
          </a:xfrm>
          <a:prstGeom prst="rect">
            <a:avLst/>
          </a:prstGeom>
        </p:spPr>
      </p:pic>
      <p:sp>
        <p:nvSpPr>
          <p:cNvPr id="1048877" name="Text 33"/>
          <p:cNvSpPr/>
          <p:nvPr/>
        </p:nvSpPr>
        <p:spPr>
          <a:xfrm>
            <a:off x="7086600" y="142646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Free tiebreaker</a:t>
            </a:r>
            <a:endParaRPr lang="en-US" sz="900" dirty="0"/>
          </a:p>
        </p:txBody>
      </p:sp>
      <p:pic>
        <p:nvPicPr>
          <p:cNvPr id="20972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92224"/>
            <a:ext cx="182880" cy="182880"/>
          </a:xfrm>
          <a:prstGeom prst="rect">
            <a:avLst/>
          </a:prstGeom>
        </p:spPr>
      </p:pic>
      <p:sp>
        <p:nvSpPr>
          <p:cNvPr id="1048878" name="Text 34"/>
          <p:cNvSpPr/>
          <p:nvPr/>
        </p:nvSpPr>
        <p:spPr>
          <a:xfrm>
            <a:off x="7086600" y="177393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ActiveDR target</a:t>
            </a:r>
            <a:endParaRPr lang="en-US" sz="900" dirty="0"/>
          </a:p>
        </p:txBody>
      </p:sp>
      <p:pic>
        <p:nvPicPr>
          <p:cNvPr id="20972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39696"/>
            <a:ext cx="182880" cy="182880"/>
          </a:xfrm>
          <a:prstGeom prst="rect">
            <a:avLst/>
          </a:prstGeom>
        </p:spPr>
      </p:pic>
      <p:sp>
        <p:nvSpPr>
          <p:cNvPr id="1048879" name="Text 35"/>
          <p:cNvSpPr/>
          <p:nvPr/>
        </p:nvSpPr>
        <p:spPr>
          <a:xfrm>
            <a:off x="7086600" y="212140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Cloud Block Store</a:t>
            </a:r>
            <a:endParaRPr lang="en-US" sz="900" dirty="0"/>
          </a:p>
        </p:txBody>
      </p:sp>
      <p:sp>
        <p:nvSpPr>
          <p:cNvPr id="1048880" name="Shape 36"/>
          <p:cNvSpPr/>
          <p:nvPr/>
        </p:nvSpPr>
        <p:spPr>
          <a:xfrm>
            <a:off x="6720840" y="28346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8881" name="Text 37"/>
          <p:cNvSpPr/>
          <p:nvPr/>
        </p:nvSpPr>
        <p:spPr>
          <a:xfrm>
            <a:off x="6858000" y="29260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Pure1 AIOps</a:t>
            </a:r>
            <a:endParaRPr lang="en-US" sz="1100" dirty="0"/>
          </a:p>
        </p:txBody>
      </p:sp>
      <p:sp>
        <p:nvSpPr>
          <p:cNvPr id="1048882" name="Text 38"/>
          <p:cNvSpPr/>
          <p:nvPr/>
        </p:nvSpPr>
        <p:spPr>
          <a:xfrm>
            <a:off x="6858000" y="320040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Single pane of glass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FlashArray + FlashBlade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Predictive analytics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EADC7"/>
                </a:solidFill>
              </a:rPr>
              <a:t>Included — no extra cost</a:t>
            </a:r>
            <a:endParaRPr lang="en-US" sz="900" dirty="0"/>
          </a:p>
        </p:txBody>
      </p:sp>
      <p:sp>
        <p:nvSpPr>
          <p:cNvPr id="1048883" name="Shape 39"/>
          <p:cNvSpPr/>
          <p:nvPr/>
        </p:nvSpPr>
        <p:spPr>
          <a:xfrm>
            <a:off x="3346704" y="2743200"/>
            <a:ext cx="1280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84" name="Text 40"/>
          <p:cNvSpPr/>
          <p:nvPr/>
        </p:nvSpPr>
        <p:spPr>
          <a:xfrm>
            <a:off x="3063240" y="257860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</a:rPr>
              <a:t>◀━ ActiveCluster ━▶</a:t>
            </a:r>
            <a:endParaRPr lang="en-US" sz="700" dirty="0"/>
          </a:p>
        </p:txBody>
      </p:sp>
      <p:sp>
        <p:nvSpPr>
          <p:cNvPr id="1048885" name="Shape 41"/>
          <p:cNvSpPr/>
          <p:nvPr/>
        </p:nvSpPr>
        <p:spPr>
          <a:xfrm>
            <a:off x="6601968" y="2926080"/>
            <a:ext cx="11887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48886" name="Text 42"/>
          <p:cNvSpPr/>
          <p:nvPr/>
        </p:nvSpPr>
        <p:spPr>
          <a:xfrm>
            <a:off x="6492240" y="27889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A261"/>
                </a:solidFill>
              </a:rPr>
              <a:t>ActiveDR →</a:t>
            </a:r>
            <a:endParaRPr lang="en-US" sz="700" dirty="0"/>
          </a:p>
        </p:txBody>
      </p:sp>
      <p:sp>
        <p:nvSpPr>
          <p:cNvPr id="1048887" name="Shape 43"/>
          <p:cNvSpPr/>
          <p:nvPr/>
        </p:nvSpPr>
        <p:spPr>
          <a:xfrm>
            <a:off x="228600" y="4645152"/>
            <a:ext cx="8686800" cy="365760"/>
          </a:xfrm>
          <a:prstGeom prst="roundRect">
            <a:avLst>
              <a:gd name="adj" fmla="val 2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888" name="Text 4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Every other vendor helps you recover faster after an attack.  Everpure makes the attack itself fail.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Trade-offs &amp; Considerations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45736B6-73EA-0D6A-BC43-20DBF09F1334}"/>
              </a:ext>
            </a:extLst>
          </p:cNvPr>
          <p:cNvGrpSpPr/>
          <p:nvPr/>
        </p:nvGrpSpPr>
        <p:grpSpPr>
          <a:xfrm>
            <a:off x="274320" y="946404"/>
            <a:ext cx="8595360" cy="749808"/>
            <a:chOff x="274320" y="946404"/>
            <a:chExt cx="8595360" cy="749808"/>
          </a:xfrm>
        </p:grpSpPr>
        <p:sp>
          <p:nvSpPr>
            <p:cNvPr id="5" name="Shape 2"/>
            <p:cNvSpPr/>
            <p:nvPr/>
          </p:nvSpPr>
          <p:spPr>
            <a:xfrm>
              <a:off x="274320" y="946404"/>
              <a:ext cx="8595360" cy="749808"/>
            </a:xfrm>
            <a:prstGeom prst="roundRect">
              <a:avLst>
                <a:gd name="adj" fmla="val 9756"/>
              </a:avLst>
            </a:prstGeom>
            <a:solidFill>
              <a:srgbClr val="0D1B2A"/>
            </a:solidFill>
            <a:ln w="9525">
              <a:solidFill>
                <a:srgbClr val="F4A261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320040" y="1019556"/>
              <a:ext cx="1920240" cy="256032"/>
            </a:xfrm>
            <a:prstGeom prst="roundRect">
              <a:avLst>
                <a:gd name="adj" fmla="val 17857"/>
              </a:avLst>
            </a:prstGeom>
            <a:solidFill>
              <a:srgbClr val="F4A26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320040" y="1019556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Migration Complexity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2331720" y="992124"/>
              <a:ext cx="33375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Risk: Moving 10+ PB of EHR from legacy NAS/S3 to FlashBlade requires careful phased planning. Hot data migrates first — cold archive stays in place until tiering strategy is confirmed.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5715000" y="1056132"/>
              <a:ext cx="0" cy="548640"/>
            </a:xfrm>
            <a:prstGeom prst="line">
              <a:avLst/>
            </a:prstGeom>
            <a:noFill/>
            <a:ln w="12700">
              <a:solidFill>
                <a:srgbClr val="243B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6440" y="1019556"/>
              <a:ext cx="182880" cy="18288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6035040" y="992124"/>
              <a:ext cx="26974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Phased migration — hot tier first. Pure Professional Services supports live cutover with no production downtime.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83AE23-843B-79F4-F92B-64C215BF5D44}"/>
              </a:ext>
            </a:extLst>
          </p:cNvPr>
          <p:cNvGrpSpPr/>
          <p:nvPr/>
        </p:nvGrpSpPr>
        <p:grpSpPr>
          <a:xfrm>
            <a:off x="274320" y="1956816"/>
            <a:ext cx="8595360" cy="749808"/>
            <a:chOff x="274320" y="1787652"/>
            <a:chExt cx="8595360" cy="749808"/>
          </a:xfrm>
        </p:grpSpPr>
        <p:sp>
          <p:nvSpPr>
            <p:cNvPr id="12" name="Shape 8"/>
            <p:cNvSpPr/>
            <p:nvPr/>
          </p:nvSpPr>
          <p:spPr>
            <a:xfrm>
              <a:off x="274320" y="1787652"/>
              <a:ext cx="8595360" cy="749808"/>
            </a:xfrm>
            <a:prstGeom prst="roundRect">
              <a:avLst>
                <a:gd name="adj" fmla="val 9756"/>
              </a:avLst>
            </a:prstGeom>
            <a:solidFill>
              <a:srgbClr val="0D1B2A"/>
            </a:solidFill>
            <a:ln w="9525">
              <a:solidFill>
                <a:srgbClr val="F4A261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320040" y="1860804"/>
              <a:ext cx="1920240" cy="256032"/>
            </a:xfrm>
            <a:prstGeom prst="roundRect">
              <a:avLst>
                <a:gd name="adj" fmla="val 17857"/>
              </a:avLst>
            </a:prstGeom>
            <a:solidFill>
              <a:srgbClr val="F4A26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320040" y="1860804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Cost — Initial Investment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 11"/>
            <p:cNvSpPr/>
            <p:nvPr/>
          </p:nvSpPr>
          <p:spPr>
            <a:xfrm>
              <a:off x="2331720" y="1833372"/>
              <a:ext cx="33375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Risk: FlashBlade//S and ActiveCluster represent a higher upfront capital commitment than spinning disk or object store alternatives. The CFO conversation is real.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Shape 12"/>
            <p:cNvSpPr/>
            <p:nvPr/>
          </p:nvSpPr>
          <p:spPr>
            <a:xfrm>
              <a:off x="5715000" y="1897380"/>
              <a:ext cx="0" cy="548640"/>
            </a:xfrm>
            <a:prstGeom prst="line">
              <a:avLst/>
            </a:prstGeom>
            <a:noFill/>
            <a:ln w="12700">
              <a:solidFill>
                <a:srgbClr val="243B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6440" y="1860804"/>
              <a:ext cx="182880" cy="182880"/>
            </a:xfrm>
            <a:prstGeom prst="rect">
              <a:avLst/>
            </a:prstGeom>
          </p:spPr>
        </p:pic>
        <p:sp>
          <p:nvSpPr>
            <p:cNvPr id="18" name="Text 13"/>
            <p:cNvSpPr/>
            <p:nvPr/>
          </p:nvSpPr>
          <p:spPr>
            <a:xfrm>
              <a:off x="6035040" y="1833372"/>
              <a:ext cx="26974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TCO reframe: the 5-day outage cost HealthSure far more than this investment. Evergreen//Forever eliminates future refresh capex. Phased tiering keeps total spend manageable.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338D9A3-23D1-0B68-BCE7-768CA9089354}"/>
              </a:ext>
            </a:extLst>
          </p:cNvPr>
          <p:cNvGrpSpPr/>
          <p:nvPr/>
        </p:nvGrpSpPr>
        <p:grpSpPr>
          <a:xfrm>
            <a:off x="274320" y="2953512"/>
            <a:ext cx="8595360" cy="749808"/>
            <a:chOff x="274320" y="3200400"/>
            <a:chExt cx="8595360" cy="749808"/>
          </a:xfrm>
        </p:grpSpPr>
        <p:sp>
          <p:nvSpPr>
            <p:cNvPr id="26" name="Shape 20"/>
            <p:cNvSpPr/>
            <p:nvPr/>
          </p:nvSpPr>
          <p:spPr>
            <a:xfrm>
              <a:off x="274320" y="3200400"/>
              <a:ext cx="8595360" cy="749808"/>
            </a:xfrm>
            <a:prstGeom prst="roundRect">
              <a:avLst>
                <a:gd name="adj" fmla="val 9756"/>
              </a:avLst>
            </a:prstGeom>
            <a:solidFill>
              <a:srgbClr val="0D1B2A"/>
            </a:solidFill>
            <a:ln w="9525">
              <a:solidFill>
                <a:srgbClr val="E63946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Shape 21"/>
            <p:cNvSpPr/>
            <p:nvPr/>
          </p:nvSpPr>
          <p:spPr>
            <a:xfrm>
              <a:off x="320040" y="3273552"/>
              <a:ext cx="1920240" cy="256032"/>
            </a:xfrm>
            <a:prstGeom prst="roundRect">
              <a:avLst>
                <a:gd name="adj" fmla="val 17857"/>
              </a:avLst>
            </a:prstGeom>
            <a:solidFill>
              <a:srgbClr val="E63946"/>
            </a:solidFill>
            <a:ln w="12700">
              <a:solidFill>
                <a:srgbClr val="E6394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22"/>
            <p:cNvSpPr/>
            <p:nvPr/>
          </p:nvSpPr>
          <p:spPr>
            <a:xfrm>
              <a:off x="320040" y="3273552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ActiveCluster Licensing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Text 23"/>
            <p:cNvSpPr/>
            <p:nvPr/>
          </p:nvSpPr>
          <p:spPr>
            <a:xfrm>
              <a:off x="2331720" y="3246120"/>
              <a:ext cx="33375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Risk: ActiveCluster, ActiveDR, Portworx Enterprise, and PX-Backup are separately licensed — not included in base FlashArray or FlashBlade pricing.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Shape 24"/>
            <p:cNvSpPr/>
            <p:nvPr/>
          </p:nvSpPr>
          <p:spPr>
            <a:xfrm>
              <a:off x="5715000" y="3310128"/>
              <a:ext cx="0" cy="548640"/>
            </a:xfrm>
            <a:prstGeom prst="line">
              <a:avLst/>
            </a:prstGeom>
            <a:noFill/>
            <a:ln w="12700">
              <a:solidFill>
                <a:srgbClr val="243B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6440" y="3273552"/>
              <a:ext cx="182880" cy="182880"/>
            </a:xfrm>
            <a:prstGeom prst="rect">
              <a:avLst/>
            </a:prstGeom>
          </p:spPr>
        </p:pic>
        <p:sp>
          <p:nvSpPr>
            <p:cNvPr id="32" name="Text 25"/>
            <p:cNvSpPr/>
            <p:nvPr/>
          </p:nvSpPr>
          <p:spPr>
            <a:xfrm>
              <a:off x="6035040" y="3246120"/>
              <a:ext cx="26974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SafeMode, Pure1 AIOps, and Pure Mediator are all included at no additional cost — these cover the most critical ransomware protection layer.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47D9CC-23D6-3927-3445-7E9022D0F779}"/>
              </a:ext>
            </a:extLst>
          </p:cNvPr>
          <p:cNvGrpSpPr/>
          <p:nvPr/>
        </p:nvGrpSpPr>
        <p:grpSpPr>
          <a:xfrm>
            <a:off x="274320" y="3950208"/>
            <a:ext cx="8595360" cy="749808"/>
            <a:chOff x="274320" y="4041648"/>
            <a:chExt cx="8595360" cy="749808"/>
          </a:xfrm>
        </p:grpSpPr>
        <p:sp>
          <p:nvSpPr>
            <p:cNvPr id="33" name="Shape 26"/>
            <p:cNvSpPr/>
            <p:nvPr/>
          </p:nvSpPr>
          <p:spPr>
            <a:xfrm>
              <a:off x="274320" y="4041648"/>
              <a:ext cx="8595360" cy="749808"/>
            </a:xfrm>
            <a:prstGeom prst="roundRect">
              <a:avLst>
                <a:gd name="adj" fmla="val 9756"/>
              </a:avLst>
            </a:prstGeom>
            <a:solidFill>
              <a:srgbClr val="0D1B2A"/>
            </a:solidFill>
            <a:ln w="9525">
              <a:solidFill>
                <a:srgbClr val="F4A261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Shape 27"/>
            <p:cNvSpPr/>
            <p:nvPr/>
          </p:nvSpPr>
          <p:spPr>
            <a:xfrm>
              <a:off x="320040" y="4114800"/>
              <a:ext cx="1920240" cy="256032"/>
            </a:xfrm>
            <a:prstGeom prst="roundRect">
              <a:avLst>
                <a:gd name="adj" fmla="val 17857"/>
              </a:avLst>
            </a:prstGeom>
            <a:solidFill>
              <a:srgbClr val="F4A26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 28"/>
            <p:cNvSpPr/>
            <p:nvPr/>
          </p:nvSpPr>
          <p:spPr>
            <a:xfrm>
              <a:off x="320040" y="4114800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EHR Cold Archive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 29"/>
            <p:cNvSpPr/>
            <p:nvPr/>
          </p:nvSpPr>
          <p:spPr>
            <a:xfrm>
              <a:off x="2331720" y="4087368"/>
              <a:ext cx="33375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Risk: 7–10 year cold archive data (3+ years old, rare access) does not justify FlashBlade //S pricing. Proposing flash for truly cold archival data would be the wrong recommendation.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Shape 30"/>
            <p:cNvSpPr/>
            <p:nvPr/>
          </p:nvSpPr>
          <p:spPr>
            <a:xfrm>
              <a:off x="5715000" y="4151376"/>
              <a:ext cx="0" cy="548640"/>
            </a:xfrm>
            <a:prstGeom prst="line">
              <a:avLst/>
            </a:prstGeom>
            <a:noFill/>
            <a:ln w="12700">
              <a:solidFill>
                <a:srgbClr val="243B55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8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6440" y="4114800"/>
              <a:ext cx="182880" cy="182880"/>
            </a:xfrm>
            <a:prstGeom prst="rect">
              <a:avLst/>
            </a:prstGeom>
          </p:spPr>
        </p:pic>
        <p:sp>
          <p:nvSpPr>
            <p:cNvPr id="39" name="Text 31"/>
            <p:cNvSpPr/>
            <p:nvPr/>
          </p:nvSpPr>
          <p:spPr>
            <a:xfrm>
              <a:off x="6035040" y="4087368"/>
              <a:ext cx="26974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Tiered architecture: FlashBlade //S for hot, FlashBlade //E for warm, dense object/cloud for cold. Right platform for each access tier.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145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 HealthSure Gains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8EC1092-9756-4C6B-3539-61FA76C36D83}"/>
              </a:ext>
            </a:extLst>
          </p:cNvPr>
          <p:cNvGrpSpPr/>
          <p:nvPr/>
        </p:nvGrpSpPr>
        <p:grpSpPr>
          <a:xfrm>
            <a:off x="274320" y="685800"/>
            <a:ext cx="4160520" cy="1353312"/>
            <a:chOff x="274320" y="685800"/>
            <a:chExt cx="4160520" cy="1353312"/>
          </a:xfrm>
        </p:grpSpPr>
        <p:sp>
          <p:nvSpPr>
            <p:cNvPr id="5" name="Shape 2"/>
            <p:cNvSpPr/>
            <p:nvPr/>
          </p:nvSpPr>
          <p:spPr>
            <a:xfrm>
              <a:off x="274320" y="685800"/>
              <a:ext cx="4160520" cy="1353312"/>
            </a:xfrm>
            <a:prstGeom prst="roundRect">
              <a:avLst>
                <a:gd name="adj" fmla="val 6757"/>
              </a:avLst>
            </a:prstGeom>
            <a:solidFill>
              <a:srgbClr val="1A2F4A"/>
            </a:solidFill>
            <a:ln w="12700">
              <a:solidFill>
                <a:srgbClr val="00B4D8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411480" y="822960"/>
              <a:ext cx="502920" cy="50292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5488" y="886968"/>
              <a:ext cx="365760" cy="36576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024128" y="77724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4D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Ransomware-Proof Recovery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1024128" y="1033272"/>
              <a:ext cx="1097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Zero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1024128" y="1380744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viable attack paths to snapshots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411480" y="1645920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SafeMode firmware-level protection means the Q2 attack sequence cannot repeat. Attacker with admin credentials still cannot delete a single recovery point.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7DA486-6D07-A847-B01E-1486933FF29E}"/>
              </a:ext>
            </a:extLst>
          </p:cNvPr>
          <p:cNvGrpSpPr/>
          <p:nvPr/>
        </p:nvGrpSpPr>
        <p:grpSpPr>
          <a:xfrm>
            <a:off x="4663440" y="685800"/>
            <a:ext cx="4160520" cy="1353312"/>
            <a:chOff x="4663440" y="685800"/>
            <a:chExt cx="4160520" cy="1353312"/>
          </a:xfrm>
        </p:grpSpPr>
        <p:sp>
          <p:nvSpPr>
            <p:cNvPr id="12" name="Shape 8"/>
            <p:cNvSpPr/>
            <p:nvPr/>
          </p:nvSpPr>
          <p:spPr>
            <a:xfrm>
              <a:off x="4663440" y="685800"/>
              <a:ext cx="4160520" cy="1353312"/>
            </a:xfrm>
            <a:prstGeom prst="roundRect">
              <a:avLst>
                <a:gd name="adj" fmla="val 6757"/>
              </a:avLst>
            </a:prstGeom>
            <a:solidFill>
              <a:srgbClr val="1A2F4A"/>
            </a:solidFill>
            <a:ln w="12700">
              <a:solidFill>
                <a:srgbClr val="00B4D8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4800600" y="822960"/>
              <a:ext cx="502920" cy="50292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64608" y="886968"/>
              <a:ext cx="365760" cy="365760"/>
            </a:xfrm>
            <a:prstGeom prst="rect">
              <a:avLst/>
            </a:prstGeom>
          </p:spPr>
        </p:pic>
        <p:sp>
          <p:nvSpPr>
            <p:cNvPr id="15" name="Text 10"/>
            <p:cNvSpPr/>
            <p:nvPr/>
          </p:nvSpPr>
          <p:spPr>
            <a:xfrm>
              <a:off x="5413248" y="77724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4D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HIPAA-Compliant EHR Archive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11"/>
            <p:cNvSpPr/>
            <p:nvPr/>
          </p:nvSpPr>
          <p:spPr>
            <a:xfrm>
              <a:off x="5413248" y="1033272"/>
              <a:ext cx="1097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7–10 yr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 12"/>
            <p:cNvSpPr/>
            <p:nvPr/>
          </p:nvSpPr>
          <p:spPr>
            <a:xfrm>
              <a:off x="5413248" y="1380744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legally defensible immutability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 13"/>
            <p:cNvSpPr/>
            <p:nvPr/>
          </p:nvSpPr>
          <p:spPr>
            <a:xfrm>
              <a:off x="4800600" y="1645920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FlashBlade Object Lock compliance mode satisfies HIPAA retention requirements. Every EHR record is WORM-protected at the object level from write time.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59DE5C-8F17-4A00-1AF7-F8A757DD3FA2}"/>
              </a:ext>
            </a:extLst>
          </p:cNvPr>
          <p:cNvGrpSpPr/>
          <p:nvPr/>
        </p:nvGrpSpPr>
        <p:grpSpPr>
          <a:xfrm>
            <a:off x="274320" y="2176272"/>
            <a:ext cx="4160520" cy="1353312"/>
            <a:chOff x="274320" y="2176272"/>
            <a:chExt cx="4160520" cy="1353312"/>
          </a:xfrm>
        </p:grpSpPr>
        <p:sp>
          <p:nvSpPr>
            <p:cNvPr id="19" name="Shape 14"/>
            <p:cNvSpPr/>
            <p:nvPr/>
          </p:nvSpPr>
          <p:spPr>
            <a:xfrm>
              <a:off x="274320" y="2176272"/>
              <a:ext cx="4160520" cy="1353312"/>
            </a:xfrm>
            <a:prstGeom prst="roundRect">
              <a:avLst>
                <a:gd name="adj" fmla="val 6757"/>
              </a:avLst>
            </a:prstGeom>
            <a:solidFill>
              <a:srgbClr val="1A2F4A"/>
            </a:solidFill>
            <a:ln w="12700">
              <a:solidFill>
                <a:srgbClr val="48CAE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Shape 15"/>
            <p:cNvSpPr/>
            <p:nvPr/>
          </p:nvSpPr>
          <p:spPr>
            <a:xfrm>
              <a:off x="411480" y="2313432"/>
              <a:ext cx="502920" cy="502920"/>
            </a:xfrm>
            <a:prstGeom prst="ellipse">
              <a:avLst/>
            </a:prstGeom>
            <a:solidFill>
              <a:srgbClr val="48CAE4"/>
            </a:solidFill>
            <a:ln w="12700">
              <a:solidFill>
                <a:srgbClr val="48CAE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488" y="2377440"/>
              <a:ext cx="365760" cy="365760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1024128" y="2267712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8CAE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Zero RPO for Claims Processing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 17"/>
            <p:cNvSpPr/>
            <p:nvPr/>
          </p:nvSpPr>
          <p:spPr>
            <a:xfrm>
              <a:off x="1024128" y="2523744"/>
              <a:ext cx="1097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0s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 18"/>
            <p:cNvSpPr/>
            <p:nvPr/>
          </p:nvSpPr>
          <p:spPr>
            <a:xfrm>
              <a:off x="1024128" y="2871216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loss on failover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 19"/>
            <p:cNvSpPr/>
            <p:nvPr/>
          </p:nvSpPr>
          <p:spPr>
            <a:xfrm>
              <a:off x="411480" y="3136392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ActiveCluster active/active sync replication between Hyderabad and Pune. Oracle claims database is always live at both sites — any failure is transparent to users.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77DBBA5-CBFA-A060-006E-CAA20DC5D158}"/>
              </a:ext>
            </a:extLst>
          </p:cNvPr>
          <p:cNvGrpSpPr/>
          <p:nvPr/>
        </p:nvGrpSpPr>
        <p:grpSpPr>
          <a:xfrm>
            <a:off x="4663440" y="2176272"/>
            <a:ext cx="4160520" cy="1353312"/>
            <a:chOff x="4663440" y="2176272"/>
            <a:chExt cx="4160520" cy="1353312"/>
          </a:xfrm>
        </p:grpSpPr>
        <p:sp>
          <p:nvSpPr>
            <p:cNvPr id="26" name="Shape 20"/>
            <p:cNvSpPr/>
            <p:nvPr/>
          </p:nvSpPr>
          <p:spPr>
            <a:xfrm>
              <a:off x="4663440" y="2176272"/>
              <a:ext cx="4160520" cy="1353312"/>
            </a:xfrm>
            <a:prstGeom prst="roundRect">
              <a:avLst>
                <a:gd name="adj" fmla="val 6757"/>
              </a:avLst>
            </a:prstGeom>
            <a:solidFill>
              <a:srgbClr val="1A2F4A"/>
            </a:solidFill>
            <a:ln w="12700">
              <a:solidFill>
                <a:srgbClr val="48CAE4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Shape 21"/>
            <p:cNvSpPr/>
            <p:nvPr/>
          </p:nvSpPr>
          <p:spPr>
            <a:xfrm>
              <a:off x="4800600" y="2313432"/>
              <a:ext cx="502920" cy="502920"/>
            </a:xfrm>
            <a:prstGeom prst="ellipse">
              <a:avLst/>
            </a:prstGeom>
            <a:solidFill>
              <a:srgbClr val="48CAE4"/>
            </a:solidFill>
            <a:ln w="12700">
              <a:solidFill>
                <a:srgbClr val="48CAE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64608" y="2377440"/>
              <a:ext cx="365760" cy="365760"/>
            </a:xfrm>
            <a:prstGeom prst="rect">
              <a:avLst/>
            </a:prstGeom>
          </p:spPr>
        </p:pic>
        <p:sp>
          <p:nvSpPr>
            <p:cNvPr id="29" name="Text 22"/>
            <p:cNvSpPr/>
            <p:nvPr/>
          </p:nvSpPr>
          <p:spPr>
            <a:xfrm>
              <a:off x="5413248" y="2267712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8CAE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RTO Under 15 Minutes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 23"/>
            <p:cNvSpPr/>
            <p:nvPr/>
          </p:nvSpPr>
          <p:spPr>
            <a:xfrm>
              <a:off x="5413248" y="2523744"/>
              <a:ext cx="1097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&lt;15 min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 24"/>
            <p:cNvSpPr/>
            <p:nvPr/>
          </p:nvSpPr>
          <p:spPr>
            <a:xfrm>
              <a:off x="5413248" y="2871216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recovery time objective met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 25"/>
            <p:cNvSpPr/>
            <p:nvPr/>
          </p:nvSpPr>
          <p:spPr>
            <a:xfrm>
              <a:off x="4800600" y="3136392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ActiveDR async replication to Cloud DR site with Pure Mediator as tiebreaker. Tested, validated failover — not a cold standby that was never verified.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99C4FBA-AEFC-CBA1-CD10-59B6568E851D}"/>
              </a:ext>
            </a:extLst>
          </p:cNvPr>
          <p:cNvGrpSpPr/>
          <p:nvPr/>
        </p:nvGrpSpPr>
        <p:grpSpPr>
          <a:xfrm>
            <a:off x="274320" y="3657600"/>
            <a:ext cx="4160520" cy="1353312"/>
            <a:chOff x="274320" y="3657600"/>
            <a:chExt cx="4160520" cy="1353312"/>
          </a:xfrm>
        </p:grpSpPr>
        <p:sp>
          <p:nvSpPr>
            <p:cNvPr id="33" name="Shape 26"/>
            <p:cNvSpPr/>
            <p:nvPr/>
          </p:nvSpPr>
          <p:spPr>
            <a:xfrm>
              <a:off x="274320" y="3657600"/>
              <a:ext cx="4160520" cy="1353312"/>
            </a:xfrm>
            <a:prstGeom prst="roundRect">
              <a:avLst>
                <a:gd name="adj" fmla="val 6757"/>
              </a:avLst>
            </a:prstGeom>
            <a:solidFill>
              <a:srgbClr val="1A2F4A"/>
            </a:solidFill>
            <a:ln w="12700">
              <a:solidFill>
                <a:srgbClr val="F4A261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Shape 27"/>
            <p:cNvSpPr/>
            <p:nvPr/>
          </p:nvSpPr>
          <p:spPr>
            <a:xfrm>
              <a:off x="411480" y="3794760"/>
              <a:ext cx="502920" cy="502920"/>
            </a:xfrm>
            <a:prstGeom prst="ellipse">
              <a:avLst/>
            </a:prstGeom>
            <a:solidFill>
              <a:srgbClr val="F4A26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5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488" y="3858768"/>
              <a:ext cx="365760" cy="365760"/>
            </a:xfrm>
            <a:prstGeom prst="rect">
              <a:avLst/>
            </a:prstGeom>
          </p:spPr>
        </p:pic>
        <p:sp>
          <p:nvSpPr>
            <p:cNvPr id="36" name="Text 28"/>
            <p:cNvSpPr/>
            <p:nvPr/>
          </p:nvSpPr>
          <p:spPr>
            <a:xfrm>
              <a:off x="1024128" y="374904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4A2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Kubernetes Workloads Protected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 29"/>
            <p:cNvSpPr/>
            <p:nvPr/>
          </p:nvSpPr>
          <p:spPr>
            <a:xfrm>
              <a:off x="1024128" y="4005072"/>
              <a:ext cx="1097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100%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Text 30"/>
            <p:cNvSpPr/>
            <p:nvPr/>
          </p:nvSpPr>
          <p:spPr>
            <a:xfrm>
              <a:off x="1024128" y="4352544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of OpenShift PVs covered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 31"/>
            <p:cNvSpPr/>
            <p:nvPr/>
          </p:nvSpPr>
          <p:spPr>
            <a:xfrm>
              <a:off x="411480" y="4617720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Portworx Enterprise and PX-Backup close the gap Veeam cannot cover. PostgreSQL and stateful apps have application-consistent, policy-driven protection natively inside OpenShift.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74C09D3-968D-081A-0535-399D201FC41F}"/>
              </a:ext>
            </a:extLst>
          </p:cNvPr>
          <p:cNvGrpSpPr/>
          <p:nvPr/>
        </p:nvGrpSpPr>
        <p:grpSpPr>
          <a:xfrm>
            <a:off x="4663440" y="3657600"/>
            <a:ext cx="4160520" cy="1353312"/>
            <a:chOff x="4663440" y="3657600"/>
            <a:chExt cx="4160520" cy="1353312"/>
          </a:xfrm>
        </p:grpSpPr>
        <p:sp>
          <p:nvSpPr>
            <p:cNvPr id="40" name="Shape 32"/>
            <p:cNvSpPr/>
            <p:nvPr/>
          </p:nvSpPr>
          <p:spPr>
            <a:xfrm>
              <a:off x="4663440" y="3657600"/>
              <a:ext cx="4160520" cy="1353312"/>
            </a:xfrm>
            <a:prstGeom prst="roundRect">
              <a:avLst>
                <a:gd name="adj" fmla="val 6757"/>
              </a:avLst>
            </a:prstGeom>
            <a:solidFill>
              <a:srgbClr val="1A2F4A"/>
            </a:solidFill>
            <a:ln w="12700">
              <a:solidFill>
                <a:srgbClr val="F4A261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Shape 33"/>
            <p:cNvSpPr/>
            <p:nvPr/>
          </p:nvSpPr>
          <p:spPr>
            <a:xfrm>
              <a:off x="4800600" y="3794760"/>
              <a:ext cx="502920" cy="502920"/>
            </a:xfrm>
            <a:prstGeom prst="ellipse">
              <a:avLst/>
            </a:prstGeom>
            <a:solidFill>
              <a:srgbClr val="F4A261"/>
            </a:solidFill>
            <a:ln w="12700">
              <a:solidFill>
                <a:srgbClr val="F4A26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2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64608" y="3858768"/>
              <a:ext cx="365760" cy="365760"/>
            </a:xfrm>
            <a:prstGeom prst="rect">
              <a:avLst/>
            </a:prstGeom>
          </p:spPr>
        </p:pic>
        <p:sp>
          <p:nvSpPr>
            <p:cNvPr id="43" name="Text 34"/>
            <p:cNvSpPr/>
            <p:nvPr/>
          </p:nvSpPr>
          <p:spPr>
            <a:xfrm>
              <a:off x="5413248" y="374904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4A2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Single Platform, No Silos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Text 35"/>
            <p:cNvSpPr/>
            <p:nvPr/>
          </p:nvSpPr>
          <p:spPr>
            <a:xfrm>
              <a:off x="5413248" y="4005072"/>
              <a:ext cx="1097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Pure1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36"/>
            <p:cNvSpPr/>
            <p:nvPr/>
          </p:nvSpPr>
          <p:spPr>
            <a:xfrm>
              <a:off x="5413248" y="4352544"/>
              <a:ext cx="3291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one pane — FlashArray + FlashBlade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 37"/>
            <p:cNvSpPr/>
            <p:nvPr/>
          </p:nvSpPr>
          <p:spPr>
            <a:xfrm>
              <a:off x="4800600" y="4617720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8EADC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Replacing fragmented NAS + S3 + backup silos with a unified Everpure platform. Pure1 AIOps provides predictive management across the entire environment at no additional cost.</a:t>
              </a:r>
              <a:endPara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3569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2108</Words>
  <Application>Microsoft Office PowerPoint</Application>
  <PresentationFormat>On-screen Show (16:9)</PresentationFormat>
  <Paragraphs>296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HealthSure Insurance — Everpure EHR Solution</dc:title>
  <dc:creator>PptxGenJS</dc:creator>
  <cp:lastModifiedBy>B, Ranjeeth</cp:lastModifiedBy>
  <cp:revision>2</cp:revision>
  <dcterms:created xsi:type="dcterms:W3CDTF">2026-06-10T12:01:19Z</dcterms:created>
  <dcterms:modified xsi:type="dcterms:W3CDTF">2026-06-11T17:18:15Z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2f0d8bd1d9934016bbc8bbc1632a36df_23</vt:lpwstr>
  </property>
  <property fmtid="{D5CDD505-2E9C-101B-9397-08002B2CF9AE}" pid="3" name="MSIP_Label_dad3be33-4108-4738-9e07-d8656a181486_Enabled">
    <vt:lpwstr>true</vt:lpwstr>
  </property>
  <property fmtid="{D5CDD505-2E9C-101B-9397-08002B2CF9AE}" pid="4" name="MSIP_Label_dad3be33-4108-4738-9e07-d8656a181486_SetDate">
    <vt:lpwstr>2026-06-11T17:18:14Z</vt:lpwstr>
  </property>
  <property fmtid="{D5CDD505-2E9C-101B-9397-08002B2CF9AE}" pid="5" name="MSIP_Label_dad3be33-4108-4738-9e07-d8656a181486_Method">
    <vt:lpwstr>Privileged</vt:lpwstr>
  </property>
  <property fmtid="{D5CDD505-2E9C-101B-9397-08002B2CF9AE}" pid="6" name="MSIP_Label_dad3be33-4108-4738-9e07-d8656a181486_Name">
    <vt:lpwstr>Public No Visual Label</vt:lpwstr>
  </property>
  <property fmtid="{D5CDD505-2E9C-101B-9397-08002B2CF9AE}" pid="7" name="MSIP_Label_dad3be33-4108-4738-9e07-d8656a181486_SiteId">
    <vt:lpwstr>945c199a-83a2-4e80-9f8c-5a91be5752dd</vt:lpwstr>
  </property>
  <property fmtid="{D5CDD505-2E9C-101B-9397-08002B2CF9AE}" pid="8" name="MSIP_Label_dad3be33-4108-4738-9e07-d8656a181486_ActionId">
    <vt:lpwstr>45427c31-6684-4908-8c1b-b7df842b64b2</vt:lpwstr>
  </property>
  <property fmtid="{D5CDD505-2E9C-101B-9397-08002B2CF9AE}" pid="9" name="MSIP_Label_dad3be33-4108-4738-9e07-d8656a181486_ContentBits">
    <vt:lpwstr>0</vt:lpwstr>
  </property>
  <property fmtid="{D5CDD505-2E9C-101B-9397-08002B2CF9AE}" pid="10" name="MSIP_Label_dad3be33-4108-4738-9e07-d8656a181486_Tag">
    <vt:lpwstr>10, 0, 1, 1</vt:lpwstr>
  </property>
</Properties>
</file>