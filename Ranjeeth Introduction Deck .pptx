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1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20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7A9B-95ED-CD3E-DDF3-2F0D6179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BCB193-C820-BF4F-B48A-487518AE5B4A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   Ranjeeth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BBB471-8E37-12E0-C4CF-8519403F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0" r="23862" b="17005"/>
          <a:stretch>
            <a:fillRect/>
          </a:stretch>
        </p:blipFill>
        <p:spPr>
          <a:xfrm>
            <a:off x="8119353" y="-8354"/>
            <a:ext cx="797668" cy="96847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FC7C6DAE-CF5C-5252-B6C6-A2D677D5FEF9}"/>
              </a:ext>
            </a:extLst>
          </p:cNvPr>
          <p:cNvSpPr/>
          <p:nvPr/>
        </p:nvSpPr>
        <p:spPr>
          <a:xfrm>
            <a:off x="411480" y="521208"/>
            <a:ext cx="2560320" cy="292608"/>
          </a:xfrm>
          <a:prstGeom prst="roundRect">
            <a:avLst>
              <a:gd name="adj" fmla="val 21875"/>
            </a:avLst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85AAFF6-99DE-3113-BF5B-64E2D87C735B}"/>
              </a:ext>
            </a:extLst>
          </p:cNvPr>
          <p:cNvSpPr/>
          <p:nvPr/>
        </p:nvSpPr>
        <p:spPr>
          <a:xfrm>
            <a:off x="411480" y="521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Specialist Engineer  |  Dell Technologies</a:t>
            </a:r>
            <a:endParaRPr lang="en-US" sz="9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631B8E90-779E-E03D-E3A1-1A955E9DF738}"/>
              </a:ext>
            </a:extLst>
          </p:cNvPr>
          <p:cNvSpPr/>
          <p:nvPr/>
        </p:nvSpPr>
        <p:spPr>
          <a:xfrm>
            <a:off x="3127248" y="521208"/>
            <a:ext cx="1188720" cy="292608"/>
          </a:xfrm>
          <a:prstGeom prst="roundRect">
            <a:avLst>
              <a:gd name="adj" fmla="val 21875"/>
            </a:avLst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BAD6BDE-9F45-0F77-2ACB-808041333A34}"/>
              </a:ext>
            </a:extLst>
          </p:cNvPr>
          <p:cNvSpPr/>
          <p:nvPr/>
        </p:nvSpPr>
        <p:spPr>
          <a:xfrm>
            <a:off x="3127248" y="521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Yrs 7 Months</a:t>
            </a:r>
            <a:endParaRPr lang="en-US" sz="95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E60B9BC-D638-DC7D-DC7A-281630F071A2}"/>
              </a:ext>
            </a:extLst>
          </p:cNvPr>
          <p:cNvGrpSpPr/>
          <p:nvPr/>
        </p:nvGrpSpPr>
        <p:grpSpPr>
          <a:xfrm>
            <a:off x="128016" y="2201953"/>
            <a:ext cx="4114800" cy="1499616"/>
            <a:chOff x="128016" y="2201953"/>
            <a:chExt cx="4114800" cy="1499616"/>
          </a:xfrm>
        </p:grpSpPr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98C0280A-419A-C190-5EB0-A9A83CE3E6F3}"/>
                </a:ext>
              </a:extLst>
            </p:cNvPr>
            <p:cNvSpPr/>
            <p:nvPr/>
          </p:nvSpPr>
          <p:spPr>
            <a:xfrm>
              <a:off x="128016" y="2201953"/>
              <a:ext cx="4114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180" dirty="0">
                  <a:solidFill>
                    <a:srgbClr val="0097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TECHNICAL EXPERTISE </a:t>
              </a:r>
              <a:endParaRPr lang="en-US" sz="800" dirty="0"/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F7396814-C09E-F32F-007F-74BD4852C652}"/>
                </a:ext>
              </a:extLst>
            </p:cNvPr>
            <p:cNvSpPr/>
            <p:nvPr/>
          </p:nvSpPr>
          <p:spPr>
            <a:xfrm>
              <a:off x="128016" y="2439697"/>
              <a:ext cx="4114800" cy="1261872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2700">
              <a:solidFill>
                <a:srgbClr val="D5E0EC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C5375B62-D8C7-C6F8-E0DB-653B5B200EED}"/>
                </a:ext>
              </a:extLst>
            </p:cNvPr>
            <p:cNvSpPr/>
            <p:nvPr/>
          </p:nvSpPr>
          <p:spPr>
            <a:xfrm>
              <a:off x="128016" y="2439697"/>
              <a:ext cx="4114800" cy="347472"/>
            </a:xfrm>
            <a:prstGeom prst="roundRect">
              <a:avLst>
                <a:gd name="adj" fmla="val 26316"/>
              </a:avLst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398DCEEF-A38B-7AEA-B4B1-31626B1E3861}"/>
                </a:ext>
              </a:extLst>
            </p:cNvPr>
            <p:cNvSpPr/>
            <p:nvPr/>
          </p:nvSpPr>
          <p:spPr>
            <a:xfrm>
              <a:off x="128016" y="2640865"/>
              <a:ext cx="4114800" cy="146304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5757721E-E118-B60C-C58A-E2995A5A789C}"/>
                </a:ext>
              </a:extLst>
            </p:cNvPr>
            <p:cNvSpPr/>
            <p:nvPr/>
          </p:nvSpPr>
          <p:spPr>
            <a:xfrm>
              <a:off x="274320" y="2476273"/>
              <a:ext cx="11887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0097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 and Platform</a:t>
              </a:r>
              <a:endParaRPr lang="en-US" sz="950" dirty="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278C5CA2-B463-C166-7FC9-CD42CF5B9567}"/>
                </a:ext>
              </a:extLst>
            </p:cNvPr>
            <p:cNvSpPr/>
            <p:nvPr/>
          </p:nvSpPr>
          <p:spPr>
            <a:xfrm>
              <a:off x="256032" y="2860321"/>
              <a:ext cx="1005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Block Storage </a:t>
              </a:r>
              <a:endParaRPr lang="en-US" sz="10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9F1BA530-25E2-E185-C69C-82272FAF8A08}"/>
                </a:ext>
              </a:extLst>
            </p:cNvPr>
            <p:cNvSpPr/>
            <p:nvPr/>
          </p:nvSpPr>
          <p:spPr>
            <a:xfrm>
              <a:off x="1280160" y="2860321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Unity XT, PowerStore, </a:t>
              </a:r>
              <a:r>
                <a:rPr lang="en-US" sz="900" dirty="0" err="1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PowerMax</a:t>
              </a: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Compellent </a:t>
              </a:r>
              <a:endParaRPr lang="en-US" sz="900" dirty="0"/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5A38D6E2-3233-A02A-AE62-359B3A6DCB03}"/>
                </a:ext>
              </a:extLst>
            </p:cNvPr>
            <p:cNvSpPr/>
            <p:nvPr/>
          </p:nvSpPr>
          <p:spPr>
            <a:xfrm>
              <a:off x="256032" y="3116353"/>
              <a:ext cx="1005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HCI </a:t>
              </a:r>
              <a:endParaRPr lang="en-US" sz="1000" dirty="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A3F9D952-E331-1EF1-9FB8-22259745C9E3}"/>
                </a:ext>
              </a:extLst>
            </p:cNvPr>
            <p:cNvSpPr/>
            <p:nvPr/>
          </p:nvSpPr>
          <p:spPr>
            <a:xfrm>
              <a:off x="1280160" y="3116353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VxRail, XC Nodes, Dell Private Cloud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CCBBD84-1EF6-9601-D0CD-179ED6D4488C}"/>
                </a:ext>
              </a:extLst>
            </p:cNvPr>
            <p:cNvSpPr/>
            <p:nvPr/>
          </p:nvSpPr>
          <p:spPr>
            <a:xfrm>
              <a:off x="256032" y="3372385"/>
              <a:ext cx="10058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</a:t>
              </a:r>
              <a:endParaRPr lang="en-US" sz="1000" dirty="0"/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F6904C7A-064A-0EF1-0925-62D6E6145B4A}"/>
                </a:ext>
              </a:extLst>
            </p:cNvPr>
            <p:cNvSpPr/>
            <p:nvPr/>
          </p:nvSpPr>
          <p:spPr>
            <a:xfrm>
              <a:off x="1280160" y="3372385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VMware, Nutanix AHV</a:t>
              </a:r>
              <a:endParaRPr lang="en-US" sz="9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E5694F4-9C24-1A4E-3985-0E671529BA0D}"/>
              </a:ext>
            </a:extLst>
          </p:cNvPr>
          <p:cNvGrpSpPr/>
          <p:nvPr/>
        </p:nvGrpSpPr>
        <p:grpSpPr>
          <a:xfrm>
            <a:off x="4623139" y="1178700"/>
            <a:ext cx="4114800" cy="804672"/>
            <a:chOff x="201168" y="3896641"/>
            <a:chExt cx="4114800" cy="804672"/>
          </a:xfrm>
        </p:grpSpPr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69258CD6-1B70-3318-AB02-E7F1F5581C08}"/>
                </a:ext>
              </a:extLst>
            </p:cNvPr>
            <p:cNvSpPr/>
            <p:nvPr/>
          </p:nvSpPr>
          <p:spPr>
            <a:xfrm>
              <a:off x="201168" y="3896641"/>
              <a:ext cx="4114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180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CERTIFICATIONS &amp; PUBLICATIONS</a:t>
              </a:r>
              <a:endParaRPr lang="en-US" sz="800" dirty="0"/>
            </a:p>
          </p:txBody>
        </p:sp>
        <p:sp>
          <p:nvSpPr>
            <p:cNvPr id="25" name="Text 27">
              <a:extLst>
                <a:ext uri="{FF2B5EF4-FFF2-40B4-BE49-F238E27FC236}">
                  <a16:creationId xmlns:a16="http://schemas.microsoft.com/office/drawing/2014/main" id="{B6573E5B-4F4B-BD97-FA4C-09D82B64B75E}"/>
                </a:ext>
              </a:extLst>
            </p:cNvPr>
            <p:cNvSpPr/>
            <p:nvPr/>
          </p:nvSpPr>
          <p:spPr>
            <a:xfrm>
              <a:off x="201168" y="4134385"/>
              <a:ext cx="4114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Associate – Information Storage &amp; Management v4.0</a:t>
              </a:r>
              <a:endParaRPr lang="en-US" sz="90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 – Technology Architect, Midrange Storage v2.0</a:t>
              </a:r>
              <a:endParaRPr lang="en-US" sz="90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 – PowerStore Design</a:t>
              </a:r>
              <a:endParaRPr lang="en-US" sz="90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9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 – Systems Administrator, VxRail</a:t>
              </a:r>
              <a:endParaRPr lang="en-US" sz="9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24768DF-F02C-A33B-2A0F-F2B211E3FF4D}"/>
              </a:ext>
            </a:extLst>
          </p:cNvPr>
          <p:cNvGrpSpPr/>
          <p:nvPr/>
        </p:nvGrpSpPr>
        <p:grpSpPr>
          <a:xfrm>
            <a:off x="4617720" y="2287297"/>
            <a:ext cx="4251960" cy="1847088"/>
            <a:chOff x="4626864" y="932688"/>
            <a:chExt cx="4251960" cy="1847088"/>
          </a:xfrm>
        </p:grpSpPr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5AF0AC43-D3DF-EB8F-BDDE-C79B918E512E}"/>
                </a:ext>
              </a:extLst>
            </p:cNvPr>
            <p:cNvSpPr/>
            <p:nvPr/>
          </p:nvSpPr>
          <p:spPr>
            <a:xfrm>
              <a:off x="4626864" y="932688"/>
              <a:ext cx="4251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180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&amp; RECOGNITION</a:t>
              </a:r>
              <a:endParaRPr lang="en-US" sz="800" dirty="0"/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6A5D92EE-7BF8-AA71-8B54-1B8BCF8A0ADE}"/>
                </a:ext>
              </a:extLst>
            </p:cNvPr>
            <p:cNvSpPr/>
            <p:nvPr/>
          </p:nvSpPr>
          <p:spPr>
            <a:xfrm>
              <a:off x="4626864" y="1170432"/>
              <a:ext cx="1298448" cy="804672"/>
            </a:xfrm>
            <a:prstGeom prst="roundRect">
              <a:avLst>
                <a:gd name="adj" fmla="val 11364"/>
              </a:avLst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B7B08F3F-62D2-2975-E6FF-DDD9A9D99C72}"/>
                </a:ext>
              </a:extLst>
            </p:cNvPr>
            <p:cNvSpPr/>
            <p:nvPr/>
          </p:nvSpPr>
          <p:spPr>
            <a:xfrm>
              <a:off x="4626864" y="1225296"/>
              <a:ext cx="129844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111%</a:t>
              </a:r>
              <a:endParaRPr lang="en-US" sz="2400" dirty="0"/>
            </a:p>
          </p:txBody>
        </p:sp>
        <p:sp>
          <p:nvSpPr>
            <p:cNvPr id="29" name="Text 31">
              <a:extLst>
                <a:ext uri="{FF2B5EF4-FFF2-40B4-BE49-F238E27FC236}">
                  <a16:creationId xmlns:a16="http://schemas.microsoft.com/office/drawing/2014/main" id="{90E9863C-CE9A-77C6-D288-13BF204EC925}"/>
                </a:ext>
              </a:extLst>
            </p:cNvPr>
            <p:cNvSpPr/>
            <p:nvPr/>
          </p:nvSpPr>
          <p:spPr>
            <a:xfrm>
              <a:off x="4626864" y="1609344"/>
              <a:ext cx="12984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Q1 FY27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Attainment</a:t>
              </a:r>
              <a:endParaRPr lang="en-US" sz="800" dirty="0"/>
            </a:p>
          </p:txBody>
        </p:sp>
        <p:sp>
          <p:nvSpPr>
            <p:cNvPr id="30" name="Shape 32">
              <a:extLst>
                <a:ext uri="{FF2B5EF4-FFF2-40B4-BE49-F238E27FC236}">
                  <a16:creationId xmlns:a16="http://schemas.microsoft.com/office/drawing/2014/main" id="{7E15482D-2EB1-4C2D-63FD-49E14B81FB37}"/>
                </a:ext>
              </a:extLst>
            </p:cNvPr>
            <p:cNvSpPr/>
            <p:nvPr/>
          </p:nvSpPr>
          <p:spPr>
            <a:xfrm>
              <a:off x="6071616" y="1170432"/>
              <a:ext cx="1298448" cy="804672"/>
            </a:xfrm>
            <a:prstGeom prst="roundRect">
              <a:avLst>
                <a:gd name="adj" fmla="val 11364"/>
              </a:avLst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33">
              <a:extLst>
                <a:ext uri="{FF2B5EF4-FFF2-40B4-BE49-F238E27FC236}">
                  <a16:creationId xmlns:a16="http://schemas.microsoft.com/office/drawing/2014/main" id="{84F45841-9626-A983-5924-5C7CCFE4A1D8}"/>
                </a:ext>
              </a:extLst>
            </p:cNvPr>
            <p:cNvSpPr/>
            <p:nvPr/>
          </p:nvSpPr>
          <p:spPr>
            <a:xfrm>
              <a:off x="6071616" y="1225296"/>
              <a:ext cx="129844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120%</a:t>
              </a:r>
              <a:endParaRPr lang="en-US" sz="2400" dirty="0"/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C47EAA05-CF28-C53A-2633-B63ED1DBB880}"/>
                </a:ext>
              </a:extLst>
            </p:cNvPr>
            <p:cNvSpPr/>
            <p:nvPr/>
          </p:nvSpPr>
          <p:spPr>
            <a:xfrm>
              <a:off x="6071616" y="1609344"/>
              <a:ext cx="12984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H2 FY26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Attainment</a:t>
              </a:r>
              <a:endParaRPr lang="en-US" sz="800" dirty="0"/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0FE64250-911E-ABBC-146D-DC6639424668}"/>
                </a:ext>
              </a:extLst>
            </p:cNvPr>
            <p:cNvSpPr/>
            <p:nvPr/>
          </p:nvSpPr>
          <p:spPr>
            <a:xfrm>
              <a:off x="7516368" y="1170432"/>
              <a:ext cx="1298448" cy="804672"/>
            </a:xfrm>
            <a:prstGeom prst="roundRect">
              <a:avLst>
                <a:gd name="adj" fmla="val 11364"/>
              </a:avLst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6EC8BBE4-CF21-6856-2E1D-F521BF0D933E}"/>
                </a:ext>
              </a:extLst>
            </p:cNvPr>
            <p:cNvSpPr/>
            <p:nvPr/>
          </p:nvSpPr>
          <p:spPr>
            <a:xfrm>
              <a:off x="7516368" y="1225296"/>
              <a:ext cx="129844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110%</a:t>
              </a:r>
              <a:endParaRPr lang="en-US" sz="2400" dirty="0"/>
            </a:p>
          </p:txBody>
        </p:sp>
        <p:sp>
          <p:nvSpPr>
            <p:cNvPr id="35" name="Text 37">
              <a:extLst>
                <a:ext uri="{FF2B5EF4-FFF2-40B4-BE49-F238E27FC236}">
                  <a16:creationId xmlns:a16="http://schemas.microsoft.com/office/drawing/2014/main" id="{D8DCE729-C9FD-C555-B8AE-E774685B2CFE}"/>
                </a:ext>
              </a:extLst>
            </p:cNvPr>
            <p:cNvSpPr/>
            <p:nvPr/>
          </p:nvSpPr>
          <p:spPr>
            <a:xfrm>
              <a:off x="7516368" y="1609344"/>
              <a:ext cx="12984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H1 FY26</a:t>
              </a:r>
              <a:endParaRPr lang="en-US" sz="800" dirty="0"/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Attainment</a:t>
              </a:r>
              <a:endParaRPr lang="en-US" sz="800" dirty="0"/>
            </a:p>
          </p:txBody>
        </p:sp>
        <p:sp>
          <p:nvSpPr>
            <p:cNvPr id="36" name="Shape 38">
              <a:extLst>
                <a:ext uri="{FF2B5EF4-FFF2-40B4-BE49-F238E27FC236}">
                  <a16:creationId xmlns:a16="http://schemas.microsoft.com/office/drawing/2014/main" id="{FC5BD8B0-A169-B971-5DAD-9425BF7C3998}"/>
                </a:ext>
              </a:extLst>
            </p:cNvPr>
            <p:cNvSpPr/>
            <p:nvPr/>
          </p:nvSpPr>
          <p:spPr>
            <a:xfrm>
              <a:off x="4626864" y="2084832"/>
              <a:ext cx="1920240" cy="694944"/>
            </a:xfrm>
            <a:prstGeom prst="roundRect">
              <a:avLst>
                <a:gd name="adj" fmla="val 13158"/>
              </a:avLst>
            </a:prstGeom>
            <a:solidFill>
              <a:srgbClr val="FFF3EE"/>
            </a:solidFill>
            <a:ln w="12700">
              <a:solidFill>
                <a:srgbClr val="F5C8B4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9">
              <a:extLst>
                <a:ext uri="{FF2B5EF4-FFF2-40B4-BE49-F238E27FC236}">
                  <a16:creationId xmlns:a16="http://schemas.microsoft.com/office/drawing/2014/main" id="{B63AA9B7-6060-14CF-4E7D-8DEF61923A49}"/>
                </a:ext>
              </a:extLst>
            </p:cNvPr>
            <p:cNvSpPr/>
            <p:nvPr/>
          </p:nvSpPr>
          <p:spPr>
            <a:xfrm>
              <a:off x="4626864" y="2121408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$5M</a:t>
              </a:r>
              <a:endParaRPr lang="en-US" sz="2200" dirty="0"/>
            </a:p>
          </p:txBody>
        </p:sp>
        <p:sp>
          <p:nvSpPr>
            <p:cNvPr id="38" name="Text 40">
              <a:extLst>
                <a:ext uri="{FF2B5EF4-FFF2-40B4-BE49-F238E27FC236}">
                  <a16:creationId xmlns:a16="http://schemas.microsoft.com/office/drawing/2014/main" id="{8B1A8F8A-FEA6-B31E-75C4-18A7F3E1231C}"/>
                </a:ext>
              </a:extLst>
            </p:cNvPr>
            <p:cNvSpPr/>
            <p:nvPr/>
          </p:nvSpPr>
          <p:spPr>
            <a:xfrm>
              <a:off x="4626864" y="2459736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FY26 Q4 : Revenue</a:t>
              </a:r>
              <a:endParaRPr lang="en-US" sz="800" dirty="0"/>
            </a:p>
          </p:txBody>
        </p:sp>
        <p:sp>
          <p:nvSpPr>
            <p:cNvPr id="39" name="Shape 41">
              <a:extLst>
                <a:ext uri="{FF2B5EF4-FFF2-40B4-BE49-F238E27FC236}">
                  <a16:creationId xmlns:a16="http://schemas.microsoft.com/office/drawing/2014/main" id="{C1191374-BE95-DF89-03B1-8E36D9018F10}"/>
                </a:ext>
              </a:extLst>
            </p:cNvPr>
            <p:cNvSpPr/>
            <p:nvPr/>
          </p:nvSpPr>
          <p:spPr>
            <a:xfrm>
              <a:off x="6775704" y="2084832"/>
              <a:ext cx="1920240" cy="694944"/>
            </a:xfrm>
            <a:prstGeom prst="roundRect">
              <a:avLst>
                <a:gd name="adj" fmla="val 13158"/>
              </a:avLst>
            </a:prstGeom>
            <a:solidFill>
              <a:srgbClr val="FFF3EE"/>
            </a:solidFill>
            <a:ln w="12700">
              <a:solidFill>
                <a:srgbClr val="F5C8B4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42">
              <a:extLst>
                <a:ext uri="{FF2B5EF4-FFF2-40B4-BE49-F238E27FC236}">
                  <a16:creationId xmlns:a16="http://schemas.microsoft.com/office/drawing/2014/main" id="{CBABB730-C4D6-5040-46AA-701E58610164}"/>
                </a:ext>
              </a:extLst>
            </p:cNvPr>
            <p:cNvSpPr/>
            <p:nvPr/>
          </p:nvSpPr>
          <p:spPr>
            <a:xfrm>
              <a:off x="6775704" y="2121408"/>
              <a:ext cx="19202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$4.6M</a:t>
              </a:r>
              <a:endParaRPr lang="en-US" sz="2200" dirty="0"/>
            </a:p>
          </p:txBody>
        </p:sp>
        <p:sp>
          <p:nvSpPr>
            <p:cNvPr id="41" name="Text 43">
              <a:extLst>
                <a:ext uri="{FF2B5EF4-FFF2-40B4-BE49-F238E27FC236}">
                  <a16:creationId xmlns:a16="http://schemas.microsoft.com/office/drawing/2014/main" id="{6ADF02A5-6E03-814D-6947-372A3BC69B76}"/>
                </a:ext>
              </a:extLst>
            </p:cNvPr>
            <p:cNvSpPr/>
            <p:nvPr/>
          </p:nvSpPr>
          <p:spPr>
            <a:xfrm>
              <a:off x="6775704" y="2459736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FY27 Q1 : </a:t>
              </a:r>
              <a:r>
                <a:rPr lang="en-US" sz="800" dirty="0" err="1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Rvenue</a:t>
              </a:r>
              <a:endParaRPr lang="en-US" sz="8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DC6E523-B1FF-4C6B-14A7-D5F518B08172}"/>
              </a:ext>
            </a:extLst>
          </p:cNvPr>
          <p:cNvGrpSpPr/>
          <p:nvPr/>
        </p:nvGrpSpPr>
        <p:grpSpPr>
          <a:xfrm>
            <a:off x="4690872" y="4210812"/>
            <a:ext cx="4261104" cy="861822"/>
            <a:chOff x="4626864" y="2907792"/>
            <a:chExt cx="4261104" cy="861822"/>
          </a:xfrm>
        </p:grpSpPr>
        <p:sp>
          <p:nvSpPr>
            <p:cNvPr id="42" name="Text 44">
              <a:extLst>
                <a:ext uri="{FF2B5EF4-FFF2-40B4-BE49-F238E27FC236}">
                  <a16:creationId xmlns:a16="http://schemas.microsoft.com/office/drawing/2014/main" id="{741CA73D-F633-AEEC-7A99-FFFC3DF53FB4}"/>
                </a:ext>
              </a:extLst>
            </p:cNvPr>
            <p:cNvSpPr/>
            <p:nvPr/>
          </p:nvSpPr>
          <p:spPr>
            <a:xfrm>
              <a:off x="4626864" y="2907792"/>
              <a:ext cx="4251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180" dirty="0">
                  <a:solidFill>
                    <a:srgbClr val="0097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DELL RECOGNITION AWARDS</a:t>
              </a:r>
              <a:endParaRPr lang="en-US" sz="800" dirty="0"/>
            </a:p>
          </p:txBody>
        </p:sp>
        <p:sp>
          <p:nvSpPr>
            <p:cNvPr id="43" name="Shape 45">
              <a:extLst>
                <a:ext uri="{FF2B5EF4-FFF2-40B4-BE49-F238E27FC236}">
                  <a16:creationId xmlns:a16="http://schemas.microsoft.com/office/drawing/2014/main" id="{58D99728-7778-3E09-4952-AFEE3FA4FE11}"/>
                </a:ext>
              </a:extLst>
            </p:cNvPr>
            <p:cNvSpPr/>
            <p:nvPr/>
          </p:nvSpPr>
          <p:spPr>
            <a:xfrm>
              <a:off x="462686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E8612C"/>
            </a:solidFill>
            <a:ln w="12700">
              <a:solidFill>
                <a:srgbClr val="E8612C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6">
              <a:extLst>
                <a:ext uri="{FF2B5EF4-FFF2-40B4-BE49-F238E27FC236}">
                  <a16:creationId xmlns:a16="http://schemas.microsoft.com/office/drawing/2014/main" id="{84EBD790-373C-E50E-E333-955F91E536CA}"/>
                </a:ext>
              </a:extLst>
            </p:cNvPr>
            <p:cNvSpPr/>
            <p:nvPr/>
          </p:nvSpPr>
          <p:spPr>
            <a:xfrm>
              <a:off x="462686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2×</a:t>
              </a:r>
              <a:endParaRPr lang="en-US" sz="1400" dirty="0"/>
            </a:p>
          </p:txBody>
        </p:sp>
        <p:sp>
          <p:nvSpPr>
            <p:cNvPr id="45" name="Text 47">
              <a:extLst>
                <a:ext uri="{FF2B5EF4-FFF2-40B4-BE49-F238E27FC236}">
                  <a16:creationId xmlns:a16="http://schemas.microsoft.com/office/drawing/2014/main" id="{01167A22-AE58-72E0-7EE8-C83101BE6327}"/>
                </a:ext>
              </a:extLst>
            </p:cNvPr>
            <p:cNvSpPr/>
            <p:nvPr/>
          </p:nvSpPr>
          <p:spPr>
            <a:xfrm>
              <a:off x="462686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Game</a:t>
              </a:r>
              <a:endParaRPr lang="en-US" sz="750" dirty="0"/>
            </a:p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Changer</a:t>
              </a:r>
              <a:endParaRPr lang="en-US" sz="750" dirty="0"/>
            </a:p>
          </p:txBody>
        </p:sp>
        <p:sp>
          <p:nvSpPr>
            <p:cNvPr id="46" name="Shape 48">
              <a:extLst>
                <a:ext uri="{FF2B5EF4-FFF2-40B4-BE49-F238E27FC236}">
                  <a16:creationId xmlns:a16="http://schemas.microsoft.com/office/drawing/2014/main" id="{A48F2DBA-830E-C30C-7676-839D7F271748}"/>
                </a:ext>
              </a:extLst>
            </p:cNvPr>
            <p:cNvSpPr/>
            <p:nvPr/>
          </p:nvSpPr>
          <p:spPr>
            <a:xfrm>
              <a:off x="535838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7B61C4"/>
            </a:solidFill>
            <a:ln w="12700">
              <a:solidFill>
                <a:srgbClr val="7B61C4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9">
              <a:extLst>
                <a:ext uri="{FF2B5EF4-FFF2-40B4-BE49-F238E27FC236}">
                  <a16:creationId xmlns:a16="http://schemas.microsoft.com/office/drawing/2014/main" id="{811601E2-1295-FAB1-71D0-3E894F7CB434}"/>
                </a:ext>
              </a:extLst>
            </p:cNvPr>
            <p:cNvSpPr/>
            <p:nvPr/>
          </p:nvSpPr>
          <p:spPr>
            <a:xfrm>
              <a:off x="535838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3×</a:t>
              </a:r>
              <a:endParaRPr lang="en-US" sz="1400" dirty="0"/>
            </a:p>
          </p:txBody>
        </p:sp>
        <p:sp>
          <p:nvSpPr>
            <p:cNvPr id="48" name="Text 50">
              <a:extLst>
                <a:ext uri="{FF2B5EF4-FFF2-40B4-BE49-F238E27FC236}">
                  <a16:creationId xmlns:a16="http://schemas.microsoft.com/office/drawing/2014/main" id="{13336797-4308-BEAC-133A-47ED75FD5A00}"/>
                </a:ext>
              </a:extLst>
            </p:cNvPr>
            <p:cNvSpPr/>
            <p:nvPr/>
          </p:nvSpPr>
          <p:spPr>
            <a:xfrm>
              <a:off x="535838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Extra-</a:t>
              </a:r>
              <a:endParaRPr lang="en-US" sz="750" dirty="0"/>
            </a:p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ordinary</a:t>
              </a:r>
              <a:endParaRPr lang="en-US" sz="750" dirty="0"/>
            </a:p>
          </p:txBody>
        </p:sp>
        <p:sp>
          <p:nvSpPr>
            <p:cNvPr id="49" name="Shape 51">
              <a:extLst>
                <a:ext uri="{FF2B5EF4-FFF2-40B4-BE49-F238E27FC236}">
                  <a16:creationId xmlns:a16="http://schemas.microsoft.com/office/drawing/2014/main" id="{085CB2F9-4D42-B5DC-75DB-BF5EB5052F63}"/>
                </a:ext>
              </a:extLst>
            </p:cNvPr>
            <p:cNvSpPr/>
            <p:nvPr/>
          </p:nvSpPr>
          <p:spPr>
            <a:xfrm>
              <a:off x="608990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0097A7"/>
            </a:solidFill>
            <a:ln w="12700">
              <a:solidFill>
                <a:srgbClr val="0097A7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52">
              <a:extLst>
                <a:ext uri="{FF2B5EF4-FFF2-40B4-BE49-F238E27FC236}">
                  <a16:creationId xmlns:a16="http://schemas.microsoft.com/office/drawing/2014/main" id="{E3C7079C-702E-0511-4293-B09FAA0937D5}"/>
                </a:ext>
              </a:extLst>
            </p:cNvPr>
            <p:cNvSpPr/>
            <p:nvPr/>
          </p:nvSpPr>
          <p:spPr>
            <a:xfrm>
              <a:off x="608990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3×</a:t>
              </a:r>
              <a:endParaRPr lang="en-US" sz="1400" dirty="0"/>
            </a:p>
          </p:txBody>
        </p:sp>
        <p:sp>
          <p:nvSpPr>
            <p:cNvPr id="51" name="Text 53">
              <a:extLst>
                <a:ext uri="{FF2B5EF4-FFF2-40B4-BE49-F238E27FC236}">
                  <a16:creationId xmlns:a16="http://schemas.microsoft.com/office/drawing/2014/main" id="{3533AA18-5B57-51D6-7052-F5B01C9479D7}"/>
                </a:ext>
              </a:extLst>
            </p:cNvPr>
            <p:cNvSpPr/>
            <p:nvPr/>
          </p:nvSpPr>
          <p:spPr>
            <a:xfrm>
              <a:off x="608990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Delight</a:t>
              </a:r>
              <a:endParaRPr lang="en-US" sz="750" dirty="0"/>
            </a:p>
          </p:txBody>
        </p:sp>
        <p:sp>
          <p:nvSpPr>
            <p:cNvPr id="52" name="Shape 54">
              <a:extLst>
                <a:ext uri="{FF2B5EF4-FFF2-40B4-BE49-F238E27FC236}">
                  <a16:creationId xmlns:a16="http://schemas.microsoft.com/office/drawing/2014/main" id="{881F9E78-0BC7-F294-0354-16D3A663C2AC}"/>
                </a:ext>
              </a:extLst>
            </p:cNvPr>
            <p:cNvSpPr/>
            <p:nvPr/>
          </p:nvSpPr>
          <p:spPr>
            <a:xfrm>
              <a:off x="682142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2196A6"/>
            </a:solidFill>
            <a:ln w="12700">
              <a:solidFill>
                <a:srgbClr val="2196A6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5">
              <a:extLst>
                <a:ext uri="{FF2B5EF4-FFF2-40B4-BE49-F238E27FC236}">
                  <a16:creationId xmlns:a16="http://schemas.microsoft.com/office/drawing/2014/main" id="{BC9F766C-26B7-CBC5-FA21-A2BA28FD1099}"/>
                </a:ext>
              </a:extLst>
            </p:cNvPr>
            <p:cNvSpPr/>
            <p:nvPr/>
          </p:nvSpPr>
          <p:spPr>
            <a:xfrm>
              <a:off x="682142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4×</a:t>
              </a:r>
              <a:endParaRPr lang="en-US" sz="1400" dirty="0"/>
            </a:p>
          </p:txBody>
        </p:sp>
        <p:sp>
          <p:nvSpPr>
            <p:cNvPr id="54" name="Text 56">
              <a:extLst>
                <a:ext uri="{FF2B5EF4-FFF2-40B4-BE49-F238E27FC236}">
                  <a16:creationId xmlns:a16="http://schemas.microsoft.com/office/drawing/2014/main" id="{655E5299-40CD-AD41-8FE9-405A38C342AF}"/>
                </a:ext>
              </a:extLst>
            </p:cNvPr>
            <p:cNvSpPr/>
            <p:nvPr/>
          </p:nvSpPr>
          <p:spPr>
            <a:xfrm>
              <a:off x="682142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Cheers</a:t>
              </a:r>
              <a:endParaRPr lang="en-US" sz="750" dirty="0"/>
            </a:p>
          </p:txBody>
        </p:sp>
        <p:sp>
          <p:nvSpPr>
            <p:cNvPr id="55" name="Shape 57">
              <a:extLst>
                <a:ext uri="{FF2B5EF4-FFF2-40B4-BE49-F238E27FC236}">
                  <a16:creationId xmlns:a16="http://schemas.microsoft.com/office/drawing/2014/main" id="{8E1E5D20-FD39-31E8-4538-C6A8F5B6D739}"/>
                </a:ext>
              </a:extLst>
            </p:cNvPr>
            <p:cNvSpPr/>
            <p:nvPr/>
          </p:nvSpPr>
          <p:spPr>
            <a:xfrm>
              <a:off x="755294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162535"/>
            </a:solidFill>
            <a:ln w="12700">
              <a:solidFill>
                <a:srgbClr val="162535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58">
              <a:extLst>
                <a:ext uri="{FF2B5EF4-FFF2-40B4-BE49-F238E27FC236}">
                  <a16:creationId xmlns:a16="http://schemas.microsoft.com/office/drawing/2014/main" id="{F014813B-4C16-645A-68F0-F384BE2D489C}"/>
                </a:ext>
              </a:extLst>
            </p:cNvPr>
            <p:cNvSpPr/>
            <p:nvPr/>
          </p:nvSpPr>
          <p:spPr>
            <a:xfrm>
              <a:off x="755294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13×</a:t>
              </a:r>
              <a:endParaRPr lang="en-US" sz="1400" dirty="0"/>
            </a:p>
          </p:txBody>
        </p:sp>
        <p:sp>
          <p:nvSpPr>
            <p:cNvPr id="57" name="Text 59">
              <a:extLst>
                <a:ext uri="{FF2B5EF4-FFF2-40B4-BE49-F238E27FC236}">
                  <a16:creationId xmlns:a16="http://schemas.microsoft.com/office/drawing/2014/main" id="{E153098F-5528-9077-5536-D73D4663C4B1}"/>
                </a:ext>
              </a:extLst>
            </p:cNvPr>
            <p:cNvSpPr/>
            <p:nvPr/>
          </p:nvSpPr>
          <p:spPr>
            <a:xfrm>
              <a:off x="755294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Bravo</a:t>
              </a:r>
              <a:endParaRPr lang="en-US" sz="750" dirty="0"/>
            </a:p>
          </p:txBody>
        </p:sp>
        <p:sp>
          <p:nvSpPr>
            <p:cNvPr id="58" name="Shape 60">
              <a:extLst>
                <a:ext uri="{FF2B5EF4-FFF2-40B4-BE49-F238E27FC236}">
                  <a16:creationId xmlns:a16="http://schemas.microsoft.com/office/drawing/2014/main" id="{A8051A53-970D-6CF6-68F3-D67E8B6B93B9}"/>
                </a:ext>
              </a:extLst>
            </p:cNvPr>
            <p:cNvSpPr/>
            <p:nvPr/>
          </p:nvSpPr>
          <p:spPr>
            <a:xfrm>
              <a:off x="8284464" y="3145535"/>
              <a:ext cx="603504" cy="624079"/>
            </a:xfrm>
            <a:prstGeom prst="roundRect">
              <a:avLst>
                <a:gd name="adj" fmla="val 12500"/>
              </a:avLst>
            </a:prstGeom>
            <a:solidFill>
              <a:srgbClr val="5B7A9A"/>
            </a:solidFill>
            <a:ln w="12700">
              <a:solidFill>
                <a:srgbClr val="5B7A9A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61">
              <a:extLst>
                <a:ext uri="{FF2B5EF4-FFF2-40B4-BE49-F238E27FC236}">
                  <a16:creationId xmlns:a16="http://schemas.microsoft.com/office/drawing/2014/main" id="{D771F323-649E-F65F-6A7F-9516B1ABEE35}"/>
                </a:ext>
              </a:extLst>
            </p:cNvPr>
            <p:cNvSpPr/>
            <p:nvPr/>
          </p:nvSpPr>
          <p:spPr>
            <a:xfrm>
              <a:off x="8284464" y="3172967"/>
              <a:ext cx="603504" cy="256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11×</a:t>
              </a:r>
              <a:endParaRPr lang="en-US" sz="1400" dirty="0"/>
            </a:p>
          </p:txBody>
        </p:sp>
        <p:sp>
          <p:nvSpPr>
            <p:cNvPr id="60" name="Text 62">
              <a:extLst>
                <a:ext uri="{FF2B5EF4-FFF2-40B4-BE49-F238E27FC236}">
                  <a16:creationId xmlns:a16="http://schemas.microsoft.com/office/drawing/2014/main" id="{ADA26988-69B5-9147-9090-208D78B1D6C1}"/>
                </a:ext>
              </a:extLst>
            </p:cNvPr>
            <p:cNvSpPr/>
            <p:nvPr/>
          </p:nvSpPr>
          <p:spPr>
            <a:xfrm>
              <a:off x="8284464" y="3447288"/>
              <a:ext cx="60350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Applause</a:t>
              </a:r>
              <a:endParaRPr lang="en-US" sz="7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773BCC5-D60D-DB7B-CE61-4431203DAF47}"/>
              </a:ext>
            </a:extLst>
          </p:cNvPr>
          <p:cNvGrpSpPr/>
          <p:nvPr/>
        </p:nvGrpSpPr>
        <p:grpSpPr>
          <a:xfrm>
            <a:off x="176269" y="3806159"/>
            <a:ext cx="4251960" cy="1188720"/>
            <a:chOff x="4626864" y="3918204"/>
            <a:chExt cx="4251960" cy="1188720"/>
          </a:xfrm>
        </p:grpSpPr>
        <p:sp>
          <p:nvSpPr>
            <p:cNvPr id="61" name="Text 63">
              <a:extLst>
                <a:ext uri="{FF2B5EF4-FFF2-40B4-BE49-F238E27FC236}">
                  <a16:creationId xmlns:a16="http://schemas.microsoft.com/office/drawing/2014/main" id="{F5CFFED4-62D7-0CA6-B37D-81E39A884359}"/>
                </a:ext>
              </a:extLst>
            </p:cNvPr>
            <p:cNvSpPr/>
            <p:nvPr/>
          </p:nvSpPr>
          <p:spPr>
            <a:xfrm>
              <a:off x="4626864" y="3918204"/>
              <a:ext cx="4251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kern="0" spc="180" dirty="0">
                  <a:solidFill>
                    <a:srgbClr val="E861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ENABLEMENT FRAMEWORKS BUILT</a:t>
              </a:r>
              <a:endParaRPr lang="en-US" sz="800" dirty="0"/>
            </a:p>
          </p:txBody>
        </p:sp>
        <p:sp>
          <p:nvSpPr>
            <p:cNvPr id="62" name="Shape 64">
              <a:extLst>
                <a:ext uri="{FF2B5EF4-FFF2-40B4-BE49-F238E27FC236}">
                  <a16:creationId xmlns:a16="http://schemas.microsoft.com/office/drawing/2014/main" id="{940D51A2-4ED9-1DEE-A825-A9CC691F97E5}"/>
                </a:ext>
              </a:extLst>
            </p:cNvPr>
            <p:cNvSpPr/>
            <p:nvPr/>
          </p:nvSpPr>
          <p:spPr>
            <a:xfrm>
              <a:off x="4626864" y="4174236"/>
              <a:ext cx="4251960" cy="27432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2700">
              <a:solidFill>
                <a:srgbClr val="D5E0EC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5">
              <a:extLst>
                <a:ext uri="{FF2B5EF4-FFF2-40B4-BE49-F238E27FC236}">
                  <a16:creationId xmlns:a16="http://schemas.microsoft.com/office/drawing/2014/main" id="{97C5CD5F-7D54-AC5E-94A3-259F20258B89}"/>
                </a:ext>
              </a:extLst>
            </p:cNvPr>
            <p:cNvSpPr/>
            <p:nvPr/>
          </p:nvSpPr>
          <p:spPr>
            <a:xfrm>
              <a:off x="4745736" y="4201668"/>
              <a:ext cx="39776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Whitespace Campaign </a:t>
              </a:r>
              <a:endParaRPr lang="en-US" sz="900" dirty="0"/>
            </a:p>
          </p:txBody>
        </p:sp>
        <p:sp>
          <p:nvSpPr>
            <p:cNvPr id="64" name="Text 66">
              <a:extLst>
                <a:ext uri="{FF2B5EF4-FFF2-40B4-BE49-F238E27FC236}">
                  <a16:creationId xmlns:a16="http://schemas.microsoft.com/office/drawing/2014/main" id="{EB6D08B8-6944-EA51-9AB3-FFB8A909B561}"/>
                </a:ext>
              </a:extLst>
            </p:cNvPr>
            <p:cNvSpPr/>
            <p:nvPr/>
          </p:nvSpPr>
          <p:spPr>
            <a:xfrm>
              <a:off x="4745736" y="4329684"/>
              <a:ext cx="39776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Proactive identification and engagement for accounts with no specialist SA aligned</a:t>
              </a:r>
              <a:endParaRPr lang="en-US" sz="750" dirty="0"/>
            </a:p>
          </p:txBody>
        </p:sp>
        <p:sp>
          <p:nvSpPr>
            <p:cNvPr id="65" name="Shape 67">
              <a:extLst>
                <a:ext uri="{FF2B5EF4-FFF2-40B4-BE49-F238E27FC236}">
                  <a16:creationId xmlns:a16="http://schemas.microsoft.com/office/drawing/2014/main" id="{4B4C0D97-0BC9-76F9-3B63-6235884C72CD}"/>
                </a:ext>
              </a:extLst>
            </p:cNvPr>
            <p:cNvSpPr/>
            <p:nvPr/>
          </p:nvSpPr>
          <p:spPr>
            <a:xfrm>
              <a:off x="4626864" y="4503420"/>
              <a:ext cx="4251960" cy="27432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2700">
              <a:solidFill>
                <a:srgbClr val="D5E0EC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68">
              <a:extLst>
                <a:ext uri="{FF2B5EF4-FFF2-40B4-BE49-F238E27FC236}">
                  <a16:creationId xmlns:a16="http://schemas.microsoft.com/office/drawing/2014/main" id="{A621F566-FA9D-0695-11BF-B946088E2777}"/>
                </a:ext>
              </a:extLst>
            </p:cNvPr>
            <p:cNvSpPr/>
            <p:nvPr/>
          </p:nvSpPr>
          <p:spPr>
            <a:xfrm>
              <a:off x="4745736" y="4530852"/>
              <a:ext cx="39776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Partner Enablement Program</a:t>
              </a:r>
              <a:endParaRPr lang="en-US" sz="900" dirty="0"/>
            </a:p>
          </p:txBody>
        </p:sp>
        <p:sp>
          <p:nvSpPr>
            <p:cNvPr id="67" name="Text 69">
              <a:extLst>
                <a:ext uri="{FF2B5EF4-FFF2-40B4-BE49-F238E27FC236}">
                  <a16:creationId xmlns:a16="http://schemas.microsoft.com/office/drawing/2014/main" id="{B95BFB07-2582-A4D7-332B-748918740E7B}"/>
                </a:ext>
              </a:extLst>
            </p:cNvPr>
            <p:cNvSpPr/>
            <p:nvPr/>
          </p:nvSpPr>
          <p:spPr>
            <a:xfrm>
              <a:off x="4745736" y="4658868"/>
              <a:ext cx="39776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&amp; Enable partners to build their technical confidence </a:t>
              </a:r>
              <a:endParaRPr lang="en-US" sz="750" dirty="0"/>
            </a:p>
          </p:txBody>
        </p:sp>
        <p:sp>
          <p:nvSpPr>
            <p:cNvPr id="68" name="Shape 70">
              <a:extLst>
                <a:ext uri="{FF2B5EF4-FFF2-40B4-BE49-F238E27FC236}">
                  <a16:creationId xmlns:a16="http://schemas.microsoft.com/office/drawing/2014/main" id="{9CBFE031-F83F-71C5-720D-6C42E4A098B4}"/>
                </a:ext>
              </a:extLst>
            </p:cNvPr>
            <p:cNvSpPr/>
            <p:nvPr/>
          </p:nvSpPr>
          <p:spPr>
            <a:xfrm>
              <a:off x="4626864" y="4832604"/>
              <a:ext cx="4251960" cy="27432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 w="12700">
              <a:solidFill>
                <a:srgbClr val="D5E0EC"/>
              </a:solidFill>
              <a:prstDash val="solid"/>
            </a:ln>
            <a:effectLst>
              <a:outerShdw blurRad="127000" dist="381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71">
              <a:extLst>
                <a:ext uri="{FF2B5EF4-FFF2-40B4-BE49-F238E27FC236}">
                  <a16:creationId xmlns:a16="http://schemas.microsoft.com/office/drawing/2014/main" id="{947AD930-4F73-58CA-83FA-9256B8FEEB31}"/>
                </a:ext>
              </a:extLst>
            </p:cNvPr>
            <p:cNvSpPr/>
            <p:nvPr/>
          </p:nvSpPr>
          <p:spPr>
            <a:xfrm>
              <a:off x="4745736" y="4860036"/>
              <a:ext cx="39776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E2D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Technical Enablement Framework : Internal</a:t>
              </a:r>
              <a:endParaRPr lang="en-US" sz="900" dirty="0"/>
            </a:p>
          </p:txBody>
        </p:sp>
        <p:sp>
          <p:nvSpPr>
            <p:cNvPr id="70" name="Text 72">
              <a:extLst>
                <a:ext uri="{FF2B5EF4-FFF2-40B4-BE49-F238E27FC236}">
                  <a16:creationId xmlns:a16="http://schemas.microsoft.com/office/drawing/2014/main" id="{0D81B8AF-EF96-6FDE-AEB3-C766C4497E22}"/>
                </a:ext>
              </a:extLst>
            </p:cNvPr>
            <p:cNvSpPr/>
            <p:nvPr/>
          </p:nvSpPr>
          <p:spPr>
            <a:xfrm>
              <a:off x="4745736" y="4988052"/>
              <a:ext cx="3977640" cy="1005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6B7F9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Repeatable enablement structure for new hires to make them field ready</a:t>
              </a:r>
              <a:endParaRPr lang="en-US" sz="75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E5D55BB-B03E-7D1E-AAF2-F3C46CD5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702" y="1181780"/>
            <a:ext cx="1124063" cy="8431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AB129-92DC-F51D-8733-5EB0341FA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027" y="1041314"/>
            <a:ext cx="793839" cy="1124064"/>
          </a:xfrm>
          <a:prstGeom prst="rect">
            <a:avLst/>
          </a:prstGeom>
        </p:spPr>
      </p:pic>
      <p:pic>
        <p:nvPicPr>
          <p:cNvPr id="7" name="Picture 2" descr="Chess piece - Wikipedia">
            <a:extLst>
              <a:ext uri="{FF2B5EF4-FFF2-40B4-BE49-F238E27FC236}">
                <a16:creationId xmlns:a16="http://schemas.microsoft.com/office/drawing/2014/main" id="{B168FF5D-7E74-1B46-C76F-65C82EB3F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9" r="26665"/>
          <a:stretch>
            <a:fillRect/>
          </a:stretch>
        </p:blipFill>
        <p:spPr bwMode="auto">
          <a:xfrm>
            <a:off x="2302249" y="1054705"/>
            <a:ext cx="806165" cy="11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🎱⚽️ When pool meets football, the game gets BIGGER, LOUDER, and way more  FUN! ⁠ ⁠ Watch as footballs take over the table in this epic game of  PoolBall - where every">
            <a:extLst>
              <a:ext uri="{FF2B5EF4-FFF2-40B4-BE49-F238E27FC236}">
                <a16:creationId xmlns:a16="http://schemas.microsoft.com/office/drawing/2014/main" id="{15F3DAE8-BC93-627F-2E64-474FB5521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688" y="1047312"/>
            <a:ext cx="793839" cy="11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95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2E84-C0B9-0BAA-4010-AD334688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F5E2E6-1425-4DEA-3197-FCB20876B87B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Abadi" panose="020B0604020104020204" pitchFamily="34" charset="0"/>
              </a:rPr>
              <a:t>   Ranjeeth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93DDD-0B50-8AF7-F201-B05FE4CA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80" r="23862" b="17005"/>
          <a:stretch>
            <a:fillRect/>
          </a:stretch>
        </p:blipFill>
        <p:spPr>
          <a:xfrm>
            <a:off x="8119353" y="-8354"/>
            <a:ext cx="797668" cy="96847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34204D52-2490-4599-C445-884C198C8DC6}"/>
              </a:ext>
            </a:extLst>
          </p:cNvPr>
          <p:cNvSpPr/>
          <p:nvPr/>
        </p:nvSpPr>
        <p:spPr>
          <a:xfrm>
            <a:off x="411480" y="521208"/>
            <a:ext cx="2560320" cy="292608"/>
          </a:xfrm>
          <a:prstGeom prst="roundRect">
            <a:avLst>
              <a:gd name="adj" fmla="val 21875"/>
            </a:avLst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2EDD959-993B-4D49-C59B-E29666CA90AB}"/>
              </a:ext>
            </a:extLst>
          </p:cNvPr>
          <p:cNvSpPr/>
          <p:nvPr/>
        </p:nvSpPr>
        <p:spPr>
          <a:xfrm>
            <a:off x="411480" y="521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Specialist Engineer  |  Dell Technologies</a:t>
            </a:r>
            <a:endParaRPr lang="en-US" sz="9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08832E1-F01D-F594-40F8-52D1B9975522}"/>
              </a:ext>
            </a:extLst>
          </p:cNvPr>
          <p:cNvSpPr/>
          <p:nvPr/>
        </p:nvSpPr>
        <p:spPr>
          <a:xfrm>
            <a:off x="3127248" y="521208"/>
            <a:ext cx="1188720" cy="292608"/>
          </a:xfrm>
          <a:prstGeom prst="roundRect">
            <a:avLst>
              <a:gd name="adj" fmla="val 21875"/>
            </a:avLst>
          </a:prstGeom>
          <a:solidFill>
            <a:schemeClr val="bg2">
              <a:lumMod val="7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9B3E042-387D-006B-7115-9C82F37C3B7F}"/>
              </a:ext>
            </a:extLst>
          </p:cNvPr>
          <p:cNvSpPr/>
          <p:nvPr/>
        </p:nvSpPr>
        <p:spPr>
          <a:xfrm>
            <a:off x="3127248" y="521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Yrs 7 Months</a:t>
            </a:r>
            <a:endParaRPr lang="en-US" sz="95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407D981-F3E7-8184-19D2-9B6F15F426E5}"/>
              </a:ext>
            </a:extLst>
          </p:cNvPr>
          <p:cNvSpPr/>
          <p:nvPr/>
        </p:nvSpPr>
        <p:spPr>
          <a:xfrm>
            <a:off x="256032" y="10972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ENGAGE</a:t>
            </a:r>
            <a:endParaRPr lang="en-US" sz="8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086952B2-AD19-D21F-380B-122DE8920B94}"/>
              </a:ext>
            </a:extLst>
          </p:cNvPr>
          <p:cNvSpPr/>
          <p:nvPr/>
        </p:nvSpPr>
        <p:spPr>
          <a:xfrm>
            <a:off x="256032" y="1389888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2C00C255-50A8-D637-015F-D1661738993E}"/>
              </a:ext>
            </a:extLst>
          </p:cNvPr>
          <p:cNvSpPr/>
          <p:nvPr/>
        </p:nvSpPr>
        <p:spPr>
          <a:xfrm>
            <a:off x="347472" y="149961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A130F57-9072-0466-867A-2F9F6FB9F6DB}"/>
              </a:ext>
            </a:extLst>
          </p:cNvPr>
          <p:cNvSpPr/>
          <p:nvPr/>
        </p:nvSpPr>
        <p:spPr>
          <a:xfrm>
            <a:off x="347472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730F531-7B07-8070-60BB-7AFE3EB9330D}"/>
              </a:ext>
            </a:extLst>
          </p:cNvPr>
          <p:cNvSpPr/>
          <p:nvPr/>
        </p:nvSpPr>
        <p:spPr>
          <a:xfrm>
            <a:off x="877824" y="14813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5EAB04FC-53DE-F52B-91E2-3B2B73EFC196}"/>
              </a:ext>
            </a:extLst>
          </p:cNvPr>
          <p:cNvSpPr/>
          <p:nvPr/>
        </p:nvSpPr>
        <p:spPr>
          <a:xfrm>
            <a:off x="877824" y="16916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 · Asset &amp; workload assessment · Environment mapping · Lead-in demos</a:t>
            </a:r>
            <a:endParaRPr lang="en-US" sz="900" dirty="0"/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80B08A70-7AC3-5BA5-9E66-29629DBCA03D}"/>
              </a:ext>
            </a:extLst>
          </p:cNvPr>
          <p:cNvSpPr/>
          <p:nvPr/>
        </p:nvSpPr>
        <p:spPr>
          <a:xfrm>
            <a:off x="256032" y="2157984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CD31413-B3F2-D961-8BF3-B9ED682FB772}"/>
              </a:ext>
            </a:extLst>
          </p:cNvPr>
          <p:cNvSpPr/>
          <p:nvPr/>
        </p:nvSpPr>
        <p:spPr>
          <a:xfrm>
            <a:off x="347472" y="226771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23ED2C51-6E45-2F0F-CDD0-11B237809C77}"/>
              </a:ext>
            </a:extLst>
          </p:cNvPr>
          <p:cNvSpPr/>
          <p:nvPr/>
        </p:nvSpPr>
        <p:spPr>
          <a:xfrm>
            <a:off x="347472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7E51A325-3B04-858E-8EE7-855C45A5309F}"/>
              </a:ext>
            </a:extLst>
          </p:cNvPr>
          <p:cNvSpPr/>
          <p:nvPr/>
        </p:nvSpPr>
        <p:spPr>
          <a:xfrm>
            <a:off x="877824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FB372D27-3590-8E4C-17C8-AD17643145A0}"/>
              </a:ext>
            </a:extLst>
          </p:cNvPr>
          <p:cNvSpPr/>
          <p:nvPr/>
        </p:nvSpPr>
        <p:spPr>
          <a:xfrm>
            <a:off x="877824" y="24597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Workload-to-product fit analysis · Competitive landscape assessment · Business case framing</a:t>
            </a:r>
            <a:endParaRPr lang="en-US" sz="900" dirty="0"/>
          </a:p>
        </p:txBody>
      </p:sp>
      <p:sp>
        <p:nvSpPr>
          <p:cNvPr id="82" name="Shape 18">
            <a:extLst>
              <a:ext uri="{FF2B5EF4-FFF2-40B4-BE49-F238E27FC236}">
                <a16:creationId xmlns:a16="http://schemas.microsoft.com/office/drawing/2014/main" id="{A0DEB691-7A9C-EC3F-A4DB-145CB489B774}"/>
              </a:ext>
            </a:extLst>
          </p:cNvPr>
          <p:cNvSpPr/>
          <p:nvPr/>
        </p:nvSpPr>
        <p:spPr>
          <a:xfrm>
            <a:off x="256032" y="2926080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Shape 19">
            <a:extLst>
              <a:ext uri="{FF2B5EF4-FFF2-40B4-BE49-F238E27FC236}">
                <a16:creationId xmlns:a16="http://schemas.microsoft.com/office/drawing/2014/main" id="{B4E8525E-A7EB-E815-061B-C1FF8431797B}"/>
              </a:ext>
            </a:extLst>
          </p:cNvPr>
          <p:cNvSpPr/>
          <p:nvPr/>
        </p:nvSpPr>
        <p:spPr>
          <a:xfrm>
            <a:off x="347472" y="303580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9CE642E7-C03A-ACB3-A7CF-F0A508231C23}"/>
              </a:ext>
            </a:extLst>
          </p:cNvPr>
          <p:cNvSpPr/>
          <p:nvPr/>
        </p:nvSpPr>
        <p:spPr>
          <a:xfrm>
            <a:off x="347472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DE0DC7A1-13F9-05A6-BB5C-9DBAB1AA779B}"/>
              </a:ext>
            </a:extLst>
          </p:cNvPr>
          <p:cNvSpPr/>
          <p:nvPr/>
        </p:nvSpPr>
        <p:spPr>
          <a:xfrm>
            <a:off x="877824" y="3017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FA9015D7-90A1-DC94-2A73-2CCEBD265E5F}"/>
              </a:ext>
            </a:extLst>
          </p:cNvPr>
          <p:cNvSpPr/>
          <p:nvPr/>
        </p:nvSpPr>
        <p:spPr>
          <a:xfrm>
            <a:off x="877824" y="32278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· Proposal &amp; quote creation · Sizing validation · BoM reviews</a:t>
            </a:r>
            <a:endParaRPr lang="en-US" sz="900" dirty="0"/>
          </a:p>
        </p:txBody>
      </p:sp>
      <p:sp>
        <p:nvSpPr>
          <p:cNvPr id="87" name="Shape 23">
            <a:extLst>
              <a:ext uri="{FF2B5EF4-FFF2-40B4-BE49-F238E27FC236}">
                <a16:creationId xmlns:a16="http://schemas.microsoft.com/office/drawing/2014/main" id="{F373A433-6785-E61E-BBD0-2157503908D0}"/>
              </a:ext>
            </a:extLst>
          </p:cNvPr>
          <p:cNvSpPr/>
          <p:nvPr/>
        </p:nvSpPr>
        <p:spPr>
          <a:xfrm>
            <a:off x="256032" y="3694176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01B10FBC-EC96-A994-EB9E-9C7E938189FC}"/>
              </a:ext>
            </a:extLst>
          </p:cNvPr>
          <p:cNvSpPr/>
          <p:nvPr/>
        </p:nvSpPr>
        <p:spPr>
          <a:xfrm>
            <a:off x="347472" y="380390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06070"/>
          </a:solidFill>
          <a:ln w="12700">
            <a:solidFill>
              <a:srgbClr val="10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F9B06FE6-2EA2-0728-57DD-618B16C7A5C2}"/>
              </a:ext>
            </a:extLst>
          </p:cNvPr>
          <p:cNvSpPr/>
          <p:nvPr/>
        </p:nvSpPr>
        <p:spPr>
          <a:xfrm>
            <a:off x="347472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AE285AD8-A5A8-855F-6D52-A3D6587F2925}"/>
              </a:ext>
            </a:extLst>
          </p:cNvPr>
          <p:cNvSpPr/>
          <p:nvPr/>
        </p:nvSpPr>
        <p:spPr>
          <a:xfrm>
            <a:off x="877824" y="37856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000" dirty="0"/>
          </a:p>
        </p:txBody>
      </p:sp>
      <p:sp>
        <p:nvSpPr>
          <p:cNvPr id="91" name="Text 27">
            <a:extLst>
              <a:ext uri="{FF2B5EF4-FFF2-40B4-BE49-F238E27FC236}">
                <a16:creationId xmlns:a16="http://schemas.microsoft.com/office/drawing/2014/main" id="{C945A07B-75AB-6DDE-3F73-54B6A93197EE}"/>
              </a:ext>
            </a:extLst>
          </p:cNvPr>
          <p:cNvSpPr/>
          <p:nvPr/>
        </p:nvSpPr>
        <p:spPr>
          <a:xfrm>
            <a:off x="877824" y="39959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dives · Closing demos · Solution presentation · Competitive handling</a:t>
            </a:r>
            <a:endParaRPr lang="en-US" sz="900" dirty="0"/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A5AE5DA8-13A5-F211-BAF0-BABFBFD63345}"/>
              </a:ext>
            </a:extLst>
          </p:cNvPr>
          <p:cNvSpPr/>
          <p:nvPr/>
        </p:nvSpPr>
        <p:spPr>
          <a:xfrm>
            <a:off x="256032" y="4572000"/>
            <a:ext cx="4114800" cy="347472"/>
          </a:xfrm>
          <a:prstGeom prst="roundRect">
            <a:avLst>
              <a:gd name="adj" fmla="val 18421"/>
            </a:avLst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00AF8445-DD05-3142-E5DF-A4A2288FC4A3}"/>
              </a:ext>
            </a:extLst>
          </p:cNvPr>
          <p:cNvSpPr/>
          <p:nvPr/>
        </p:nvSpPr>
        <p:spPr>
          <a:xfrm>
            <a:off x="256032" y="4572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2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POST-SALES:  Installation &amp; Configuration  ·  Customer Satisfaction Issue Resolution</a:t>
            </a:r>
            <a:endParaRPr lang="en-US" sz="900" dirty="0"/>
          </a:p>
        </p:txBody>
      </p:sp>
      <p:sp>
        <p:nvSpPr>
          <p:cNvPr id="94" name="Text 30">
            <a:extLst>
              <a:ext uri="{FF2B5EF4-FFF2-40B4-BE49-F238E27FC236}">
                <a16:creationId xmlns:a16="http://schemas.microsoft.com/office/drawing/2014/main" id="{5B5E96C9-41AE-B0BB-ED25-039116C55229}"/>
              </a:ext>
            </a:extLst>
          </p:cNvPr>
          <p:cNvSpPr/>
          <p:nvPr/>
        </p:nvSpPr>
        <p:spPr>
          <a:xfrm>
            <a:off x="4617720" y="10972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86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DELIVER FOR CUSTOMERS &amp; PARTNERS</a:t>
            </a:r>
            <a:endParaRPr lang="en-US" sz="800" dirty="0"/>
          </a:p>
        </p:txBody>
      </p:sp>
      <p:sp>
        <p:nvSpPr>
          <p:cNvPr id="95" name="Shape 31">
            <a:extLst>
              <a:ext uri="{FF2B5EF4-FFF2-40B4-BE49-F238E27FC236}">
                <a16:creationId xmlns:a16="http://schemas.microsoft.com/office/drawing/2014/main" id="{024AE6FE-A095-997C-67E5-1B6B3C2AC897}"/>
              </a:ext>
            </a:extLst>
          </p:cNvPr>
          <p:cNvSpPr/>
          <p:nvPr/>
        </p:nvSpPr>
        <p:spPr>
          <a:xfrm>
            <a:off x="4617720" y="1389888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Text 32">
            <a:extLst>
              <a:ext uri="{FF2B5EF4-FFF2-40B4-BE49-F238E27FC236}">
                <a16:creationId xmlns:a16="http://schemas.microsoft.com/office/drawing/2014/main" id="{33F68095-F57D-4821-2C17-9DA7A8D262B4}"/>
              </a:ext>
            </a:extLst>
          </p:cNvPr>
          <p:cNvSpPr/>
          <p:nvPr/>
        </p:nvSpPr>
        <p:spPr>
          <a:xfrm>
            <a:off x="4727448" y="145389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Demos</a:t>
            </a:r>
            <a:endParaRPr lang="en-US" sz="1000" dirty="0"/>
          </a:p>
        </p:txBody>
      </p:sp>
      <p:sp>
        <p:nvSpPr>
          <p:cNvPr id="97" name="Text 33">
            <a:extLst>
              <a:ext uri="{FF2B5EF4-FFF2-40B4-BE49-F238E27FC236}">
                <a16:creationId xmlns:a16="http://schemas.microsoft.com/office/drawing/2014/main" id="{62997D17-14C2-1E97-CBA1-9B9072614EAD}"/>
              </a:ext>
            </a:extLst>
          </p:cNvPr>
          <p:cNvSpPr/>
          <p:nvPr/>
        </p:nvSpPr>
        <p:spPr>
          <a:xfrm>
            <a:off x="4727448" y="16642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customer use case &amp; workload</a:t>
            </a:r>
            <a:endParaRPr lang="en-US" sz="850" dirty="0"/>
          </a:p>
        </p:txBody>
      </p:sp>
      <p:sp>
        <p:nvSpPr>
          <p:cNvPr id="98" name="Shape 34">
            <a:extLst>
              <a:ext uri="{FF2B5EF4-FFF2-40B4-BE49-F238E27FC236}">
                <a16:creationId xmlns:a16="http://schemas.microsoft.com/office/drawing/2014/main" id="{7819C2E0-80D7-15A7-89B4-B49BAC46A28A}"/>
              </a:ext>
            </a:extLst>
          </p:cNvPr>
          <p:cNvSpPr/>
          <p:nvPr/>
        </p:nvSpPr>
        <p:spPr>
          <a:xfrm>
            <a:off x="6793992" y="1389888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9" name="Text 35">
            <a:extLst>
              <a:ext uri="{FF2B5EF4-FFF2-40B4-BE49-F238E27FC236}">
                <a16:creationId xmlns:a16="http://schemas.microsoft.com/office/drawing/2014/main" id="{44D42E58-0258-7E1C-2629-B5889218A258}"/>
              </a:ext>
            </a:extLst>
          </p:cNvPr>
          <p:cNvSpPr/>
          <p:nvPr/>
        </p:nvSpPr>
        <p:spPr>
          <a:xfrm>
            <a:off x="6903720" y="145389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Dives</a:t>
            </a:r>
            <a:endParaRPr lang="en-US" sz="1000" dirty="0"/>
          </a:p>
        </p:txBody>
      </p:sp>
      <p:sp>
        <p:nvSpPr>
          <p:cNvPr id="100" name="Text 36">
            <a:extLst>
              <a:ext uri="{FF2B5EF4-FFF2-40B4-BE49-F238E27FC236}">
                <a16:creationId xmlns:a16="http://schemas.microsoft.com/office/drawing/2014/main" id="{1B9F2055-A6A6-EB5E-85B2-82DF6A293E0F}"/>
              </a:ext>
            </a:extLst>
          </p:cNvPr>
          <p:cNvSpPr/>
          <p:nvPr/>
        </p:nvSpPr>
        <p:spPr>
          <a:xfrm>
            <a:off x="6903720" y="16642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walkthroughs &amp; solution reviews</a:t>
            </a:r>
            <a:endParaRPr lang="en-US" sz="850" dirty="0"/>
          </a:p>
        </p:txBody>
      </p:sp>
      <p:sp>
        <p:nvSpPr>
          <p:cNvPr id="101" name="Shape 37">
            <a:extLst>
              <a:ext uri="{FF2B5EF4-FFF2-40B4-BE49-F238E27FC236}">
                <a16:creationId xmlns:a16="http://schemas.microsoft.com/office/drawing/2014/main" id="{09D19A96-0BF7-AA8C-18D4-E74BCF683B98}"/>
              </a:ext>
            </a:extLst>
          </p:cNvPr>
          <p:cNvSpPr/>
          <p:nvPr/>
        </p:nvSpPr>
        <p:spPr>
          <a:xfrm>
            <a:off x="4617720" y="2066544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Text 38">
            <a:extLst>
              <a:ext uri="{FF2B5EF4-FFF2-40B4-BE49-F238E27FC236}">
                <a16:creationId xmlns:a16="http://schemas.microsoft.com/office/drawing/2014/main" id="{0FA34E7E-B42D-6408-96B6-2955D959BA3D}"/>
              </a:ext>
            </a:extLst>
          </p:cNvPr>
          <p:cNvSpPr/>
          <p:nvPr/>
        </p:nvSpPr>
        <p:spPr>
          <a:xfrm>
            <a:off x="4727448" y="2130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Analysis</a:t>
            </a:r>
            <a:endParaRPr lang="en-US" sz="1000" dirty="0"/>
          </a:p>
        </p:txBody>
      </p:sp>
      <p:sp>
        <p:nvSpPr>
          <p:cNvPr id="103" name="Text 39">
            <a:extLst>
              <a:ext uri="{FF2B5EF4-FFF2-40B4-BE49-F238E27FC236}">
                <a16:creationId xmlns:a16="http://schemas.microsoft.com/office/drawing/2014/main" id="{83EEDE70-E5CF-091B-1B67-61297425AAA6}"/>
              </a:ext>
            </a:extLst>
          </p:cNvPr>
          <p:cNvSpPr/>
          <p:nvPr/>
        </p:nvSpPr>
        <p:spPr>
          <a:xfrm>
            <a:off x="4727448" y="23408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infrastructure fit assessments</a:t>
            </a:r>
            <a:endParaRPr lang="en-US" sz="850" dirty="0"/>
          </a:p>
        </p:txBody>
      </p:sp>
      <p:sp>
        <p:nvSpPr>
          <p:cNvPr id="104" name="Shape 40">
            <a:extLst>
              <a:ext uri="{FF2B5EF4-FFF2-40B4-BE49-F238E27FC236}">
                <a16:creationId xmlns:a16="http://schemas.microsoft.com/office/drawing/2014/main" id="{321FD0C7-6C75-A2DB-D7D3-6C5A6DD7455B}"/>
              </a:ext>
            </a:extLst>
          </p:cNvPr>
          <p:cNvSpPr/>
          <p:nvPr/>
        </p:nvSpPr>
        <p:spPr>
          <a:xfrm>
            <a:off x="6793992" y="2066544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Text 41">
            <a:extLst>
              <a:ext uri="{FF2B5EF4-FFF2-40B4-BE49-F238E27FC236}">
                <a16:creationId xmlns:a16="http://schemas.microsoft.com/office/drawing/2014/main" id="{3924DAE4-FD92-FB4E-1374-F311BBFD090E}"/>
              </a:ext>
            </a:extLst>
          </p:cNvPr>
          <p:cNvSpPr/>
          <p:nvPr/>
        </p:nvSpPr>
        <p:spPr>
          <a:xfrm>
            <a:off x="6903720" y="2130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Solutioning</a:t>
            </a:r>
            <a:endParaRPr lang="en-US" sz="1000" dirty="0"/>
          </a:p>
        </p:txBody>
      </p:sp>
      <p:sp>
        <p:nvSpPr>
          <p:cNvPr id="106" name="Text 42">
            <a:extLst>
              <a:ext uri="{FF2B5EF4-FFF2-40B4-BE49-F238E27FC236}">
                <a16:creationId xmlns:a16="http://schemas.microsoft.com/office/drawing/2014/main" id="{B9F4E15F-065D-F858-C0DB-9B6F5852504F}"/>
              </a:ext>
            </a:extLst>
          </p:cNvPr>
          <p:cNvSpPr/>
          <p:nvPr/>
        </p:nvSpPr>
        <p:spPr>
          <a:xfrm>
            <a:off x="6903720" y="234086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design with expert validation</a:t>
            </a:r>
            <a:endParaRPr lang="en-US" sz="850" dirty="0"/>
          </a:p>
        </p:txBody>
      </p:sp>
      <p:sp>
        <p:nvSpPr>
          <p:cNvPr id="107" name="Shape 43">
            <a:extLst>
              <a:ext uri="{FF2B5EF4-FFF2-40B4-BE49-F238E27FC236}">
                <a16:creationId xmlns:a16="http://schemas.microsoft.com/office/drawing/2014/main" id="{CE7623A0-E3B1-12C4-16EC-29035DE9D6CB}"/>
              </a:ext>
            </a:extLst>
          </p:cNvPr>
          <p:cNvSpPr/>
          <p:nvPr/>
        </p:nvSpPr>
        <p:spPr>
          <a:xfrm>
            <a:off x="4617720" y="2743200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" name="Text 44">
            <a:extLst>
              <a:ext uri="{FF2B5EF4-FFF2-40B4-BE49-F238E27FC236}">
                <a16:creationId xmlns:a16="http://schemas.microsoft.com/office/drawing/2014/main" id="{6E430709-2F10-9DDD-B9AF-106D60A0AD25}"/>
              </a:ext>
            </a:extLst>
          </p:cNvPr>
          <p:cNvSpPr/>
          <p:nvPr/>
        </p:nvSpPr>
        <p:spPr>
          <a:xfrm>
            <a:off x="4727448" y="2807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</a:t>
            </a:r>
            <a:endParaRPr lang="en-US" sz="1000" dirty="0"/>
          </a:p>
        </p:txBody>
      </p:sp>
      <p:sp>
        <p:nvSpPr>
          <p:cNvPr id="109" name="Text 45">
            <a:extLst>
              <a:ext uri="{FF2B5EF4-FFF2-40B4-BE49-F238E27FC236}">
                <a16:creationId xmlns:a16="http://schemas.microsoft.com/office/drawing/2014/main" id="{E0682A4B-9AEE-644D-2344-2180612C63FB}"/>
              </a:ext>
            </a:extLst>
          </p:cNvPr>
          <p:cNvSpPr/>
          <p:nvPr/>
        </p:nvSpPr>
        <p:spPr>
          <a:xfrm>
            <a:off x="4727448" y="30175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strategy against competitors</a:t>
            </a:r>
            <a:endParaRPr lang="en-US" sz="850" dirty="0"/>
          </a:p>
        </p:txBody>
      </p:sp>
      <p:sp>
        <p:nvSpPr>
          <p:cNvPr id="110" name="Shape 46">
            <a:extLst>
              <a:ext uri="{FF2B5EF4-FFF2-40B4-BE49-F238E27FC236}">
                <a16:creationId xmlns:a16="http://schemas.microsoft.com/office/drawing/2014/main" id="{E315B45A-6ADE-DC73-9F45-477CA5BAC024}"/>
              </a:ext>
            </a:extLst>
          </p:cNvPr>
          <p:cNvSpPr/>
          <p:nvPr/>
        </p:nvSpPr>
        <p:spPr>
          <a:xfrm>
            <a:off x="6793992" y="2743200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Text 47">
            <a:extLst>
              <a:ext uri="{FF2B5EF4-FFF2-40B4-BE49-F238E27FC236}">
                <a16:creationId xmlns:a16="http://schemas.microsoft.com/office/drawing/2014/main" id="{C5F43BC5-93C0-A8D2-B5E0-B3F149A2F806}"/>
              </a:ext>
            </a:extLst>
          </p:cNvPr>
          <p:cNvSpPr/>
          <p:nvPr/>
        </p:nvSpPr>
        <p:spPr>
          <a:xfrm>
            <a:off x="6903720" y="280720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Roadmap</a:t>
            </a:r>
            <a:endParaRPr lang="en-US" sz="1000" dirty="0"/>
          </a:p>
        </p:txBody>
      </p:sp>
      <p:sp>
        <p:nvSpPr>
          <p:cNvPr id="112" name="Text 48">
            <a:extLst>
              <a:ext uri="{FF2B5EF4-FFF2-40B4-BE49-F238E27FC236}">
                <a16:creationId xmlns:a16="http://schemas.microsoft.com/office/drawing/2014/main" id="{51B3A115-7962-31AC-CAF7-813C7298634F}"/>
              </a:ext>
            </a:extLst>
          </p:cNvPr>
          <p:cNvSpPr/>
          <p:nvPr/>
        </p:nvSpPr>
        <p:spPr>
          <a:xfrm>
            <a:off x="6903720" y="30175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updates shared with stakeholders</a:t>
            </a:r>
            <a:endParaRPr lang="en-US" sz="850" dirty="0"/>
          </a:p>
        </p:txBody>
      </p:sp>
      <p:sp>
        <p:nvSpPr>
          <p:cNvPr id="113" name="Shape 49">
            <a:extLst>
              <a:ext uri="{FF2B5EF4-FFF2-40B4-BE49-F238E27FC236}">
                <a16:creationId xmlns:a16="http://schemas.microsoft.com/office/drawing/2014/main" id="{DCBDC175-5115-C79E-50A5-FF126BF58DDF}"/>
              </a:ext>
            </a:extLst>
          </p:cNvPr>
          <p:cNvSpPr/>
          <p:nvPr/>
        </p:nvSpPr>
        <p:spPr>
          <a:xfrm>
            <a:off x="4617720" y="3419856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98B146D9-B007-AC57-A52B-2791D41C4036}"/>
              </a:ext>
            </a:extLst>
          </p:cNvPr>
          <p:cNvSpPr/>
          <p:nvPr/>
        </p:nvSpPr>
        <p:spPr>
          <a:xfrm>
            <a:off x="4727448" y="348386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Enablement</a:t>
            </a:r>
            <a:endParaRPr lang="en-US" sz="1000" dirty="0"/>
          </a:p>
        </p:txBody>
      </p:sp>
      <p:sp>
        <p:nvSpPr>
          <p:cNvPr id="115" name="Text 51">
            <a:extLst>
              <a:ext uri="{FF2B5EF4-FFF2-40B4-BE49-F238E27FC236}">
                <a16:creationId xmlns:a16="http://schemas.microsoft.com/office/drawing/2014/main" id="{62E9F4EC-3748-6BF0-8D88-59FD39A8B230}"/>
              </a:ext>
            </a:extLst>
          </p:cNvPr>
          <p:cNvSpPr/>
          <p:nvPr/>
        </p:nvSpPr>
        <p:spPr>
          <a:xfrm>
            <a:off x="4727448" y="369417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tools to empower partners</a:t>
            </a:r>
            <a:endParaRPr lang="en-US" sz="850" dirty="0"/>
          </a:p>
        </p:txBody>
      </p:sp>
      <p:sp>
        <p:nvSpPr>
          <p:cNvPr id="116" name="Shape 52">
            <a:extLst>
              <a:ext uri="{FF2B5EF4-FFF2-40B4-BE49-F238E27FC236}">
                <a16:creationId xmlns:a16="http://schemas.microsoft.com/office/drawing/2014/main" id="{0EC1B4B7-8E04-D3BC-C644-88C6E46358CD}"/>
              </a:ext>
            </a:extLst>
          </p:cNvPr>
          <p:cNvSpPr/>
          <p:nvPr/>
        </p:nvSpPr>
        <p:spPr>
          <a:xfrm>
            <a:off x="6793992" y="3419856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7" name="Text 53">
            <a:extLst>
              <a:ext uri="{FF2B5EF4-FFF2-40B4-BE49-F238E27FC236}">
                <a16:creationId xmlns:a16="http://schemas.microsoft.com/office/drawing/2014/main" id="{3E54D21D-B671-BF91-B196-69B588854E68}"/>
              </a:ext>
            </a:extLst>
          </p:cNvPr>
          <p:cNvSpPr/>
          <p:nvPr/>
        </p:nvSpPr>
        <p:spPr>
          <a:xfrm>
            <a:off x="6903720" y="348386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Enablement</a:t>
            </a:r>
            <a:endParaRPr lang="en-US" sz="1000" dirty="0"/>
          </a:p>
        </p:txBody>
      </p:sp>
      <p:sp>
        <p:nvSpPr>
          <p:cNvPr id="118" name="Text 54">
            <a:extLst>
              <a:ext uri="{FF2B5EF4-FFF2-40B4-BE49-F238E27FC236}">
                <a16:creationId xmlns:a16="http://schemas.microsoft.com/office/drawing/2014/main" id="{729E190E-6E30-BB45-9EF2-AF881698D23E}"/>
              </a:ext>
            </a:extLst>
          </p:cNvPr>
          <p:cNvSpPr/>
          <p:nvPr/>
        </p:nvSpPr>
        <p:spPr>
          <a:xfrm>
            <a:off x="6903720" y="369417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sessions to upskill internal teams</a:t>
            </a:r>
            <a:endParaRPr lang="en-US" sz="850" dirty="0"/>
          </a:p>
        </p:txBody>
      </p:sp>
      <p:sp>
        <p:nvSpPr>
          <p:cNvPr id="119" name="Shape 55">
            <a:extLst>
              <a:ext uri="{FF2B5EF4-FFF2-40B4-BE49-F238E27FC236}">
                <a16:creationId xmlns:a16="http://schemas.microsoft.com/office/drawing/2014/main" id="{2E8223D3-7017-80B4-48C9-1546AAA57C1B}"/>
              </a:ext>
            </a:extLst>
          </p:cNvPr>
          <p:cNvSpPr/>
          <p:nvPr/>
        </p:nvSpPr>
        <p:spPr>
          <a:xfrm>
            <a:off x="4617720" y="4096512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0" name="Text 56">
            <a:extLst>
              <a:ext uri="{FF2B5EF4-FFF2-40B4-BE49-F238E27FC236}">
                <a16:creationId xmlns:a16="http://schemas.microsoft.com/office/drawing/2014/main" id="{0CD117CB-C3E6-E0BF-AA70-ADA5B51FB0FD}"/>
              </a:ext>
            </a:extLst>
          </p:cNvPr>
          <p:cNvSpPr/>
          <p:nvPr/>
        </p:nvSpPr>
        <p:spPr>
          <a:xfrm>
            <a:off x="4727448" y="4160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1000" dirty="0"/>
          </a:p>
        </p:txBody>
      </p:sp>
      <p:sp>
        <p:nvSpPr>
          <p:cNvPr id="121" name="Text 57">
            <a:extLst>
              <a:ext uri="{FF2B5EF4-FFF2-40B4-BE49-F238E27FC236}">
                <a16:creationId xmlns:a16="http://schemas.microsoft.com/office/drawing/2014/main" id="{93E3D36A-DD56-B683-8231-F3D00CF8C52F}"/>
              </a:ext>
            </a:extLst>
          </p:cNvPr>
          <p:cNvSpPr/>
          <p:nvPr/>
        </p:nvSpPr>
        <p:spPr>
          <a:xfrm>
            <a:off x="4727448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Optimal solution based on the requirement</a:t>
            </a:r>
            <a:endParaRPr lang="en-US" sz="850" dirty="0"/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2B556C9F-60DB-E5AA-5EA9-F9EAE9FAB770}"/>
              </a:ext>
            </a:extLst>
          </p:cNvPr>
          <p:cNvSpPr/>
          <p:nvPr/>
        </p:nvSpPr>
        <p:spPr>
          <a:xfrm>
            <a:off x="6793992" y="4096512"/>
            <a:ext cx="20299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3" name="Text 59">
            <a:extLst>
              <a:ext uri="{FF2B5EF4-FFF2-40B4-BE49-F238E27FC236}">
                <a16:creationId xmlns:a16="http://schemas.microsoft.com/office/drawing/2014/main" id="{653E9C47-F011-3DE6-126B-068475AD2970}"/>
              </a:ext>
            </a:extLst>
          </p:cNvPr>
          <p:cNvSpPr/>
          <p:nvPr/>
        </p:nvSpPr>
        <p:spPr>
          <a:xfrm>
            <a:off x="6903720" y="4160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Consultative Convos</a:t>
            </a:r>
            <a:endParaRPr lang="en-US" sz="1000" dirty="0"/>
          </a:p>
        </p:txBody>
      </p:sp>
      <p:sp>
        <p:nvSpPr>
          <p:cNvPr id="124" name="Text 60">
            <a:extLst>
              <a:ext uri="{FF2B5EF4-FFF2-40B4-BE49-F238E27FC236}">
                <a16:creationId xmlns:a16="http://schemas.microsoft.com/office/drawing/2014/main" id="{76A77FE9-5E8E-8CF9-7C79-54007BB688B7}"/>
              </a:ext>
            </a:extLst>
          </p:cNvPr>
          <p:cNvSpPr/>
          <p:nvPr/>
        </p:nvSpPr>
        <p:spPr>
          <a:xfrm>
            <a:off x="6903720" y="437083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technology with business outcomes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1035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334</Words>
  <Application>Microsoft Office PowerPoint</Application>
  <PresentationFormat>On-screen Show (16:9)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Abadi</vt:lpstr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Ranjeeth B – Introduction</dc:title>
  <dc:subject>PptxGenJS Presentation</dc:subject>
  <dc:creator>PptxGenJS</dc:creator>
  <cp:lastModifiedBy>B, Ranjeeth</cp:lastModifiedBy>
  <cp:revision>3</cp:revision>
  <dcterms:created xsi:type="dcterms:W3CDTF">2026-06-18T04:21:22Z</dcterms:created>
  <dcterms:modified xsi:type="dcterms:W3CDTF">2026-06-18T05:10:00Z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2026-06-18T04:34:56Z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747e1605-7187-40af-a200-274971fbf5e9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