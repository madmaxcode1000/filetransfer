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E42"/>
          </a:solidFill>
          <a:ln/>
        </p:spPr>
      </p:sp>
      <p:sp>
        <p:nvSpPr>
          <p:cNvPr id="3" name="Shape 1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0076C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3108960"/>
            <a:ext cx="3840480" cy="3840480"/>
          </a:xfrm>
          <a:prstGeom prst="ellipse">
            <a:avLst/>
          </a:prstGeom>
          <a:solidFill>
            <a:srgbClr val="0076CE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0076C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422" y="1090422"/>
            <a:ext cx="653796" cy="6537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060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Proxmox VE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201-Level Hypervisor Briefing for Dell PowerEdge Environments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[Customer Name]   |   Presented by: [Your Name / Dell Team]   | 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73936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0020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Proxmox VE?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245864" y="167335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448" y="1773936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67656" y="160020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Core Architecture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943088" y="167335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672" y="1773936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64880" y="160020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Compute &amp; Clustering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272491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825496"/>
            <a:ext cx="301752" cy="3017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265176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Storage Options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4245864" y="272491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448" y="2825496"/>
            <a:ext cx="301752" cy="301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67656" y="265176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Networking (SDN)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7943088" y="272491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672" y="2825496"/>
            <a:ext cx="301752" cy="3017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64880" y="265176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Backup &amp; Disaster Recovery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548640" y="377647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877056"/>
            <a:ext cx="301752" cy="30175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70432" y="370332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Security &amp; Access Control</a:t>
            </a:r>
            <a:endParaRPr lang="en-US" sz="1450" dirty="0"/>
          </a:p>
        </p:txBody>
      </p:sp>
      <p:sp>
        <p:nvSpPr>
          <p:cNvPr id="25" name="Shape 16"/>
          <p:cNvSpPr/>
          <p:nvPr/>
        </p:nvSpPr>
        <p:spPr>
          <a:xfrm>
            <a:off x="4245864" y="377647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6448" y="3877056"/>
            <a:ext cx="301752" cy="30175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867656" y="370332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Management &amp; Automation</a:t>
            </a:r>
            <a:endParaRPr lang="en-US" sz="1450" dirty="0"/>
          </a:p>
        </p:txBody>
      </p:sp>
      <p:sp>
        <p:nvSpPr>
          <p:cNvPr id="28" name="Shape 18"/>
          <p:cNvSpPr/>
          <p:nvPr/>
        </p:nvSpPr>
        <p:spPr>
          <a:xfrm>
            <a:off x="7943088" y="377647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3672" y="3877056"/>
            <a:ext cx="301752" cy="30175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564880" y="370332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Proxmox on PowerEdge</a:t>
            </a:r>
            <a:endParaRPr lang="en-US" sz="1450" dirty="0"/>
          </a:p>
        </p:txBody>
      </p:sp>
      <p:sp>
        <p:nvSpPr>
          <p:cNvPr id="31" name="Shape 20"/>
          <p:cNvSpPr/>
          <p:nvPr/>
        </p:nvSpPr>
        <p:spPr>
          <a:xfrm>
            <a:off x="548640" y="482803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" y="4928616"/>
            <a:ext cx="301752" cy="30175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170432" y="475488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Advantages of Proxmox</a:t>
            </a:r>
            <a:endParaRPr lang="en-US" sz="1450" dirty="0"/>
          </a:p>
        </p:txBody>
      </p:sp>
      <p:sp>
        <p:nvSpPr>
          <p:cNvPr id="34" name="Shape 22"/>
          <p:cNvSpPr/>
          <p:nvPr/>
        </p:nvSpPr>
        <p:spPr>
          <a:xfrm>
            <a:off x="4245864" y="482803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6448" y="4928616"/>
            <a:ext cx="301752" cy="301752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867656" y="475488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Proxmox vs. VMware</a:t>
            </a:r>
            <a:endParaRPr lang="en-US" sz="1450" dirty="0"/>
          </a:p>
        </p:txBody>
      </p:sp>
      <p:sp>
        <p:nvSpPr>
          <p:cNvPr id="37" name="Shape 24"/>
          <p:cNvSpPr/>
          <p:nvPr/>
        </p:nvSpPr>
        <p:spPr>
          <a:xfrm>
            <a:off x="7943088" y="4828032"/>
            <a:ext cx="502920" cy="50292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3672" y="4928616"/>
            <a:ext cx="301752" cy="30175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564880" y="475488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Recommended Next Steps</a:t>
            </a:r>
            <a:endParaRPr lang="en-US" sz="1450" dirty="0"/>
          </a:p>
        </p:txBody>
      </p:sp>
      <p:sp>
        <p:nvSpPr>
          <p:cNvPr id="40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41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Proxmox VE?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virtualization platform built on Debian Linux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Virtual Environment (VE) is a complete server virtualization management platform that combines two virtualization technologies under a single web-based interface: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(Kernel-based Virtual Machine) — full hardware virtualization for Windows, Linux, and other guest OSes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 (Linux Containers) — lightweight, OS-level virtualization for Linux workloads</a:t>
            </a:r>
            <a:endParaRPr lang="en-US" sz="13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Debian Linux, open-sourced under AGPLv3, developed by Proxmox Server Solutions GmbH (Austria)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0" y="1554480"/>
            <a:ext cx="50292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16642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6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95360" y="166420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697480"/>
            <a:ext cx="50292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28072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6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AGPLv3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95360" y="280720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license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840480"/>
            <a:ext cx="50292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39502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6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Debian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95360" y="395020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base 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4983480"/>
            <a:ext cx="502920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50932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6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KVM + LXC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95360" y="509320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virtualization engines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Proxmox VE is structured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42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63624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 / API / CLI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852160" y="1563624"/>
            <a:ext cx="5577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layer — REST API, pvesh CLI, mobile app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0545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0487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Config (pmxcfs)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852160" y="2404872"/>
            <a:ext cx="5577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cluster-wide filesystem keeps config in sync across nodes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91256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46704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4612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Hypervisor + LXC Engine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852160" y="3246120"/>
            <a:ext cx="5577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VM virtualization (KVM/QEMU) and lightweight containers (LXC)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03250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87952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08736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Linux Kernel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852160" y="4087368"/>
            <a:ext cx="5577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 Linux kernel — broad hardware/driver compatibility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873752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41E42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29200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492861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PowerEdge Hardware (CPU, RAM, NICs, Storage)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852160" y="4928616"/>
            <a:ext cx="5577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standard x86 server hardware — no proprietary kernel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 Clustering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and live workload mobility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728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85577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Clustering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up to dozens of PowerEdge nodes into a single managed cluster via the corosync protocol.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7784" y="15544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1520" y="1728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079" y="185577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6384" y="2423160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6384" y="278892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running VMs between nodes with zero downtime, including local-disk migration.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6928" y="15544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0664" y="1728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223" y="1855775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5528" y="2423160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(HA)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5528" y="278892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VM/container restart on a healthy node if a PowerEdge host fails, using fencing &amp; quorum.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39227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35" y="4050335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17720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Scheduling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98348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CPU/RAM limits, NUMA awareness, and resource pools for multi-tenant or departmental workloads.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67784" y="374904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1520" y="39227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079" y="4050335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6384" y="4617720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Workloads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6384" y="498348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VMs and containers side-by-side on the same cluster for maximum density.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86928" y="374904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0664" y="39227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223" y="4050335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5528" y="4617720"/>
            <a:ext cx="2996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Resource Monitoring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15528" y="4983480"/>
            <a:ext cx="2996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graphs for CPU, memory, disk I/O, and network — no separate tool required.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Options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storage backends, from single-node to distributed HA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64792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0934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 (local or replicated)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609344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compression, checksumming, RAID-Z; needs direct disk access (HBA/IT mode, not hardware RAID)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24912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6946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(hyper-converged)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2569464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self-healing storage across cluster nodes — Proxmox's answer to vSAN; needs 3+ nodes and 10GbE+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85032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52958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/ LVM-Thin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3529584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local or shared-block storage for traditional SAN/iSCSI attached PowerEdge storage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45152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48970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/ CIFS / iSCSI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46320" y="4489704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network storage protocols for shared datastores and ISO/template repositories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12700">
            <a:solidFill>
              <a:srgbClr val="E1E8E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605272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544982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/ Local Disk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46320" y="5449824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local storage for templates, backups, and ISO images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(SDN)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bridges to full software-defined networking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792224"/>
            <a:ext cx="621792" cy="621792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93212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Bridges &amp; Bonds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143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bridged networking with NIC bonding/LACP for redundancy across PowerEdge NDC/rNDC ports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60020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9380" y="1792224"/>
            <a:ext cx="621792" cy="621792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283" y="193212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37476" y="180136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1676" y="2560320"/>
            <a:ext cx="48143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802.1Q VLAN tagging per VM/container, integrated with physical switch fabric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4261104"/>
            <a:ext cx="621792" cy="621792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440100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7024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Networking (SDN)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8143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zones, VXLAN overlays, and EVPN for multi-tenant or multi-site topologies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7356" y="406908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9380" y="4261104"/>
            <a:ext cx="621792" cy="621792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4401007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37476" y="427024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(per-VM &amp; cluster-wide)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1676" y="5029200"/>
            <a:ext cx="48143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firewall rules at the datacenter, node, and individual VM/container level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Disaster Recovery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 protection — no third-party agent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F4F8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965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1963674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91640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Backup Server (PBS)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0" y="1691640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backup appliance with incremental, deduplicated, encrypted backups at the block level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F4F8FB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05409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" y="3198114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26080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Snapshot-based Backups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0" y="2926080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crash-consistent or application-consistent backups with QEMU Guest Agent integration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F4F8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8853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4432554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60520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Replication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486400" y="4160520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ZFS-based replication between cluster nodes for fast local failover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303520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F4F8FB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52297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5666994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394960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Backup Targets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486400" y="5394960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disk, NFS, S3-compatible object storage, or tape (via PBS) for offsite/long-term retention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identity, isolation, and auditability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728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85577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permissions by user, group, pool, or API token, mapped to datacenter/node/VM scope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7784" y="15544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1520" y="1728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079" y="185577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6384" y="242316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Integration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6384" y="288036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users, LDAP, Active Directory, and OpenID Connect for SSO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86928" y="15544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0664" y="1728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223" y="1855775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5528" y="242316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15528" y="288036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TOTP, WebAuthn/FIDO2, and Yubikey OTP support at login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39227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35" y="4050335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1772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VM/Container Isolation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07492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hardware-level isolation; unprivileged LXC containers for additional hardening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7784" y="374904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1520" y="39227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079" y="4050335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6384" y="461772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96384" y="507492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task and access logs across the cluster for compliance and troubleshooting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86928" y="374904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0664" y="39227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223" y="4050335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5528" y="461772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15528" y="507492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Per-VM firewall + VLAN/SDN isolation to enforce zero-trust network zones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&amp; Automation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at the console, via API, or fully as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792224"/>
            <a:ext cx="621792" cy="621792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93212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143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cluster management from a single browser-based console — no separate vCenter-equivalent VM required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60020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9380" y="1792224"/>
            <a:ext cx="621792" cy="621792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283" y="193212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37476" y="180136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1676" y="2560320"/>
            <a:ext cx="48143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REST API covering every GUI action — used for automation, monitoring integrations, and custom tooling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4261104"/>
            <a:ext cx="621792" cy="621792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440100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7024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/ CLI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8143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mobile app for on-the-go monitoring; pvesh, qm, and pct CLI tools for scripting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7356" y="406908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9380" y="4261104"/>
            <a:ext cx="621792" cy="621792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4401007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37476" y="4270248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Integration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1676" y="5029200"/>
            <a:ext cx="48143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and Ansible providers for infrastructure-as-code provisioning and configuration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Proxmox VE on Dell PowerEdge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validate before deployment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2496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600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iDRAC integration works out of the box — no special build needed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57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231343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 Linux kernel gives broad NIC/chipset driver support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302666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well on 14G, 15G, and 16G PowerEdge platforms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22192"/>
            <a:ext cx="329184" cy="3291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373989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ZFS/Ceph prefer direct disk access — set PERC to HBA/IT mode rather than hardware RAID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35424"/>
            <a:ext cx="329184" cy="32918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445312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Dell-published HCL for Proxmox (community-vetted, not vendor-certified)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48656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1560" y="51663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firmware/driver versions per generation before production cutover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-1645920"/>
            <a:ext cx="5029200" cy="5029200"/>
          </a:xfrm>
          <a:prstGeom prst="ellipse">
            <a:avLst/>
          </a:prstGeom>
          <a:solidFill>
            <a:srgbClr val="0076C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Proxmox 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are evaluating it as their next hypervisor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1773936"/>
            <a:ext cx="566928" cy="566928"/>
          </a:xfrm>
          <a:prstGeom prst="ellipse">
            <a:avLst/>
          </a:prstGeom>
          <a:solidFill>
            <a:srgbClr val="0076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901495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46888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Lower-Cost Licensing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Community Edition or simple per-CPU subscription tiers — no forced bundling or per-core minimums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67784" y="160020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4541520" y="1773936"/>
            <a:ext cx="566928" cy="566928"/>
          </a:xfrm>
          <a:prstGeom prst="ellipse">
            <a:avLst/>
          </a:prstGeom>
          <a:solidFill>
            <a:srgbClr val="0076C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079" y="1901495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6384" y="246888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+ Containers, One Platform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96384" y="292608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LXC containers alongside full KVM VMs reduce sprawl and improve density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86928" y="160020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0664" y="1773936"/>
            <a:ext cx="566928" cy="566928"/>
          </a:xfrm>
          <a:prstGeom prst="ellipse">
            <a:avLst/>
          </a:prstGeom>
          <a:solidFill>
            <a:srgbClr val="0076C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223" y="1901495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5528" y="246888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15528" y="292608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Debian/Linux base means no vendor lock-in, full API access, and a transparent roadmap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ln/>
        </p:spPr>
      </p:sp>
      <p:sp>
        <p:nvSpPr>
          <p:cNvPr id="21" name="Shape 16"/>
          <p:cNvSpPr/>
          <p:nvPr/>
        </p:nvSpPr>
        <p:spPr>
          <a:xfrm>
            <a:off x="722376" y="3968496"/>
            <a:ext cx="566928" cy="566928"/>
          </a:xfrm>
          <a:prstGeom prst="ellipse">
            <a:avLst/>
          </a:prstGeom>
          <a:solidFill>
            <a:srgbClr val="0076C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35" y="4096055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66344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Backup (PBS)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512064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dedup/incremental backup included — no separate backup-vendor licensing required to start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67784" y="379476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ln/>
        </p:spPr>
      </p:sp>
      <p:sp>
        <p:nvSpPr>
          <p:cNvPr id="26" name="Shape 20"/>
          <p:cNvSpPr/>
          <p:nvPr/>
        </p:nvSpPr>
        <p:spPr>
          <a:xfrm>
            <a:off x="4541520" y="3968496"/>
            <a:ext cx="566928" cy="566928"/>
          </a:xfrm>
          <a:prstGeom prst="ellipse">
            <a:avLst/>
          </a:prstGeom>
          <a:solidFill>
            <a:srgbClr val="0076C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079" y="4096055"/>
            <a:ext cx="311810" cy="31181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6384" y="466344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Open-Source Community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96384" y="512064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development, public bug tracker, and a large self-help community alongside paid support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86928" y="379476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0B2A4A"/>
          </a:solidFill>
          <a:ln/>
        </p:spPr>
      </p:sp>
      <p:sp>
        <p:nvSpPr>
          <p:cNvPr id="31" name="Shape 24"/>
          <p:cNvSpPr/>
          <p:nvPr/>
        </p:nvSpPr>
        <p:spPr>
          <a:xfrm>
            <a:off x="8360664" y="3968496"/>
            <a:ext cx="566928" cy="566928"/>
          </a:xfrm>
          <a:prstGeom prst="ellipse">
            <a:avLst/>
          </a:prstGeom>
          <a:solidFill>
            <a:srgbClr val="0076C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223" y="4096055"/>
            <a:ext cx="311810" cy="31181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15528" y="4663440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Ecosystem Momentum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415528" y="512064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enterprise adoption post-VMware licensing changes, with growing third-party (Veeam, etc.) support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Proxmox VE vs. VMware vSphere/ESXi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for evaluation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solidFill>
            <a:srgbClr val="041E4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51960" y="15544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0" y="15544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vSphere/ESXi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530352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574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205740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CE or flat-rate subscription; no core minimums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20574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Per-core, bundled VCF licensing post-Broadcom changes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8775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258775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(KVM on Linux kernel)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5877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(bare-metal ESXi)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11064240" cy="530352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1810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51960" y="311810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LXC support built 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31181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separate Tanzu/Kubernetes layer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4845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364845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(hyper-converged, open-source)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364845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vSAN (mature, vendor-certified)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78808"/>
            <a:ext cx="11064240" cy="530352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7880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certification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417880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Community-vetted, no formal Dell HCL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17880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Dell/VMware joint HCL &amp; support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70916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51960" y="470916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Backup Server included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47091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Veeam/other (separate license)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39512"/>
            <a:ext cx="11064240" cy="530352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23951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maturity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51960" y="52395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rapidly, smaller than VMware's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523951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Largest, most mature 3rd-party ecosystem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769864"/>
            <a:ext cx="110642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76986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skillset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51960" y="576986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Linux-friendly teams ramp quickly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576986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VMware-certified talent pool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Briefing — PowerEdge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5486400" cy="5486400"/>
          </a:xfrm>
          <a:prstGeom prst="ellipse">
            <a:avLst/>
          </a:prstGeom>
          <a:solidFill>
            <a:srgbClr val="0076C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PowerEdge generation, PERC mode, and NIC models against Proxmox community compatibility notes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45059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proof-of-concept cluster (2-3 PowerEdge nodes) covering migration, HA failover, and backup/restore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36499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current VMware workloads and licensing spend against Proxmox subscription tiers for a cost comparison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27939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storage strategy: ZFS local/replicated vs. Ceph hyper-converged based on cluster size and growth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519379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technical deep-dive with Dell + Proxmox-experienced engineers for the production design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Proxmox VE Hypervisor Overview — PowerEdge</dc:title>
  <dc:subject>PptxGenJS Presentation</dc:subject>
  <dc:creator>Dell Technologies</dc:creator>
  <cp:lastModifiedBy>Dell Technologies</cp:lastModifiedBy>
  <cp:revision>1</cp:revision>
  <dcterms:created xsi:type="dcterms:W3CDTF">2026-06-30T14:21:39Z</dcterms:created>
  <dcterms:modified xsi:type="dcterms:W3CDTF">2026-06-30T14:21:39Z</dcterms:modified>
</cp:coreProperties>
</file>