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23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strong. Let the 5-day outage number land before moving to the next slide. The stats set the 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incident sequence first — credential compromise → snapshot delete → backup encrypt → 5-day tape restore. Then point to each component on the diagram that failed. Let the red borders tell the story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4 (EHR Object Storage) is the focus of this session. When presenting, spend more time here — connect it to the 10 PB cost objection and the HIPAA compliance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bridge slide. For each gap you diagnosed on Slide 3, there is a specific Everpure product answering it. Make sure you can explain WHY each product was chosen — not just that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strongest competitive differentiator. Be precise — PowerStore read-only is NOT the same as SafeMode firmware-level undeletability. Own this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EHR deep dive. Key points: 1) Always use compliance mode not governance for HIPAA. 2) Don't propose moving all 10 PB to flash — tier it. 3) Don't lead with DRR for pre-compressed imaging data — that's a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Mediator is FREE — emphasise this. It's a tiebreaker process in cloud, not a licensed product. ActiveCluster is separately licensed. ActiveDR is separately licensed. Know the commercial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Portworx is a storage platform, not a backup product. PX-Backup is the backup component — containerized, running as pods. Veeam cannot protect Kubernetes PVs at this level — this is a genuine gap in the existing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closing slide. Let the architecture speak first — then deliver the closing line with conviction. Pause before it. One sentence. Make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slide proactively — don't wait to be asked about concerns. Walking into trade-offs yourself builds credibility. The panel will respect that you know the limits of your own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89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value summary — connect every card back to a gap you diagnosed. Don't just list features. Say: 'HealthSure came in with a 5-day tape restore. They leave with zero viable attack paths to their recovery points.'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19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1828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06640" y="182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EVERPURE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HealthSure Insurance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Data Protection &amp; Ransomware-Resilient Architecture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DC7"/>
                </a:solidFill>
              </a:rPr>
              <a:t>Presented to: CIO  ·  CISO  ·  Head of IT Operations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4203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5-Day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720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DC7"/>
                </a:solidFill>
              </a:rPr>
              <a:t>Outage — Q2 Incident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54203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0604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10+ PB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60604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DC7"/>
                </a:solidFill>
              </a:rPr>
              <a:t>EHR at Risk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54203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5488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Zero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475488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DC7"/>
                </a:solidFill>
              </a:rPr>
              <a:t>RPO Target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90372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254203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0372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&lt;15 Min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690372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DC7"/>
                </a:solidFill>
              </a:rPr>
              <a:t>RTO Target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DC7"/>
                </a:solidFill>
              </a:rPr>
              <a:t>Ranjeeth B  |  Solutions Engineer, Everpure  |  branjeeth97@gmail.com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I Understood: Customer Challenges &amp; Current Environment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D1B2A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4980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749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The Incident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097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attack — credential compromise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metadata deleted first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catalog encrypted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tape restore — massive business impact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2212848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8600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286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What HealthSure Needs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7004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Zero RPO for Oracle claims processing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0837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RTO under 15 minutes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4670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3328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7–10 year EHR immutability (HIPAA)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685032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85800" y="3666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HIPAA &amp; ISO 27001 compliance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023360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8580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Insider &amp; credential attack protection</a:t>
            </a:r>
            <a:endParaRPr lang="en-US" sz="10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361688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85800" y="4343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Kubernetes workload protection (OpenShift)</a:t>
            </a:r>
            <a:endParaRPr lang="en-US" sz="1000" dirty="0"/>
          </a:p>
        </p:txBody>
      </p:sp>
      <p:sp>
        <p:nvSpPr>
          <p:cNvPr id="23" name="Shape 13"/>
          <p:cNvSpPr/>
          <p:nvPr/>
        </p:nvSpPr>
        <p:spPr>
          <a:xfrm>
            <a:off x="3749040" y="685800"/>
            <a:ext cx="2926080" cy="3931920"/>
          </a:xfrm>
          <a:prstGeom prst="roundRect">
            <a:avLst>
              <a:gd name="adj" fmla="val 3125"/>
            </a:avLst>
          </a:prstGeom>
          <a:solidFill>
            <a:srgbClr val="243B55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4"/>
          <p:cNvSpPr/>
          <p:nvPr/>
        </p:nvSpPr>
        <p:spPr>
          <a:xfrm>
            <a:off x="3840480" y="749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HYDERABAD DC  ⚠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3886200" y="107899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8EAD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1152144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206240" y="1097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VMware + OpenShift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3886200" y="15087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1581912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4206240" y="1527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DB → Block Storage</a:t>
            </a:r>
            <a:endParaRPr lang="en-US" sz="900" dirty="0"/>
          </a:p>
        </p:txBody>
      </p:sp>
      <p:sp>
        <p:nvSpPr>
          <p:cNvPr id="31" name="Text 19"/>
          <p:cNvSpPr/>
          <p:nvPr/>
        </p:nvSpPr>
        <p:spPr>
          <a:xfrm>
            <a:off x="4206240" y="17099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</a:rPr>
              <a:t>Snapshots deletable</a:t>
            </a:r>
            <a:endParaRPr lang="en-US" sz="800" dirty="0"/>
          </a:p>
        </p:txBody>
      </p:sp>
      <p:sp>
        <p:nvSpPr>
          <p:cNvPr id="32" name="Shape 20"/>
          <p:cNvSpPr/>
          <p:nvPr/>
        </p:nvSpPr>
        <p:spPr>
          <a:xfrm>
            <a:off x="3886200" y="199339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2066544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206240" y="2011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10+ PB EHR — S3 Object</a:t>
            </a:r>
            <a:endParaRPr lang="en-US" sz="900" dirty="0"/>
          </a:p>
        </p:txBody>
      </p:sp>
      <p:sp>
        <p:nvSpPr>
          <p:cNvPr id="35" name="Text 22"/>
          <p:cNvSpPr/>
          <p:nvPr/>
        </p:nvSpPr>
        <p:spPr>
          <a:xfrm>
            <a:off x="4206240" y="21945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</a:rPr>
              <a:t>No WORM / No Lock</a:t>
            </a:r>
            <a:endParaRPr lang="en-US" sz="800" dirty="0"/>
          </a:p>
        </p:txBody>
      </p:sp>
      <p:sp>
        <p:nvSpPr>
          <p:cNvPr id="36" name="Shape 23"/>
          <p:cNvSpPr/>
          <p:nvPr/>
        </p:nvSpPr>
        <p:spPr>
          <a:xfrm>
            <a:off x="3886200" y="2478024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2551176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4206240" y="2496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Legacy NAS (PostgreSQL)</a:t>
            </a:r>
            <a:endParaRPr lang="en-US" sz="900" dirty="0"/>
          </a:p>
        </p:txBody>
      </p:sp>
      <p:sp>
        <p:nvSpPr>
          <p:cNvPr id="39" name="Text 25"/>
          <p:cNvSpPr/>
          <p:nvPr/>
        </p:nvSpPr>
        <p:spPr>
          <a:xfrm>
            <a:off x="4206240" y="2679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</a:rPr>
              <a:t>No immutability</a:t>
            </a:r>
            <a:endParaRPr lang="en-US" sz="800" dirty="0"/>
          </a:p>
        </p:txBody>
      </p:sp>
      <p:sp>
        <p:nvSpPr>
          <p:cNvPr id="40" name="Shape 26"/>
          <p:cNvSpPr/>
          <p:nvPr/>
        </p:nvSpPr>
        <p:spPr>
          <a:xfrm>
            <a:off x="3886200" y="2962656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3035808"/>
            <a:ext cx="201168" cy="20116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206240" y="29809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Backup Server (Veeam)</a:t>
            </a:r>
            <a:endParaRPr lang="en-US" sz="900" dirty="0"/>
          </a:p>
        </p:txBody>
      </p:sp>
      <p:sp>
        <p:nvSpPr>
          <p:cNvPr id="43" name="Text 28"/>
          <p:cNvSpPr/>
          <p:nvPr/>
        </p:nvSpPr>
        <p:spPr>
          <a:xfrm>
            <a:off x="4206240" y="31638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</a:rPr>
              <a:t>On production network</a:t>
            </a:r>
            <a:endParaRPr lang="en-US" sz="800" dirty="0"/>
          </a:p>
        </p:txBody>
      </p:sp>
      <p:sp>
        <p:nvSpPr>
          <p:cNvPr id="44" name="Text 29"/>
          <p:cNvSpPr/>
          <p:nvPr/>
        </p:nvSpPr>
        <p:spPr>
          <a:xfrm>
            <a:off x="3749040" y="34198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</a:rPr>
              <a:t>⚠ No Quorum Arbiter — Split-brain risk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6812280" y="68580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243B55"/>
          </a:solidFill>
          <a:ln w="19050">
            <a:solidFill>
              <a:srgbClr val="E63946"/>
            </a:solidFill>
            <a:prstDash val="dash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31"/>
          <p:cNvSpPr/>
          <p:nvPr/>
        </p:nvSpPr>
        <p:spPr>
          <a:xfrm>
            <a:off x="6903720" y="758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PUNE DC  ⚠</a:t>
            </a:r>
            <a:endParaRPr lang="en-US" sz="1000" dirty="0"/>
          </a:p>
        </p:txBody>
      </p:sp>
      <p:sp>
        <p:nvSpPr>
          <p:cNvPr id="47" name="Text 32"/>
          <p:cNvSpPr/>
          <p:nvPr/>
        </p:nvSpPr>
        <p:spPr>
          <a:xfrm>
            <a:off x="6903720" y="10515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Cold Standby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Never Tested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RTO = Days</a:t>
            </a:r>
            <a:endParaRPr lang="en-US" sz="1000" dirty="0"/>
          </a:p>
        </p:txBody>
      </p:sp>
      <p:sp>
        <p:nvSpPr>
          <p:cNvPr id="48" name="Shape 33"/>
          <p:cNvSpPr/>
          <p:nvPr/>
        </p:nvSpPr>
        <p:spPr>
          <a:xfrm>
            <a:off x="6693408" y="1371600"/>
            <a:ext cx="118872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34"/>
          <p:cNvSpPr/>
          <p:nvPr/>
        </p:nvSpPr>
        <p:spPr>
          <a:xfrm>
            <a:off x="6812280" y="23317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3D000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5"/>
          <p:cNvSpPr/>
          <p:nvPr/>
        </p:nvSpPr>
        <p:spPr>
          <a:xfrm>
            <a:off x="6858000" y="2377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</a:rPr>
              <a:t>Tape Restore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</a:rPr>
              <a:t>5-Day Outage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</a:rPr>
              <a:t>Claims Halted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Gaps Identified — Where the Architecture Failed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740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Snapshot Immutability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9966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Snapshot metadata was soft-deleted by attacker. No firmware-level protection. Admin credentials were enough to destroy recovery points.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6550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Backup Separation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9110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Veeam catalog server sat on the same network as production. Encrypted alongside primary data — the recovery tool became part of the attack surface.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25694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DR Readiness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28254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Cold standby at Pune, never tested. RTO of &lt;15 minutes is impossible. A standby that is never tested is not DR — it is a hope.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6301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4838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EHR Object 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7398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10+ PB of EHR on S3-compatible storage with no WORM and no Object Lock. 7–10 year retention requirement unmet. HIPAA compliance gap.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6858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8869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84648" y="740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Kubernetes Protection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84648" y="9966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PostgreSQL and stateful apps on OpenShift unprotected. Veeam does not natively protect Kubernetes Persistent Volumes at this depth.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6002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18013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84648" y="16550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Credential Controls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84648" y="19110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No out-of-band authentication to modify or destroy protection policies. One compromised account was enough to dismantle all snapshots.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5146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84648" y="25694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Two Sites Only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84648" y="28254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Hyderabad and Pune only. No quorum arbiter for tiebreaker decisions. Split-brain risk on failover with no clean resolution mechanism.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Everpure Fills Each Gap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Snapshot Immutability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80360" y="91440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54680" y="749808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658368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6766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FlashArray//XL + SafeMode Snapshots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91440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Firmware-level — not deletable even with admin credentials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289304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28930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Backup Separation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1545336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1380744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128930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13075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SafeMode — separate auth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154533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Out-of-band PIN required to modify any protection policy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192024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DR Readiness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80360" y="2176272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54680" y="2011680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29000" y="1920240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20440" y="19385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ActiveCluster + ActiveDR + Pure Mediator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21762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Zero RPO sync replication · RTO &lt;15 min · Free cloud arbiter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551176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255117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EHR Object Storage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0360" y="2807208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54680" y="2642616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29000" y="2551176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20440" y="2569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FlashBlade//S3 with Object Lock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28072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Compliance mode WORM — nobody can delete until retention expires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182112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318211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Kubernetes Protection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80360" y="3438144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54680" y="3273552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429000" y="3182112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20440" y="320040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Portworx Enterprise + PX-Backup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20440" y="34381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K8s-native storage · PX-Backup protects PVs inside OpenShift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813048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38130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Credential Controls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80360" y="406908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54680" y="3904488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429000" y="3813048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20440" y="383133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SafeMode Admin Separation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20440" y="406908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Multi-factor, out-of-band — credential compromise cannot reach snapshots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443984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040" y="444398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Two Sites Only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880360" y="4700016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154680" y="4535424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429000" y="444398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520440" y="446227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Pure Mediator (Cloud Tiebreaker)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520440" y="470001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Free lightweight cloud process — clean failover, no split-brain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1 &amp; 6: Snapshot Immutability &amp; Credential Controls → SafeMode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1A2F4A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BEFORE — Existing Stack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11704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Snapshots stored as metadata on array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16276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Admin credentials can delete snapshots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0312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20848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Attacker deleted all recovery points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1520" y="25420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No secondary auth required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1752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31520" y="29992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Backup catalog on same network — encrypted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31520" y="34564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Result: Zero recovery options. 5-day tape restore.</a:t>
            </a:r>
            <a:endParaRPr lang="en-US" sz="1000" dirty="0"/>
          </a:p>
        </p:txBody>
      </p:sp>
      <p:sp>
        <p:nvSpPr>
          <p:cNvPr id="19" name="Shape 10"/>
          <p:cNvSpPr/>
          <p:nvPr/>
        </p:nvSpPr>
        <p:spPr>
          <a:xfrm>
            <a:off x="4572000" y="685800"/>
            <a:ext cx="4297680" cy="4114800"/>
          </a:xfrm>
          <a:prstGeom prst="roundRect">
            <a:avLst>
              <a:gd name="adj" fmla="val 2222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1"/>
          <p:cNvSpPr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AFTER — Everpure SafeMode</a:t>
            </a:r>
            <a:endParaRPr lang="en-US" sz="12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188720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4983480" y="1170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SafeMode snapshots stored at firmware level</a:t>
            </a:r>
            <a:endParaRPr lang="en-US" sz="10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645920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4983480" y="1627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Cannot be deleted — even by compromised admin</a:t>
            </a:r>
            <a:endParaRPr lang="en-US" sz="10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103120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4983480" y="20848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Separate out-of-band PIN to modify any policy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560320"/>
            <a:ext cx="201168" cy="201168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4983480" y="25420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Snapshots survive credential compromise</a:t>
            </a:r>
            <a:endParaRPr lang="en-US" sz="10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017520"/>
            <a:ext cx="201168" cy="201168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4983480" y="29992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Pure support cannot delete without PIN</a:t>
            </a:r>
            <a:endParaRPr lang="en-US" sz="10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474720"/>
            <a:ext cx="201168" cy="201168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4983480" y="3456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Result: Clean recovery in &lt;15 minutes.</a:t>
            </a:r>
            <a:endParaRPr lang="en-US" sz="1000" dirty="0"/>
          </a:p>
        </p:txBody>
      </p:sp>
      <p:sp>
        <p:nvSpPr>
          <p:cNvPr id="33" name="Shape 18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1A0000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vs Dell: PowerStore snapshots use read-only properties — an admin credential can still delete them. SafeMode is firmware-enforced — the attack path does not exist.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4: EHR Object Storage → FlashBlade//S3 with Object Lock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A000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The Problem: 10+ PB of EHR on legacy S3-compatible storage — no WORM, no Object Lock, no immutability. HIPAA requires 7–10 year retention. One compromised admin account can delete years of records.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1444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Object Lock: Two Modes — Only One Meets HIPAA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Governance Mode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148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Privileged users with special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permissions can override lock.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A compromised admin with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elevated access can still delete.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⚠ Not sufficient for HIPAA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880360" y="1783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7180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Compliance Mode  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971800" y="2148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Nobody can override — not root,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not storage admin, not Pure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support, not anyone.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Retention is in the object itself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at write time.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✓ Legally defensible for HIPAA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7784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Addressing the 10 PB Cost Objection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77840" y="1783080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69280" y="1810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Hot Tier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0" y="2039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Active EHR · Last 12 mo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FlashBlade //S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20391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Fast retrieval + Object Lock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577840" y="2359152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48CA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9280" y="2386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CAE4"/>
                </a:solidFill>
              </a:rPr>
              <a:t>Warm Tier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0" y="2615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1–3 years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58000" y="23865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FlashBlade //E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0" y="2615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Capacity-optimised flash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577840" y="2935224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669280" y="29626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Cold Tier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669280" y="3191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3–10 years, rare access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858000" y="29626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 Object/Cloud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58000" y="3191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Cost-effective, policy WORM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577840" y="356616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243B55"/>
          </a:solidFill>
          <a:ln w="9525">
            <a:solidFill>
              <a:srgbClr val="8EAD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669280" y="36301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DRR Honest View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69280" y="3858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Pre-compressed DICOM: ~1:1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Structured EHR/clinical docs: 3–5:1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Do not lead with DRR — lead with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throughput, Object Lock, and SafeMode.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001A1A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vs Dell ECS: Object Lock compliance mode inconsistent across versions. FlashBlade compliance mode is native, fully supported, and auditable.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Gap 3 &amp; 7: DR Readiness &amp; Two Sites → ActiveCluster + ActiveDR + Pure Mediator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749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HYDERABAD DC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Primary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3258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1307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FlashArray//XL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3794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18196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ActiveCluster — Active/Active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5000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5800" y="2331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Zero RPO sync replication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6207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5800" y="28437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Serves live Oracle claims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3246120" y="65836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3383280" y="749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PUNE DC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383280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Secondary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32588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57600" y="1307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FlashArray//XL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837944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657600" y="18196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ActiveCluster — Active/Active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350008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57600" y="2331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Same data, same time</a:t>
            </a:r>
            <a:endParaRPr lang="en-US" sz="10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862072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657600" y="28437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Instant failover — no data loss</a:t>
            </a:r>
            <a:endParaRPr lang="en-US" sz="1000" dirty="0"/>
          </a:p>
        </p:txBody>
      </p:sp>
      <p:sp>
        <p:nvSpPr>
          <p:cNvPr id="27" name="Shape 16"/>
          <p:cNvSpPr/>
          <p:nvPr/>
        </p:nvSpPr>
        <p:spPr>
          <a:xfrm>
            <a:off x="6217920" y="65836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A2F4A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17"/>
          <p:cNvSpPr/>
          <p:nvPr/>
        </p:nvSpPr>
        <p:spPr>
          <a:xfrm>
            <a:off x="6355080" y="749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CLOUD DR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6355080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Tertiary site</a:t>
            </a:r>
            <a:endParaRPr lang="en-US" sz="9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2588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629400" y="1307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ActiveDR async replication</a:t>
            </a:r>
            <a:endParaRPr lang="en-US" sz="10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37944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629400" y="18196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Pure Mediator (free)</a:t>
            </a:r>
            <a:endParaRPr lang="en-US" sz="10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350008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629400" y="2331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Lightweight tiebreaker</a:t>
            </a:r>
            <a:endParaRPr lang="en-US" sz="10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862072"/>
            <a:ext cx="201168" cy="20116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629400" y="28437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RTO &lt;15 min on failover</a:t>
            </a:r>
            <a:endParaRPr lang="en-US" sz="1000" dirty="0"/>
          </a:p>
        </p:txBody>
      </p:sp>
      <p:sp>
        <p:nvSpPr>
          <p:cNvPr id="38" name="Shape 23"/>
          <p:cNvSpPr/>
          <p:nvPr/>
        </p:nvSpPr>
        <p:spPr>
          <a:xfrm>
            <a:off x="3145536" y="2560320"/>
            <a:ext cx="10058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4"/>
          <p:cNvSpPr/>
          <p:nvPr/>
        </p:nvSpPr>
        <p:spPr>
          <a:xfrm>
            <a:off x="2999232" y="24231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</a:rPr>
              <a:t>◀━ sync ━▶</a:t>
            </a:r>
            <a:endParaRPr lang="en-US" sz="800" dirty="0"/>
          </a:p>
        </p:txBody>
      </p:sp>
      <p:sp>
        <p:nvSpPr>
          <p:cNvPr id="40" name="Shape 25"/>
          <p:cNvSpPr/>
          <p:nvPr/>
        </p:nvSpPr>
        <p:spPr>
          <a:xfrm>
            <a:off x="6117336" y="2560320"/>
            <a:ext cx="100584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6"/>
          <p:cNvSpPr/>
          <p:nvPr/>
        </p:nvSpPr>
        <p:spPr>
          <a:xfrm>
            <a:off x="60350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</a:rPr>
              <a:t>async →</a:t>
            </a:r>
            <a:endParaRPr lang="en-US" sz="800" dirty="0"/>
          </a:p>
        </p:txBody>
      </p:sp>
      <p:sp>
        <p:nvSpPr>
          <p:cNvPr id="42" name="Shape 27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001A00"/>
          </a:solidFill>
          <a:ln w="9525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8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Pure Mediator: Free lightweight cloud process — not a full VM, no licensing cost. Acts as tiebreaker between Hyderabad and Pune to prevent split-brain on failover.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5: Kubernetes Protection → Portworx Enterprise + PX-Backup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Portworx Enterprise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Kubernetes-Native Storage Platform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13533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Storage orchestration inside Kubernetes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4708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18288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Persistent Volumes survive pod restarts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2257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" y="23042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Runs as a DaemonSet — part of the cluster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9806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" y="27797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StorageClass integration with OpenShift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73552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31520" y="32552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Application-consistent snapshots of stateful apps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4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31520" y="37307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PostgreSQL and Oracle K8s workloads protected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663440" y="6858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A2F4A"/>
          </a:solidFill>
          <a:ln w="12700">
            <a:solidFill>
              <a:srgbClr val="48CA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2"/>
          <p:cNvSpPr/>
          <p:nvPr/>
        </p:nvSpPr>
        <p:spPr>
          <a:xfrm>
            <a:off x="484632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</a:rPr>
              <a:t>PX-Backup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4846320" y="1051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Containerised Backup — Not a VM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20640" y="13533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Runs as pods inside OpenShift cluster</a:t>
            </a:r>
            <a:endParaRPr lang="en-US" sz="10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47088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20640" y="18288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Backs up entire app namespace — PVs + config</a:t>
            </a:r>
            <a:endParaRPr lang="en-US" sz="10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22576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20640" y="230428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Application-aware: PostgreSQL consistent backup</a:t>
            </a:r>
            <a:endParaRPr lang="en-US" sz="10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98064"/>
            <a:ext cx="201168" cy="20116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120640" y="27797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Restore to same or different namespace/cluster</a:t>
            </a:r>
            <a:endParaRPr lang="en-US" sz="10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73552"/>
            <a:ext cx="201168" cy="20116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120640" y="3255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Policy-driven — schedule, retention, RPO</a:t>
            </a:r>
            <a:endParaRPr lang="en-US" sz="10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49040"/>
            <a:ext cx="201168" cy="2011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120640" y="37307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vs Veeam: Veeam cannot protect K8s PVs natively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State — Everpure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3108960" cy="4160520"/>
          </a:xfrm>
          <a:prstGeom prst="roundRect">
            <a:avLst>
              <a:gd name="adj" fmla="val 3529"/>
            </a:avLst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HYDERABAD DC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FlashArray//XL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Oracle DB · SafeMode Snapshots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FlashBlade//S + //E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10+ PB EHR · Object Lock WORM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Portworx Enterprise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OpenShift K8s · PX-Backup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ActiveCluster (Primary)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621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Zero RPO sync to Pune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658368"/>
            <a:ext cx="3108960" cy="4160520"/>
          </a:xfrm>
          <a:prstGeom prst="roundRect">
            <a:avLst>
              <a:gd name="adj" fmla="val 3529"/>
            </a:avLst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11880" y="749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PUNE DC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11880" y="1078992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03320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FlashArray//XL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ActiveCluster · Hot standby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18288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03320" y="1865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FlashBlade//S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0332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EHR replica · Object Lock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11880" y="2578608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0332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ActiveDR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0332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Async DR · &lt;15 min RTO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11880" y="3328416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0332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ActiveCluster (Mirror)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03320" y="3621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Zero RPO mirror from Hyderabad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20840" y="658368"/>
            <a:ext cx="2194560" cy="2011680"/>
          </a:xfrm>
          <a:prstGeom prst="roundRect">
            <a:avLst>
              <a:gd name="adj" fmla="val 5455"/>
            </a:avLst>
          </a:prstGeom>
          <a:solidFill>
            <a:srgbClr val="1A2F4A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0" y="749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CLOUD DR</a:t>
            </a:r>
            <a:endParaRPr lang="en-US" sz="11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182880" cy="1828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086600" y="1078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Pure Mediator</a:t>
            </a:r>
            <a:endParaRPr lang="en-US" sz="90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44752"/>
            <a:ext cx="182880" cy="18288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086600" y="1426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Free tiebreaker</a:t>
            </a:r>
            <a:endParaRPr lang="en-US" sz="9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92224"/>
            <a:ext cx="182880" cy="18288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086600" y="17739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ActiveDR target</a:t>
            </a:r>
            <a:endParaRPr lang="en-US" sz="9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39696"/>
            <a:ext cx="182880" cy="1828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086600" y="2121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Cloud Block Store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720840" y="28346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6858000" y="2926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Pure1 AIOps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858000" y="3200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Single pane of glass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FlashArray + FlashBlade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Predictive analytics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Included — no extra cost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3346704" y="2743200"/>
            <a:ext cx="12801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3063240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</a:rPr>
              <a:t>◀━ ActiveCluster ━▶</a:t>
            </a:r>
            <a:endParaRPr lang="en-US" sz="700" dirty="0"/>
          </a:p>
        </p:txBody>
      </p:sp>
      <p:sp>
        <p:nvSpPr>
          <p:cNvPr id="47" name="Shape 41"/>
          <p:cNvSpPr/>
          <p:nvPr/>
        </p:nvSpPr>
        <p:spPr>
          <a:xfrm>
            <a:off x="6601968" y="2926080"/>
            <a:ext cx="11887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6492240" y="27889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A261"/>
                </a:solidFill>
              </a:rPr>
              <a:t>ActiveDR →</a:t>
            </a:r>
            <a:endParaRPr lang="en-US" sz="700" dirty="0"/>
          </a:p>
        </p:txBody>
      </p:sp>
      <p:sp>
        <p:nvSpPr>
          <p:cNvPr id="49" name="Shape 43"/>
          <p:cNvSpPr/>
          <p:nvPr/>
        </p:nvSpPr>
        <p:spPr>
          <a:xfrm>
            <a:off x="228600" y="4645152"/>
            <a:ext cx="8686800" cy="365760"/>
          </a:xfrm>
          <a:prstGeom prst="roundRect">
            <a:avLst>
              <a:gd name="adj" fmla="val 2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Every other vendor helps you recover faster after an attack.  Everpure makes the attack itself fail.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Trade-offs &amp; Honest Considerations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74320" y="676656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74980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749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Migration Complexity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331720" y="72237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Risk: Moving 10+ PB of EHR from legacy NAS/S3 to FlashBlade requires careful phased planning. Hot data migrates first — cold archive stays in place until tiering strategy is confirmed.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0" y="786384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74980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35040" y="7223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Phased migration — hot tier first. Pure Professional Services supports live cutover with no production downtime.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74320" y="1517904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0040" y="1591056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20040" y="1591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Cost — Initial Investment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331720" y="156362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Risk: FlashBlade//S and ActiveCluster represent a higher upfront capital commitment than spinning disk or object store alternatives. The CFO conversation is real.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715000" y="1627632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59105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156362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TCO reframe: the Q2 5-day outage cost HealthSure far more than this investment. Evergreen//Forever eliminates future refresh capex. Phased tiering keeps total spend manageable.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74320" y="2359152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20040" y="2432304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320040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Portworx Learning Curve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2331720" y="24048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Risk: Portworx Enterprise introduces a new operational model for the OpenShift team. Kubernetes-native storage is a mindset shift from traditional SAN/NAS management.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715000" y="2468880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43230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035040" y="240487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Portworx Academy training included. PX-Backup policy templates reduce day-2 ops complexity significantly.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274320" y="32004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20040" y="327355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32004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ActiveCluster Licensing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2331720" y="32461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Risk: ActiveCluster, ActiveDR, Portworx Enterprise, and PX-Backup are separately licensed — not included in base FlashArray or FlashBlade pricing.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5715000" y="3310128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273552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035040" y="32461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SafeMode, Pure1 AIOps, and Pure Mediator are all included at no additional cost — these cover the most critical ransomware protection layer.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274320" y="4041648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320040" y="4114800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32004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EHR Cold Archive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2331720" y="408736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Risk: 7–10 year cold archive data (3+ years old, rare access) does not justify FlashBlade //S pricing. Proposing flash for truly cold archival data would be the wrong recommendation.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5715000" y="4151376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4114800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035040" y="40873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Tiered architecture: FlashBlade //S for hot, FlashBlade //E for warm, dense object/cloud for cold. Right platform for each access tier.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431455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Value HealthSure Gains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11480" y="82296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88696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Ransomware-Proof Recovery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24128" y="1033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Zero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24128" y="13807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viable attack paths to snapshots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" y="1645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SafeMode firmware-level protection means the Q2 attack sequence cannot repeat. Attacker with admin credentials still cannot delete a single recovery point.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663440" y="6858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00600" y="82296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88696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13248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HIPAA-Compliant EHR Archive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13248" y="1033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7–10 yr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413248" y="13807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legally defensible immutability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800600" y="1645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FlashBlade Object Lock compliance mode satisfies HIPAA retention requirements. Every EHR record is WORM-protected at the object level from write time.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74320" y="2176272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48CA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11480" y="2313432"/>
            <a:ext cx="502920" cy="50292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2377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Zero RPO for Claims Processing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024128" y="2523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0s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1024128" y="2871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data loss on failover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11480" y="3136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ActiveCluster active/active sync replication between Hyderabad and Pune. Oracle claims database is always live at both sites — any failure is transparent to users.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663440" y="2176272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48CA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800600" y="2313432"/>
            <a:ext cx="502920" cy="50292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23774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13248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RTO Under 15 Minutes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13248" y="2523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&lt;15 min</a:t>
            </a:r>
            <a:endParaRPr lang="en-US" sz="2200" dirty="0"/>
          </a:p>
        </p:txBody>
      </p:sp>
      <p:sp>
        <p:nvSpPr>
          <p:cNvPr id="31" name="Text 24"/>
          <p:cNvSpPr/>
          <p:nvPr/>
        </p:nvSpPr>
        <p:spPr>
          <a:xfrm>
            <a:off x="5413248" y="2871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recovery time objective met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800600" y="3136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ActiveDR async replication to Cloud DR site with Pure Mediator as tiebreaker. Tested, validated failover — not a cold standby that was never verified.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274320" y="36576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411480" y="37947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3858768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24128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Kubernetes Workloads Protected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024128" y="40050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100%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1024128" y="43525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of OpenShift PVs covered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11480" y="46177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Portworx Enterprise and PX-Backup close the gap Veeam cannot cover. PostgreSQL and stateful apps have application-consistent, policy-driven protection natively inside OpenShift.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4663440" y="36576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4800600" y="37947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3858768"/>
            <a:ext cx="365760" cy="36576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413248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Single Platform, No Silos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5413248" y="40050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Pure1</a:t>
            </a:r>
            <a:endParaRPr lang="en-US" sz="2200" dirty="0"/>
          </a:p>
        </p:txBody>
      </p:sp>
      <p:sp>
        <p:nvSpPr>
          <p:cNvPr id="45" name="Text 36"/>
          <p:cNvSpPr/>
          <p:nvPr/>
        </p:nvSpPr>
        <p:spPr>
          <a:xfrm>
            <a:off x="5413248" y="43525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one pane — FlashArray + FlashBlade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4800600" y="46177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DC7"/>
                </a:solidFill>
              </a:rPr>
              <a:t>Replacing fragmented NAS + S3 + backup silos with a unified Everpure platform. Pure1 AIOps provides predictive management across the entire environment at no additional cost.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723569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2109</Words>
  <Application>Microsoft Office PowerPoint</Application>
  <PresentationFormat>On-screen Show (16:9)</PresentationFormat>
  <Paragraphs>284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HealthSure Insurance — Everpure EHR Solution</dc:title>
  <dc:subject>PptxGenJS Presentation</dc:subject>
  <dc:creator>PptxGenJS</dc:creator>
  <cp:lastModifiedBy>B, Ranjeeth</cp:lastModifiedBy>
  <cp:revision>3</cp:revision>
  <dcterms:created xsi:type="dcterms:W3CDTF">2026-06-11T13:57:03Z</dcterms:created>
  <dcterms:modified xsi:type="dcterms:W3CDTF">2026-06-11T17:12:14Z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d3be33-4108-4738-9e07-d8656a181486_Enabled">
    <vt:lpwstr>true</vt:lpwstr>
  </property>
  <property fmtid="{D5CDD505-2E9C-101B-9397-08002B2CF9AE}" pid="3" name="MSIP_Label_dad3be33-4108-4738-9e07-d8656a181486_SetDate">
    <vt:lpwstr>2026-06-11T17:12:13Z</vt:lpwstr>
  </property>
  <property fmtid="{D5CDD505-2E9C-101B-9397-08002B2CF9AE}" pid="4" name="MSIP_Label_dad3be33-4108-4738-9e07-d8656a181486_Method">
    <vt:lpwstr>Privileged</vt:lpwstr>
  </property>
  <property fmtid="{D5CDD505-2E9C-101B-9397-08002B2CF9AE}" pid="5" name="MSIP_Label_dad3be33-4108-4738-9e07-d8656a181486_Name">
    <vt:lpwstr>Public No Visual Label</vt:lpwstr>
  </property>
  <property fmtid="{D5CDD505-2E9C-101B-9397-08002B2CF9AE}" pid="6" name="MSIP_Label_dad3be33-4108-4738-9e07-d8656a181486_SiteId">
    <vt:lpwstr>945c199a-83a2-4e80-9f8c-5a91be5752dd</vt:lpwstr>
  </property>
  <property fmtid="{D5CDD505-2E9C-101B-9397-08002B2CF9AE}" pid="7" name="MSIP_Label_dad3be33-4108-4738-9e07-d8656a181486_ActionId">
    <vt:lpwstr>afb87795-d5a7-4b90-95c5-016c5c1369e4</vt:lpwstr>
  </property>
  <property fmtid="{D5CDD505-2E9C-101B-9397-08002B2CF9AE}" pid="8" name="MSIP_Label_dad3be33-4108-4738-9e07-d8656a181486_ContentBits">
    <vt:lpwstr>0</vt:lpwstr>
  </property>
  <property fmtid="{D5CDD505-2E9C-101B-9397-08002B2CF9AE}" pid="9" name="MSIP_Label_dad3be33-4108-4738-9e07-d8656a181486_Tag">
    <vt:lpwstr>10, 0, 1, 1</vt:lpwstr>
  </property>
</Properties>
</file>