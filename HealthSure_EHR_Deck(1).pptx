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9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9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9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9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9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Open strong. Let the 5-day outage number land before moving to the next slide. The stats set the stakes.</a:t>
            </a:r>
            <a:endParaRPr dirty="0" lang="en-US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Walk through the incident sequence first — credential compromise → snapshot delete → backup encrypt → 5-day tape restore. Then point to each component on the diagram that failed. Let the red borders tell the story visually.</a:t>
            </a:r>
            <a:endParaRPr dirty="0" lang="en-US"/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Gap 4 (EHR Object Storage) is thne focus of n n nn nnthis session. When presenting, spend more time here — connect it to the 10 PB cost objection and the HIPAA compliance risk.</a:t>
            </a:r>
            <a:endParaRPr dirty="0" lang="en-US"/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This is your bridge slide. For each gap you diagnosed on Slide 3, there is a specific Everpure product answering it. Make sure you can explain WHY each product was chosen — not just that it exists.</a:t>
            </a:r>
            <a:endParaRPr dirty="0" lang="en-US"/>
          </a:p>
        </p:txBody>
      </p:sp>
      <p:sp>
        <p:nvSpPr>
          <p:cNvPr id="10487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This is your strongest competitive differentiator. Be precise — PowerStore read-only is NOT the same as SafeMode firmware-level undeletability. Own this distinction.</a:t>
            </a:r>
            <a:endParaRPr dirty="0" lang="en-US"/>
          </a:p>
        </p:txBody>
      </p:sp>
      <p:sp>
        <p:nvSpPr>
          <p:cNvPr id="10487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This is the EHR deep dive. Key points: 1) Always use compliance mode not governance for HIPAA. 2) Don't propose moving all 10 PB to flash — tier it. 3) Don't lead with DRR for pre-compressed imaging data — that's a trap.</a:t>
            </a:r>
            <a:endParaRPr dirty="0" lang="en-US"/>
          </a:p>
        </p:txBody>
      </p:sp>
      <p:sp>
        <p:nvSpPr>
          <p:cNvPr id="10487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Pure Mediator is FREE — emphasise this. It's a tiebreaker process in cloud, not a licensed product. ActiveCluster is separately licensed. ActiveDR is separately licensed. Know the commercial distinction.</a:t>
            </a:r>
            <a:endParaRPr dirty="0" lang="en-US"/>
          </a:p>
        </p:txBody>
      </p:sp>
      <p:sp>
        <p:nvSpPr>
          <p:cNvPr id="10488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Key distinction: Portworx is a storage platform, not a backup product. PX-Backup is the backup component — containerized, running as pods. Veeam cannot protect Kubernetes PVs at this level — this is a genuine gap in the existing stack.</a:t>
            </a:r>
            <a:endParaRPr dirty="0" lang="en-US"/>
          </a:p>
        </p:txBody>
      </p:sp>
      <p:sp>
        <p:nvSpPr>
          <p:cNvPr id="10488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This is your closing slide. Let the architecture speak first — then deliver the closing line with conviction. Pause before it. One sentence. Make it land.</a:t>
            </a:r>
            <a:endParaRPr dirty="0" lang="en-US"/>
          </a:p>
        </p:txBody>
      </p:sp>
      <p:sp>
        <p:nvSpPr>
          <p:cNvPr id="10488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7406640" y="1828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577" name="Text 1"/>
          <p:cNvSpPr/>
          <p:nvPr/>
        </p:nvSpPr>
        <p:spPr>
          <a:xfrm>
            <a:off x="7406640" y="182880"/>
            <a:ext cx="1554480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</a:rPr>
              <a:t>EVERPURE</a:t>
            </a:r>
            <a:endParaRPr dirty="0" sz="1100" lang="en-US"/>
          </a:p>
        </p:txBody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548640"/>
            <a:ext cx="640080" cy="640080"/>
          </a:xfrm>
          <a:prstGeom prst="rect"/>
        </p:spPr>
      </p:pic>
      <p:sp>
        <p:nvSpPr>
          <p:cNvPr id="1048578" name="Text 2"/>
          <p:cNvSpPr/>
          <p:nvPr/>
        </p:nvSpPr>
        <p:spPr>
          <a:xfrm>
            <a:off x="1234440" y="502920"/>
            <a:ext cx="685800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HealthSure Insurance</a:t>
            </a:r>
            <a:endParaRPr dirty="0" sz="3600" lang="en-US"/>
          </a:p>
        </p:txBody>
      </p:sp>
      <p:sp>
        <p:nvSpPr>
          <p:cNvPr id="1048579" name="Text 3"/>
          <p:cNvSpPr/>
          <p:nvPr/>
        </p:nvSpPr>
        <p:spPr>
          <a:xfrm>
            <a:off x="457200" y="1261872"/>
            <a:ext cx="82296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700" lang="en-US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Data Protection &amp; Ransomware-Resilient Architecture</a:t>
            </a:r>
            <a:endParaRPr dirty="0" sz="1700" lang="en-US"/>
          </a:p>
        </p:txBody>
      </p:sp>
      <p:sp>
        <p:nvSpPr>
          <p:cNvPr id="1048580" name="Shape 4"/>
          <p:cNvSpPr/>
          <p:nvPr/>
        </p:nvSpPr>
        <p:spPr>
          <a:xfrm>
            <a:off x="457200" y="1828800"/>
            <a:ext cx="3200400" cy="32004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581" name="Text 5"/>
          <p:cNvSpPr/>
          <p:nvPr/>
        </p:nvSpPr>
        <p:spPr>
          <a:xfrm>
            <a:off x="457200" y="1965960"/>
            <a:ext cx="82296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8EADC7"/>
                </a:solidFill>
              </a:rPr>
              <a:t>Presented to: CIO  ·  CISO  ·  Head of IT Operations</a:t>
            </a:r>
            <a:endParaRPr dirty="0" sz="1200" lang="en-US"/>
          </a:p>
        </p:txBody>
      </p:sp>
      <p:sp>
        <p:nvSpPr>
          <p:cNvPr id="1048582" name="Shape 6"/>
          <p:cNvSpPr/>
          <p:nvPr/>
        </p:nvSpPr>
        <p:spPr>
          <a:xfrm>
            <a:off x="45720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48640" y="2542032"/>
            <a:ext cx="320040" cy="320040"/>
          </a:xfrm>
          <a:prstGeom prst="rect"/>
        </p:spPr>
      </p:pic>
      <p:sp>
        <p:nvSpPr>
          <p:cNvPr id="1048583" name="Text 7"/>
          <p:cNvSpPr/>
          <p:nvPr/>
        </p:nvSpPr>
        <p:spPr>
          <a:xfrm>
            <a:off x="457200" y="2834640"/>
            <a:ext cx="196596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0B4D8"/>
                </a:solidFill>
              </a:rPr>
              <a:t>5-Day</a:t>
            </a:r>
            <a:endParaRPr dirty="0" sz="2200" lang="en-US"/>
          </a:p>
        </p:txBody>
      </p:sp>
      <p:sp>
        <p:nvSpPr>
          <p:cNvPr id="1048584" name="Text 8"/>
          <p:cNvSpPr/>
          <p:nvPr/>
        </p:nvSpPr>
        <p:spPr>
          <a:xfrm>
            <a:off x="457200" y="3429000"/>
            <a:ext cx="1965960" cy="41148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Outage — Q2 Incident</a:t>
            </a:r>
            <a:endParaRPr dirty="0" sz="1000" lang="en-US"/>
          </a:p>
        </p:txBody>
      </p:sp>
      <p:sp>
        <p:nvSpPr>
          <p:cNvPr id="1048585" name="Shape 9"/>
          <p:cNvSpPr/>
          <p:nvPr/>
        </p:nvSpPr>
        <p:spPr>
          <a:xfrm>
            <a:off x="260604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697480" y="2542032"/>
            <a:ext cx="320040" cy="320040"/>
          </a:xfrm>
          <a:prstGeom prst="rect"/>
        </p:spPr>
      </p:pic>
      <p:sp>
        <p:nvSpPr>
          <p:cNvPr id="1048586" name="Text 10"/>
          <p:cNvSpPr/>
          <p:nvPr/>
        </p:nvSpPr>
        <p:spPr>
          <a:xfrm>
            <a:off x="2606040" y="2834640"/>
            <a:ext cx="196596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0B4D8"/>
                </a:solidFill>
              </a:rPr>
              <a:t>10+ PB</a:t>
            </a:r>
            <a:endParaRPr dirty="0" sz="2200" lang="en-US"/>
          </a:p>
        </p:txBody>
      </p:sp>
      <p:sp>
        <p:nvSpPr>
          <p:cNvPr id="1048587" name="Text 11"/>
          <p:cNvSpPr/>
          <p:nvPr/>
        </p:nvSpPr>
        <p:spPr>
          <a:xfrm>
            <a:off x="2606040" y="3429000"/>
            <a:ext cx="1965960" cy="41148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EHR at Risk</a:t>
            </a:r>
            <a:endParaRPr dirty="0" sz="1000" lang="en-US"/>
          </a:p>
        </p:txBody>
      </p:sp>
      <p:sp>
        <p:nvSpPr>
          <p:cNvPr id="1048588" name="Shape 12"/>
          <p:cNvSpPr/>
          <p:nvPr/>
        </p:nvSpPr>
        <p:spPr>
          <a:xfrm>
            <a:off x="475488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pic>
        <p:nvPicPr>
          <p:cNvPr id="2097155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846320" y="2542032"/>
            <a:ext cx="320040" cy="320040"/>
          </a:xfrm>
          <a:prstGeom prst="rect"/>
        </p:spPr>
      </p:pic>
      <p:sp>
        <p:nvSpPr>
          <p:cNvPr id="1048589" name="Text 13"/>
          <p:cNvSpPr/>
          <p:nvPr/>
        </p:nvSpPr>
        <p:spPr>
          <a:xfrm>
            <a:off x="4754880" y="2834640"/>
            <a:ext cx="196596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0B4D8"/>
                </a:solidFill>
              </a:rPr>
              <a:t>Zero</a:t>
            </a:r>
            <a:endParaRPr dirty="0" sz="2200" lang="en-US"/>
          </a:p>
        </p:txBody>
      </p:sp>
      <p:sp>
        <p:nvSpPr>
          <p:cNvPr id="1048590" name="Text 14"/>
          <p:cNvSpPr/>
          <p:nvPr/>
        </p:nvSpPr>
        <p:spPr>
          <a:xfrm>
            <a:off x="4754880" y="3429000"/>
            <a:ext cx="1965960" cy="41148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RPO Target</a:t>
            </a:r>
            <a:endParaRPr dirty="0" sz="1000" lang="en-US"/>
          </a:p>
        </p:txBody>
      </p:sp>
      <p:sp>
        <p:nvSpPr>
          <p:cNvPr id="1048591" name="Shape 15"/>
          <p:cNvSpPr/>
          <p:nvPr/>
        </p:nvSpPr>
        <p:spPr>
          <a:xfrm>
            <a:off x="6903720" y="24688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pic>
        <p:nvPicPr>
          <p:cNvPr id="2097156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995160" y="2542032"/>
            <a:ext cx="320040" cy="320040"/>
          </a:xfrm>
          <a:prstGeom prst="rect"/>
        </p:spPr>
      </p:pic>
      <p:sp>
        <p:nvSpPr>
          <p:cNvPr id="1048592" name="Text 16"/>
          <p:cNvSpPr/>
          <p:nvPr/>
        </p:nvSpPr>
        <p:spPr>
          <a:xfrm>
            <a:off x="6903720" y="2834640"/>
            <a:ext cx="196596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0B4D8"/>
                </a:solidFill>
              </a:rPr>
              <a:t>&lt;15 Min</a:t>
            </a:r>
            <a:endParaRPr dirty="0" sz="2200" lang="en-US"/>
          </a:p>
        </p:txBody>
      </p:sp>
      <p:sp>
        <p:nvSpPr>
          <p:cNvPr id="1048593" name="Text 17"/>
          <p:cNvSpPr/>
          <p:nvPr/>
        </p:nvSpPr>
        <p:spPr>
          <a:xfrm>
            <a:off x="6903720" y="3429000"/>
            <a:ext cx="1965960" cy="41148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RTO Target</a:t>
            </a:r>
            <a:endParaRPr dirty="0" sz="1000" lang="en-US"/>
          </a:p>
        </p:txBody>
      </p:sp>
      <p:sp>
        <p:nvSpPr>
          <p:cNvPr id="1048594" name="Text 18"/>
          <p:cNvSpPr/>
          <p:nvPr/>
        </p:nvSpPr>
        <p:spPr>
          <a:xfrm>
            <a:off x="457200" y="4828032"/>
            <a:ext cx="8229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i="1" lang="en-US">
                <a:solidFill>
                  <a:srgbClr val="8EADC7"/>
                </a:solidFill>
              </a:rPr>
              <a:t>Ranjeeth B  |  Solutions Engineer, Everpure  |  branjeeth97@gmail.com</a:t>
            </a:r>
            <a:endParaRPr dirty="0" sz="9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48599" name="Text 1"/>
          <p:cNvSpPr/>
          <p:nvPr/>
        </p:nvSpPr>
        <p:spPr>
          <a:xfrm>
            <a:off x="365760" y="0"/>
            <a:ext cx="841248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What I Understood: Customer Challenges &amp; Current Environment</a:t>
            </a:r>
            <a:endParaRPr dirty="0" sz="1600" lang="en-US"/>
          </a:p>
        </p:txBody>
      </p:sp>
      <p:sp>
        <p:nvSpPr>
          <p:cNvPr id="1048600" name="Shape 2"/>
          <p:cNvSpPr/>
          <p:nvPr/>
        </p:nvSpPr>
        <p:spPr>
          <a:xfrm>
            <a:off x="274320" y="6858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0D1B2A"/>
          </a:solidFill>
          <a:ln w="19050">
            <a:solidFill>
              <a:srgbClr val="E63946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11480" y="749808"/>
            <a:ext cx="292608" cy="292608"/>
          </a:xfrm>
          <a:prstGeom prst="rect"/>
        </p:spPr>
      </p:pic>
      <p:sp>
        <p:nvSpPr>
          <p:cNvPr id="1048601" name="Text 3"/>
          <p:cNvSpPr/>
          <p:nvPr/>
        </p:nvSpPr>
        <p:spPr>
          <a:xfrm>
            <a:off x="777240" y="749808"/>
            <a:ext cx="25603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E63946"/>
                </a:solidFill>
              </a:rPr>
              <a:t>The Incident</a:t>
            </a:r>
            <a:endParaRPr dirty="0" sz="1200" lang="en-US"/>
          </a:p>
        </p:txBody>
      </p:sp>
      <p:sp>
        <p:nvSpPr>
          <p:cNvPr id="1048602" name="Text 4"/>
          <p:cNvSpPr/>
          <p:nvPr/>
        </p:nvSpPr>
        <p:spPr>
          <a:xfrm>
            <a:off x="411480" y="1097280"/>
            <a:ext cx="29260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 — credential compromise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metadata deleted first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catalog encrypted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tape restore — massive business impact</a:t>
            </a:r>
            <a:endParaRPr dirty="0" sz="1000" lang="en-US"/>
          </a:p>
        </p:txBody>
      </p:sp>
      <p:sp>
        <p:nvSpPr>
          <p:cNvPr id="1048603" name="Shape 5"/>
          <p:cNvSpPr/>
          <p:nvPr/>
        </p:nvSpPr>
        <p:spPr>
          <a:xfrm>
            <a:off x="274320" y="2212848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pic>
        <p:nvPicPr>
          <p:cNvPr id="209715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11480" y="2286000"/>
            <a:ext cx="292608" cy="292608"/>
          </a:xfrm>
          <a:prstGeom prst="rect"/>
        </p:spPr>
      </p:pic>
      <p:sp>
        <p:nvSpPr>
          <p:cNvPr id="1048604" name="Text 6"/>
          <p:cNvSpPr/>
          <p:nvPr/>
        </p:nvSpPr>
        <p:spPr>
          <a:xfrm>
            <a:off x="777240" y="2286000"/>
            <a:ext cx="25603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B4D8"/>
                </a:solidFill>
              </a:rPr>
              <a:t>What HealthSure Needs</a:t>
            </a:r>
            <a:endParaRPr dirty="0" sz="1200" lang="en-US"/>
          </a:p>
        </p:txBody>
      </p:sp>
      <p:pic>
        <p:nvPicPr>
          <p:cNvPr id="2097159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11480" y="2670048"/>
            <a:ext cx="201168" cy="201168"/>
          </a:xfrm>
          <a:prstGeom prst="rect"/>
        </p:spPr>
      </p:pic>
      <p:sp>
        <p:nvSpPr>
          <p:cNvPr id="1048605" name="Text 7"/>
          <p:cNvSpPr/>
          <p:nvPr/>
        </p:nvSpPr>
        <p:spPr>
          <a:xfrm>
            <a:off x="685800" y="2651760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Zero RPO for Oracle claims processing</a:t>
            </a:r>
            <a:endParaRPr dirty="0" sz="1000" lang="en-US"/>
          </a:p>
        </p:txBody>
      </p:sp>
      <p:pic>
        <p:nvPicPr>
          <p:cNvPr id="2097160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11480" y="3008376"/>
            <a:ext cx="201168" cy="201168"/>
          </a:xfrm>
          <a:prstGeom prst="rect"/>
        </p:spPr>
      </p:pic>
      <p:sp>
        <p:nvSpPr>
          <p:cNvPr id="1048606" name="Text 8"/>
          <p:cNvSpPr/>
          <p:nvPr/>
        </p:nvSpPr>
        <p:spPr>
          <a:xfrm>
            <a:off x="685800" y="2990088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RTO under 15 minutes</a:t>
            </a:r>
            <a:endParaRPr dirty="0" sz="1000" lang="en-US"/>
          </a:p>
        </p:txBody>
      </p:sp>
      <p:pic>
        <p:nvPicPr>
          <p:cNvPr id="2097161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11480" y="3346704"/>
            <a:ext cx="201168" cy="201168"/>
          </a:xfrm>
          <a:prstGeom prst="rect"/>
        </p:spPr>
      </p:pic>
      <p:sp>
        <p:nvSpPr>
          <p:cNvPr id="1048607" name="Text 9"/>
          <p:cNvSpPr/>
          <p:nvPr/>
        </p:nvSpPr>
        <p:spPr>
          <a:xfrm>
            <a:off x="685800" y="3328416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7–10 year EHR immutability (HIPAA)</a:t>
            </a:r>
            <a:endParaRPr dirty="0" sz="1000" lang="en-US"/>
          </a:p>
        </p:txBody>
      </p:sp>
      <p:pic>
        <p:nvPicPr>
          <p:cNvPr id="2097162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11480" y="3685032"/>
            <a:ext cx="201168" cy="201168"/>
          </a:xfrm>
          <a:prstGeom prst="rect"/>
        </p:spPr>
      </p:pic>
      <p:sp>
        <p:nvSpPr>
          <p:cNvPr id="1048608" name="Text 10"/>
          <p:cNvSpPr/>
          <p:nvPr/>
        </p:nvSpPr>
        <p:spPr>
          <a:xfrm>
            <a:off x="685800" y="3666744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HIPAA &amp; ISO 27001 compliance</a:t>
            </a:r>
            <a:endParaRPr dirty="0" sz="1000" lang="en-US"/>
          </a:p>
        </p:txBody>
      </p:sp>
      <p:pic>
        <p:nvPicPr>
          <p:cNvPr id="2097163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11480" y="4023360"/>
            <a:ext cx="201168" cy="201168"/>
          </a:xfrm>
          <a:prstGeom prst="rect"/>
        </p:spPr>
      </p:pic>
      <p:sp>
        <p:nvSpPr>
          <p:cNvPr id="1048609" name="Text 11"/>
          <p:cNvSpPr/>
          <p:nvPr/>
        </p:nvSpPr>
        <p:spPr>
          <a:xfrm>
            <a:off x="685800" y="4005072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Insider &amp; credential attack protection</a:t>
            </a:r>
            <a:endParaRPr dirty="0" sz="1000" lang="en-US"/>
          </a:p>
        </p:txBody>
      </p:sp>
      <p:pic>
        <p:nvPicPr>
          <p:cNvPr id="2097164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411480" y="4361688"/>
            <a:ext cx="201168" cy="201168"/>
          </a:xfrm>
          <a:prstGeom prst="rect"/>
        </p:spPr>
      </p:pic>
      <p:sp>
        <p:nvSpPr>
          <p:cNvPr id="1048610" name="Text 12"/>
          <p:cNvSpPr/>
          <p:nvPr/>
        </p:nvSpPr>
        <p:spPr>
          <a:xfrm>
            <a:off x="685800" y="4343400"/>
            <a:ext cx="26517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Kubernetes workload protection (OpenShift)</a:t>
            </a:r>
            <a:endParaRPr dirty="0" sz="1000" lang="en-US"/>
          </a:p>
        </p:txBody>
      </p:sp>
      <p:sp>
        <p:nvSpPr>
          <p:cNvPr id="1048611" name="Shape 13"/>
          <p:cNvSpPr/>
          <p:nvPr/>
        </p:nvSpPr>
        <p:spPr>
          <a:xfrm>
            <a:off x="3749040" y="685800"/>
            <a:ext cx="2926080" cy="3931920"/>
          </a:xfrm>
          <a:prstGeom prst="roundRect">
            <a:avLst>
              <a:gd name="adj" fmla="val 3125"/>
            </a:avLst>
          </a:prstGeom>
          <a:solidFill>
            <a:srgbClr val="243B55"/>
          </a:solidFill>
          <a:ln w="1905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12" name="Text 14"/>
          <p:cNvSpPr/>
          <p:nvPr/>
        </p:nvSpPr>
        <p:spPr>
          <a:xfrm>
            <a:off x="3840480" y="749808"/>
            <a:ext cx="2743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HYDERABAD DC  ⚠</a:t>
            </a:r>
            <a:endParaRPr dirty="0" sz="1100" lang="en-US"/>
          </a:p>
        </p:txBody>
      </p:sp>
      <p:sp>
        <p:nvSpPr>
          <p:cNvPr id="1048613" name="Shape 15"/>
          <p:cNvSpPr/>
          <p:nvPr/>
        </p:nvSpPr>
        <p:spPr>
          <a:xfrm>
            <a:off x="3886200" y="10789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8EADC7"/>
            </a:solidFill>
            <a:prstDash val="solid"/>
          </a:ln>
        </p:spPr>
      </p:sp>
      <p:pic>
        <p:nvPicPr>
          <p:cNvPr id="2097165" name="Image 8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3950208" y="1152144"/>
            <a:ext cx="201168" cy="201168"/>
          </a:xfrm>
          <a:prstGeom prst="rect"/>
        </p:spPr>
      </p:pic>
      <p:sp>
        <p:nvSpPr>
          <p:cNvPr id="1048614" name="Text 16"/>
          <p:cNvSpPr/>
          <p:nvPr/>
        </p:nvSpPr>
        <p:spPr>
          <a:xfrm>
            <a:off x="4206240" y="1097280"/>
            <a:ext cx="21031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VMware + OpenShift</a:t>
            </a:r>
            <a:endParaRPr dirty="0" sz="900" lang="en-US"/>
          </a:p>
        </p:txBody>
      </p:sp>
      <p:sp>
        <p:nvSpPr>
          <p:cNvPr id="1048615" name="Shape 17"/>
          <p:cNvSpPr/>
          <p:nvPr/>
        </p:nvSpPr>
        <p:spPr>
          <a:xfrm>
            <a:off x="3886200" y="15087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2097166" name="Image 9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3950208" y="1581912"/>
            <a:ext cx="201168" cy="201168"/>
          </a:xfrm>
          <a:prstGeom prst="rect"/>
        </p:spPr>
      </p:pic>
      <p:sp>
        <p:nvSpPr>
          <p:cNvPr id="1048616" name="Text 18"/>
          <p:cNvSpPr/>
          <p:nvPr/>
        </p:nvSpPr>
        <p:spPr>
          <a:xfrm>
            <a:off x="4206240" y="1527048"/>
            <a:ext cx="21031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Oracle DB → Block Storage</a:t>
            </a:r>
            <a:endParaRPr dirty="0" sz="900" lang="en-US"/>
          </a:p>
        </p:txBody>
      </p:sp>
      <p:sp>
        <p:nvSpPr>
          <p:cNvPr id="1048617" name="Text 19"/>
          <p:cNvSpPr/>
          <p:nvPr/>
        </p:nvSpPr>
        <p:spPr>
          <a:xfrm>
            <a:off x="4206240" y="1709928"/>
            <a:ext cx="2103120" cy="1645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E63946"/>
                </a:solidFill>
              </a:rPr>
              <a:t>Snapshots deletable</a:t>
            </a:r>
            <a:endParaRPr dirty="0" sz="800" lang="en-US"/>
          </a:p>
        </p:txBody>
      </p:sp>
      <p:sp>
        <p:nvSpPr>
          <p:cNvPr id="1048618" name="Shape 20"/>
          <p:cNvSpPr/>
          <p:nvPr/>
        </p:nvSpPr>
        <p:spPr>
          <a:xfrm>
            <a:off x="3886200" y="199339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2097167" name="Image 1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3950208" y="2066544"/>
            <a:ext cx="201168" cy="201168"/>
          </a:xfrm>
          <a:prstGeom prst="rect"/>
        </p:spPr>
      </p:pic>
      <p:sp>
        <p:nvSpPr>
          <p:cNvPr id="1048619" name="Text 21"/>
          <p:cNvSpPr/>
          <p:nvPr/>
        </p:nvSpPr>
        <p:spPr>
          <a:xfrm>
            <a:off x="4206240" y="2011680"/>
            <a:ext cx="21031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10+ PB EHR — S3 Object</a:t>
            </a:r>
            <a:endParaRPr dirty="0" sz="900" lang="en-US"/>
          </a:p>
        </p:txBody>
      </p:sp>
      <p:sp>
        <p:nvSpPr>
          <p:cNvPr id="1048620" name="Text 22"/>
          <p:cNvSpPr/>
          <p:nvPr/>
        </p:nvSpPr>
        <p:spPr>
          <a:xfrm>
            <a:off x="4206240" y="2194560"/>
            <a:ext cx="2103120" cy="1645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E63946"/>
                </a:solidFill>
              </a:rPr>
              <a:t>No WORM / No Lock</a:t>
            </a:r>
            <a:endParaRPr dirty="0" sz="800" lang="en-US"/>
          </a:p>
        </p:txBody>
      </p:sp>
      <p:sp>
        <p:nvSpPr>
          <p:cNvPr id="1048621" name="Shape 23"/>
          <p:cNvSpPr/>
          <p:nvPr/>
        </p:nvSpPr>
        <p:spPr>
          <a:xfrm>
            <a:off x="3886200" y="2478024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2097168" name="Image 1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3950208" y="2551176"/>
            <a:ext cx="201168" cy="201168"/>
          </a:xfrm>
          <a:prstGeom prst="rect"/>
        </p:spPr>
      </p:pic>
      <p:sp>
        <p:nvSpPr>
          <p:cNvPr id="1048622" name="Text 24"/>
          <p:cNvSpPr/>
          <p:nvPr/>
        </p:nvSpPr>
        <p:spPr>
          <a:xfrm>
            <a:off x="4206240" y="2496312"/>
            <a:ext cx="21031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Legacy NAS (PostgreSQL)</a:t>
            </a:r>
            <a:endParaRPr dirty="0" sz="900" lang="en-US"/>
          </a:p>
        </p:txBody>
      </p:sp>
      <p:sp>
        <p:nvSpPr>
          <p:cNvPr id="1048623" name="Text 25"/>
          <p:cNvSpPr/>
          <p:nvPr/>
        </p:nvSpPr>
        <p:spPr>
          <a:xfrm>
            <a:off x="4206240" y="2679192"/>
            <a:ext cx="2103120" cy="1645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E63946"/>
                </a:solidFill>
              </a:rPr>
              <a:t>No immutability</a:t>
            </a:r>
            <a:endParaRPr dirty="0" sz="800" lang="en-US"/>
          </a:p>
        </p:txBody>
      </p:sp>
      <p:sp>
        <p:nvSpPr>
          <p:cNvPr id="1048624" name="Shape 26"/>
          <p:cNvSpPr/>
          <p:nvPr/>
        </p:nvSpPr>
        <p:spPr>
          <a:xfrm>
            <a:off x="3886200" y="296265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9525">
            <a:solidFill>
              <a:srgbClr val="E63946"/>
            </a:solidFill>
            <a:prstDash val="solid"/>
          </a:ln>
        </p:spPr>
      </p:sp>
      <p:pic>
        <p:nvPicPr>
          <p:cNvPr id="2097169" name="Image 1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3950208" y="3035808"/>
            <a:ext cx="201168" cy="201168"/>
          </a:xfrm>
          <a:prstGeom prst="rect"/>
        </p:spPr>
      </p:pic>
      <p:sp>
        <p:nvSpPr>
          <p:cNvPr id="1048625" name="Text 27"/>
          <p:cNvSpPr/>
          <p:nvPr/>
        </p:nvSpPr>
        <p:spPr>
          <a:xfrm>
            <a:off x="4206240" y="2980944"/>
            <a:ext cx="21031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FFFFFF"/>
                </a:solidFill>
              </a:rPr>
              <a:t>Backup Server (Veeam)</a:t>
            </a:r>
            <a:endParaRPr dirty="0" sz="900" lang="en-US"/>
          </a:p>
        </p:txBody>
      </p:sp>
      <p:sp>
        <p:nvSpPr>
          <p:cNvPr id="1048626" name="Text 28"/>
          <p:cNvSpPr/>
          <p:nvPr/>
        </p:nvSpPr>
        <p:spPr>
          <a:xfrm>
            <a:off x="4206240" y="3163824"/>
            <a:ext cx="2103120" cy="1645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E63946"/>
                </a:solidFill>
              </a:rPr>
              <a:t>On production network</a:t>
            </a:r>
            <a:endParaRPr dirty="0" sz="800" lang="en-US"/>
          </a:p>
        </p:txBody>
      </p:sp>
      <p:sp>
        <p:nvSpPr>
          <p:cNvPr id="1048627" name="Text 29"/>
          <p:cNvSpPr/>
          <p:nvPr/>
        </p:nvSpPr>
        <p:spPr>
          <a:xfrm>
            <a:off x="3749040" y="3419856"/>
            <a:ext cx="2926080" cy="228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A261"/>
                </a:solidFill>
              </a:rPr>
              <a:t>⚠ No Quorum Arbiter — Split-brain risk</a:t>
            </a:r>
            <a:endParaRPr dirty="0" sz="900" lang="en-US"/>
          </a:p>
        </p:txBody>
      </p:sp>
      <p:sp>
        <p:nvSpPr>
          <p:cNvPr id="1048628" name="Shape 30"/>
          <p:cNvSpPr/>
          <p:nvPr/>
        </p:nvSpPr>
        <p:spPr>
          <a:xfrm>
            <a:off x="6812280" y="68580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243B55"/>
          </a:solidFill>
          <a:ln w="19050">
            <a:solidFill>
              <a:srgbClr val="E63946"/>
            </a:solidFill>
            <a:prstDash val="dash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29" name="Text 31"/>
          <p:cNvSpPr/>
          <p:nvPr/>
        </p:nvSpPr>
        <p:spPr>
          <a:xfrm>
            <a:off x="6903720" y="758952"/>
            <a:ext cx="18745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PUNE DC  ⚠</a:t>
            </a:r>
            <a:endParaRPr dirty="0" sz="1000" lang="en-US"/>
          </a:p>
        </p:txBody>
      </p:sp>
      <p:sp>
        <p:nvSpPr>
          <p:cNvPr id="1048630" name="Text 32"/>
          <p:cNvSpPr/>
          <p:nvPr/>
        </p:nvSpPr>
        <p:spPr>
          <a:xfrm>
            <a:off x="6903720" y="1051560"/>
            <a:ext cx="187452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Cold Standby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Never Tested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RTO = Days</a:t>
            </a:r>
            <a:endParaRPr dirty="0" sz="1000" lang="en-US"/>
          </a:p>
        </p:txBody>
      </p:sp>
      <p:sp>
        <p:nvSpPr>
          <p:cNvPr id="1048631" name="Shape 33"/>
          <p:cNvSpPr/>
          <p:nvPr/>
        </p:nvSpPr>
        <p:spPr>
          <a:xfrm>
            <a:off x="6693408" y="1371600"/>
            <a:ext cx="118872" cy="0"/>
          </a:xfrm>
          <a:prstGeom prst="line"/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1048632" name="Shape 34"/>
          <p:cNvSpPr/>
          <p:nvPr/>
        </p:nvSpPr>
        <p:spPr>
          <a:xfrm>
            <a:off x="6812280" y="23317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3D000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33" name="Text 35"/>
          <p:cNvSpPr/>
          <p:nvPr/>
        </p:nvSpPr>
        <p:spPr>
          <a:xfrm>
            <a:off x="6858000" y="2377440"/>
            <a:ext cx="1965960" cy="7315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Tape Restore</a:t>
            </a:r>
            <a:endParaRPr dirty="0" sz="1000" lang="en-US"/>
          </a:p>
          <a:p>
            <a:pPr algn="ctr"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5-Day Outage</a:t>
            </a:r>
            <a:endParaRPr dirty="0" sz="1000" lang="en-US"/>
          </a:p>
          <a:p>
            <a:pPr algn="ctr"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Claims Halted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048638" name="Text 1"/>
          <p:cNvSpPr/>
          <p:nvPr/>
        </p:nvSpPr>
        <p:spPr>
          <a:xfrm>
            <a:off x="365760" y="0"/>
            <a:ext cx="841248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Gaps Identified — Where the Architecture Failed</a:t>
            </a:r>
            <a:endParaRPr dirty="0" sz="1600" lang="en-US"/>
          </a:p>
        </p:txBody>
      </p:sp>
      <p:sp>
        <p:nvSpPr>
          <p:cNvPr id="1048639" name="Shape 2"/>
          <p:cNvSpPr/>
          <p:nvPr/>
        </p:nvSpPr>
        <p:spPr>
          <a:xfrm>
            <a:off x="27432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40" name="Shape 3"/>
          <p:cNvSpPr/>
          <p:nvPr/>
        </p:nvSpPr>
        <p:spPr>
          <a:xfrm>
            <a:off x="36576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41" name="Text 4"/>
          <p:cNvSpPr/>
          <p:nvPr/>
        </p:nvSpPr>
        <p:spPr>
          <a:xfrm>
            <a:off x="365760" y="8869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1</a:t>
            </a:r>
            <a:endParaRPr dirty="0" sz="1200" lang="en-US"/>
          </a:p>
        </p:txBody>
      </p:sp>
      <p:sp>
        <p:nvSpPr>
          <p:cNvPr id="1048642" name="Text 5"/>
          <p:cNvSpPr/>
          <p:nvPr/>
        </p:nvSpPr>
        <p:spPr>
          <a:xfrm>
            <a:off x="749808" y="7406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63946"/>
                </a:solidFill>
              </a:rPr>
              <a:t>Snapshot Immutability</a:t>
            </a:r>
            <a:endParaRPr dirty="0" sz="1100" lang="en-US"/>
          </a:p>
        </p:txBody>
      </p:sp>
      <p:sp>
        <p:nvSpPr>
          <p:cNvPr id="1048643" name="Text 6"/>
          <p:cNvSpPr/>
          <p:nvPr/>
        </p:nvSpPr>
        <p:spPr>
          <a:xfrm>
            <a:off x="749808" y="9966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Snapshot metadata was soft-deleted by attacker. No firmware-level protection. Admin credentials were enough to destroy recovery points.</a:t>
            </a:r>
            <a:endParaRPr dirty="0" sz="900" lang="en-US"/>
          </a:p>
        </p:txBody>
      </p:sp>
      <p:sp>
        <p:nvSpPr>
          <p:cNvPr id="1048644" name="Shape 7"/>
          <p:cNvSpPr/>
          <p:nvPr/>
        </p:nvSpPr>
        <p:spPr>
          <a:xfrm>
            <a:off x="27432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45" name="Shape 8"/>
          <p:cNvSpPr/>
          <p:nvPr/>
        </p:nvSpPr>
        <p:spPr>
          <a:xfrm>
            <a:off x="36576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46" name="Text 9"/>
          <p:cNvSpPr/>
          <p:nvPr/>
        </p:nvSpPr>
        <p:spPr>
          <a:xfrm>
            <a:off x="365760" y="18013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2</a:t>
            </a:r>
            <a:endParaRPr dirty="0" sz="1200" lang="en-US"/>
          </a:p>
        </p:txBody>
      </p:sp>
      <p:sp>
        <p:nvSpPr>
          <p:cNvPr id="1048647" name="Text 10"/>
          <p:cNvSpPr/>
          <p:nvPr/>
        </p:nvSpPr>
        <p:spPr>
          <a:xfrm>
            <a:off x="749808" y="16550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63946"/>
                </a:solidFill>
              </a:rPr>
              <a:t>Backup Separation</a:t>
            </a:r>
            <a:endParaRPr dirty="0" sz="1100" lang="en-US"/>
          </a:p>
        </p:txBody>
      </p:sp>
      <p:sp>
        <p:nvSpPr>
          <p:cNvPr id="1048648" name="Text 11"/>
          <p:cNvSpPr/>
          <p:nvPr/>
        </p:nvSpPr>
        <p:spPr>
          <a:xfrm>
            <a:off x="749808" y="19110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Veeam catalog server sat on the same network as production. Encrypted alongside primary data — the recovery tool became part of the attack surface.</a:t>
            </a:r>
            <a:endParaRPr dirty="0" sz="900" lang="en-US"/>
          </a:p>
        </p:txBody>
      </p:sp>
      <p:sp>
        <p:nvSpPr>
          <p:cNvPr id="1048649" name="Shape 12"/>
          <p:cNvSpPr/>
          <p:nvPr/>
        </p:nvSpPr>
        <p:spPr>
          <a:xfrm>
            <a:off x="27432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50" name="Shape 13"/>
          <p:cNvSpPr/>
          <p:nvPr/>
        </p:nvSpPr>
        <p:spPr>
          <a:xfrm>
            <a:off x="36576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51" name="Text 14"/>
          <p:cNvSpPr/>
          <p:nvPr/>
        </p:nvSpPr>
        <p:spPr>
          <a:xfrm>
            <a:off x="365760" y="27157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3</a:t>
            </a:r>
            <a:endParaRPr dirty="0" sz="1200" lang="en-US"/>
          </a:p>
        </p:txBody>
      </p:sp>
      <p:sp>
        <p:nvSpPr>
          <p:cNvPr id="1048652" name="Text 15"/>
          <p:cNvSpPr/>
          <p:nvPr/>
        </p:nvSpPr>
        <p:spPr>
          <a:xfrm>
            <a:off x="749808" y="25694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DR Readiness</a:t>
            </a:r>
            <a:endParaRPr dirty="0" sz="1100" lang="en-US"/>
          </a:p>
        </p:txBody>
      </p:sp>
      <p:sp>
        <p:nvSpPr>
          <p:cNvPr id="1048653" name="Text 16"/>
          <p:cNvSpPr/>
          <p:nvPr/>
        </p:nvSpPr>
        <p:spPr>
          <a:xfrm>
            <a:off x="749808" y="28254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Cold standby at Pune, never tested. RTO of &lt;15 minutes is impossible. A standby that is never tested is not DR — it is a hope.</a:t>
            </a:r>
            <a:endParaRPr dirty="0" sz="900" lang="en-US"/>
          </a:p>
        </p:txBody>
      </p:sp>
      <p:sp>
        <p:nvSpPr>
          <p:cNvPr id="1048654" name="Shape 17"/>
          <p:cNvSpPr/>
          <p:nvPr/>
        </p:nvSpPr>
        <p:spPr>
          <a:xfrm>
            <a:off x="274320" y="34290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55" name="Shape 18"/>
          <p:cNvSpPr/>
          <p:nvPr/>
        </p:nvSpPr>
        <p:spPr>
          <a:xfrm>
            <a:off x="365760" y="3630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56" name="Text 19"/>
          <p:cNvSpPr/>
          <p:nvPr/>
        </p:nvSpPr>
        <p:spPr>
          <a:xfrm>
            <a:off x="365760" y="36301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4</a:t>
            </a:r>
            <a:endParaRPr dirty="0" sz="1200" lang="en-US"/>
          </a:p>
        </p:txBody>
      </p:sp>
      <p:sp>
        <p:nvSpPr>
          <p:cNvPr id="1048657" name="Text 20"/>
          <p:cNvSpPr/>
          <p:nvPr/>
        </p:nvSpPr>
        <p:spPr>
          <a:xfrm>
            <a:off x="749808" y="34838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EHR Object Storage</a:t>
            </a:r>
            <a:endParaRPr dirty="0" sz="1100" lang="en-US"/>
          </a:p>
        </p:txBody>
      </p:sp>
      <p:sp>
        <p:nvSpPr>
          <p:cNvPr id="1048658" name="Text 21"/>
          <p:cNvSpPr/>
          <p:nvPr/>
        </p:nvSpPr>
        <p:spPr>
          <a:xfrm>
            <a:off x="749808" y="37398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10+ PB of EHR on S3-compatible storage with no WORM and no Object Lock. 7–10 year retention requirement unmet. HIPAA compliance gap.</a:t>
            </a:r>
            <a:endParaRPr dirty="0" sz="900" lang="en-US"/>
          </a:p>
        </p:txBody>
      </p:sp>
      <p:sp>
        <p:nvSpPr>
          <p:cNvPr id="1048659" name="Shape 22"/>
          <p:cNvSpPr/>
          <p:nvPr/>
        </p:nvSpPr>
        <p:spPr>
          <a:xfrm>
            <a:off x="4709160" y="6858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60" name="Shape 23"/>
          <p:cNvSpPr/>
          <p:nvPr/>
        </p:nvSpPr>
        <p:spPr>
          <a:xfrm>
            <a:off x="4800600" y="8869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61" name="Text 24"/>
          <p:cNvSpPr/>
          <p:nvPr/>
        </p:nvSpPr>
        <p:spPr>
          <a:xfrm>
            <a:off x="4800600" y="8869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5</a:t>
            </a:r>
            <a:endParaRPr dirty="0" sz="1200" lang="en-US"/>
          </a:p>
        </p:txBody>
      </p:sp>
      <p:sp>
        <p:nvSpPr>
          <p:cNvPr id="1048662" name="Text 25"/>
          <p:cNvSpPr/>
          <p:nvPr/>
        </p:nvSpPr>
        <p:spPr>
          <a:xfrm>
            <a:off x="5184648" y="7406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Kubernetes Protection</a:t>
            </a:r>
            <a:endParaRPr dirty="0" sz="1100" lang="en-US"/>
          </a:p>
        </p:txBody>
      </p:sp>
      <p:sp>
        <p:nvSpPr>
          <p:cNvPr id="1048663" name="Text 26"/>
          <p:cNvSpPr/>
          <p:nvPr/>
        </p:nvSpPr>
        <p:spPr>
          <a:xfrm>
            <a:off x="5184648" y="9966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PostgreSQL and stateful apps on OpenShift unprotected. Veeam does not natively protect Kubernetes Persistent Volumes at this depth.</a:t>
            </a:r>
            <a:endParaRPr dirty="0" sz="900" lang="en-US"/>
          </a:p>
        </p:txBody>
      </p:sp>
      <p:sp>
        <p:nvSpPr>
          <p:cNvPr id="1048664" name="Shape 27"/>
          <p:cNvSpPr/>
          <p:nvPr/>
        </p:nvSpPr>
        <p:spPr>
          <a:xfrm>
            <a:off x="4709160" y="1600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E63946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65" name="Shape 28"/>
          <p:cNvSpPr/>
          <p:nvPr/>
        </p:nvSpPr>
        <p:spPr>
          <a:xfrm>
            <a:off x="4800600" y="18013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66" name="Text 29"/>
          <p:cNvSpPr/>
          <p:nvPr/>
        </p:nvSpPr>
        <p:spPr>
          <a:xfrm>
            <a:off x="4800600" y="18013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6</a:t>
            </a:r>
            <a:endParaRPr dirty="0" sz="1200" lang="en-US"/>
          </a:p>
        </p:txBody>
      </p:sp>
      <p:sp>
        <p:nvSpPr>
          <p:cNvPr id="1048667" name="Text 30"/>
          <p:cNvSpPr/>
          <p:nvPr/>
        </p:nvSpPr>
        <p:spPr>
          <a:xfrm>
            <a:off x="5184648" y="16550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63946"/>
                </a:solidFill>
              </a:rPr>
              <a:t>Credential Controls</a:t>
            </a:r>
            <a:endParaRPr dirty="0" sz="1100" lang="en-US"/>
          </a:p>
        </p:txBody>
      </p:sp>
      <p:sp>
        <p:nvSpPr>
          <p:cNvPr id="1048668" name="Text 31"/>
          <p:cNvSpPr/>
          <p:nvPr/>
        </p:nvSpPr>
        <p:spPr>
          <a:xfrm>
            <a:off x="5184648" y="19110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No out-of-band authentication to modify or destroy protection policies. One compromised account was enough to dismantle all snapshots.</a:t>
            </a:r>
            <a:endParaRPr dirty="0" sz="900" lang="en-US"/>
          </a:p>
        </p:txBody>
      </p:sp>
      <p:sp>
        <p:nvSpPr>
          <p:cNvPr id="1048669" name="Shape 32"/>
          <p:cNvSpPr/>
          <p:nvPr/>
        </p:nvSpPr>
        <p:spPr>
          <a:xfrm>
            <a:off x="4709160" y="2514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70" name="Shape 33"/>
          <p:cNvSpPr/>
          <p:nvPr/>
        </p:nvSpPr>
        <p:spPr>
          <a:xfrm>
            <a:off x="480060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71" name="Text 34"/>
          <p:cNvSpPr/>
          <p:nvPr/>
        </p:nvSpPr>
        <p:spPr>
          <a:xfrm>
            <a:off x="4800600" y="2715768"/>
            <a:ext cx="292608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7</a:t>
            </a:r>
            <a:endParaRPr dirty="0" sz="1200" lang="en-US"/>
          </a:p>
        </p:txBody>
      </p:sp>
      <p:sp>
        <p:nvSpPr>
          <p:cNvPr id="1048672" name="Text 35"/>
          <p:cNvSpPr/>
          <p:nvPr/>
        </p:nvSpPr>
        <p:spPr>
          <a:xfrm>
            <a:off x="5184648" y="2569464"/>
            <a:ext cx="3639312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Two Sites Only</a:t>
            </a:r>
            <a:endParaRPr dirty="0" sz="1100" lang="en-US"/>
          </a:p>
        </p:txBody>
      </p:sp>
      <p:sp>
        <p:nvSpPr>
          <p:cNvPr id="1048673" name="Text 36"/>
          <p:cNvSpPr/>
          <p:nvPr/>
        </p:nvSpPr>
        <p:spPr>
          <a:xfrm>
            <a:off x="5184648" y="2825496"/>
            <a:ext cx="3639312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Hyderabad and Pune only. No quorum arbiter for tiebreaker decisions. Split-brain risk on failover with no clean resolution mechanism.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48678" name="Text 1"/>
          <p:cNvSpPr/>
          <p:nvPr/>
        </p:nvSpPr>
        <p:spPr>
          <a:xfrm>
            <a:off x="365760" y="0"/>
            <a:ext cx="841248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How Everpure Fills Each Gap</a:t>
            </a:r>
            <a:endParaRPr dirty="0" sz="1600" lang="en-US"/>
          </a:p>
        </p:txBody>
      </p:sp>
      <p:sp>
        <p:nvSpPr>
          <p:cNvPr id="1048679" name="Shape 2"/>
          <p:cNvSpPr/>
          <p:nvPr/>
        </p:nvSpPr>
        <p:spPr>
          <a:xfrm>
            <a:off x="274320" y="65836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80" name="Text 3"/>
          <p:cNvSpPr/>
          <p:nvPr/>
        </p:nvSpPr>
        <p:spPr>
          <a:xfrm>
            <a:off x="320040" y="658368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Snapshot Immutability</a:t>
            </a:r>
            <a:endParaRPr dirty="0" sz="1000" lang="en-US"/>
          </a:p>
        </p:txBody>
      </p:sp>
      <p:sp>
        <p:nvSpPr>
          <p:cNvPr id="1048681" name="Shape 4"/>
          <p:cNvSpPr/>
          <p:nvPr/>
        </p:nvSpPr>
        <p:spPr>
          <a:xfrm>
            <a:off x="2880360" y="914400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682" name="Text 5"/>
          <p:cNvSpPr/>
          <p:nvPr/>
        </p:nvSpPr>
        <p:spPr>
          <a:xfrm>
            <a:off x="3154680" y="749808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683" name="Shape 6"/>
          <p:cNvSpPr/>
          <p:nvPr/>
        </p:nvSpPr>
        <p:spPr>
          <a:xfrm>
            <a:off x="3429000" y="65836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84" name="Text 7"/>
          <p:cNvSpPr/>
          <p:nvPr/>
        </p:nvSpPr>
        <p:spPr>
          <a:xfrm>
            <a:off x="3520440" y="676656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FlashArray//XL + SafeMode Snapshots</a:t>
            </a:r>
            <a:endParaRPr dirty="0" sz="1100" lang="en-US"/>
          </a:p>
        </p:txBody>
      </p:sp>
      <p:sp>
        <p:nvSpPr>
          <p:cNvPr id="1048685" name="Text 8"/>
          <p:cNvSpPr/>
          <p:nvPr/>
        </p:nvSpPr>
        <p:spPr>
          <a:xfrm>
            <a:off x="3520440" y="914400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Firmware-level — not deletable even with admin credentials</a:t>
            </a:r>
            <a:endParaRPr dirty="0" sz="900" lang="en-US"/>
          </a:p>
        </p:txBody>
      </p:sp>
      <p:sp>
        <p:nvSpPr>
          <p:cNvPr id="1048686" name="Shape 9"/>
          <p:cNvSpPr/>
          <p:nvPr/>
        </p:nvSpPr>
        <p:spPr>
          <a:xfrm>
            <a:off x="274320" y="128930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87" name="Text 10"/>
          <p:cNvSpPr/>
          <p:nvPr/>
        </p:nvSpPr>
        <p:spPr>
          <a:xfrm>
            <a:off x="320040" y="1289304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Backup Separation</a:t>
            </a:r>
            <a:endParaRPr dirty="0" sz="1000" lang="en-US"/>
          </a:p>
        </p:txBody>
      </p:sp>
      <p:sp>
        <p:nvSpPr>
          <p:cNvPr id="1048688" name="Shape 11"/>
          <p:cNvSpPr/>
          <p:nvPr/>
        </p:nvSpPr>
        <p:spPr>
          <a:xfrm>
            <a:off x="2880360" y="1545336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689" name="Text 12"/>
          <p:cNvSpPr/>
          <p:nvPr/>
        </p:nvSpPr>
        <p:spPr>
          <a:xfrm>
            <a:off x="3154680" y="1380744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690" name="Shape 13"/>
          <p:cNvSpPr/>
          <p:nvPr/>
        </p:nvSpPr>
        <p:spPr>
          <a:xfrm>
            <a:off x="3429000" y="128930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91" name="Text 14"/>
          <p:cNvSpPr/>
          <p:nvPr/>
        </p:nvSpPr>
        <p:spPr>
          <a:xfrm>
            <a:off x="3520440" y="1307592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SafeMode — separate auth layer</a:t>
            </a:r>
            <a:endParaRPr dirty="0" sz="1100" lang="en-US"/>
          </a:p>
        </p:txBody>
      </p:sp>
      <p:sp>
        <p:nvSpPr>
          <p:cNvPr id="1048692" name="Text 15"/>
          <p:cNvSpPr/>
          <p:nvPr/>
        </p:nvSpPr>
        <p:spPr>
          <a:xfrm>
            <a:off x="3520440" y="1545336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Out-of-band PIN required to modify any protection policy</a:t>
            </a:r>
            <a:endParaRPr dirty="0" sz="900" lang="en-US"/>
          </a:p>
        </p:txBody>
      </p:sp>
      <p:sp>
        <p:nvSpPr>
          <p:cNvPr id="1048693" name="Shape 16"/>
          <p:cNvSpPr/>
          <p:nvPr/>
        </p:nvSpPr>
        <p:spPr>
          <a:xfrm>
            <a:off x="274320" y="1920240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94" name="Text 17"/>
          <p:cNvSpPr/>
          <p:nvPr/>
        </p:nvSpPr>
        <p:spPr>
          <a:xfrm>
            <a:off x="320040" y="1920240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A261"/>
                </a:solidFill>
              </a:rPr>
              <a:t>DR Readiness</a:t>
            </a:r>
            <a:endParaRPr dirty="0" sz="1000" lang="en-US"/>
          </a:p>
        </p:txBody>
      </p:sp>
      <p:sp>
        <p:nvSpPr>
          <p:cNvPr id="1048695" name="Shape 18"/>
          <p:cNvSpPr/>
          <p:nvPr/>
        </p:nvSpPr>
        <p:spPr>
          <a:xfrm>
            <a:off x="2880360" y="2176272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696" name="Text 19"/>
          <p:cNvSpPr/>
          <p:nvPr/>
        </p:nvSpPr>
        <p:spPr>
          <a:xfrm>
            <a:off x="3154680" y="2011680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697" name="Shape 20"/>
          <p:cNvSpPr/>
          <p:nvPr/>
        </p:nvSpPr>
        <p:spPr>
          <a:xfrm>
            <a:off x="3429000" y="1920240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698" name="Text 21"/>
          <p:cNvSpPr/>
          <p:nvPr/>
        </p:nvSpPr>
        <p:spPr>
          <a:xfrm>
            <a:off x="3520440" y="1938528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ActiveCluster + ActiveDR + Pure Mediator</a:t>
            </a:r>
            <a:endParaRPr dirty="0" sz="1100" lang="en-US"/>
          </a:p>
        </p:txBody>
      </p:sp>
      <p:sp>
        <p:nvSpPr>
          <p:cNvPr id="1048699" name="Text 22"/>
          <p:cNvSpPr/>
          <p:nvPr/>
        </p:nvSpPr>
        <p:spPr>
          <a:xfrm>
            <a:off x="3520440" y="2176272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Zero RPO sync replication · RTO &lt;15 min · Free cloud arbiter</a:t>
            </a:r>
            <a:endParaRPr dirty="0" sz="900" lang="en-US"/>
          </a:p>
        </p:txBody>
      </p:sp>
      <p:sp>
        <p:nvSpPr>
          <p:cNvPr id="1048700" name="Shape 23"/>
          <p:cNvSpPr/>
          <p:nvPr/>
        </p:nvSpPr>
        <p:spPr>
          <a:xfrm>
            <a:off x="274320" y="2551176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701" name="Text 24"/>
          <p:cNvSpPr/>
          <p:nvPr/>
        </p:nvSpPr>
        <p:spPr>
          <a:xfrm>
            <a:off x="320040" y="2551176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A261"/>
                </a:solidFill>
              </a:rPr>
              <a:t>EHR Object Storage</a:t>
            </a:r>
            <a:endParaRPr dirty="0" sz="1000" lang="en-US"/>
          </a:p>
        </p:txBody>
      </p:sp>
      <p:sp>
        <p:nvSpPr>
          <p:cNvPr id="1048702" name="Shape 25"/>
          <p:cNvSpPr/>
          <p:nvPr/>
        </p:nvSpPr>
        <p:spPr>
          <a:xfrm>
            <a:off x="2880360" y="2807208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703" name="Text 26"/>
          <p:cNvSpPr/>
          <p:nvPr/>
        </p:nvSpPr>
        <p:spPr>
          <a:xfrm>
            <a:off x="3154680" y="2642616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704" name="Shape 27"/>
          <p:cNvSpPr/>
          <p:nvPr/>
        </p:nvSpPr>
        <p:spPr>
          <a:xfrm>
            <a:off x="3429000" y="2551176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05" name="Text 28"/>
          <p:cNvSpPr/>
          <p:nvPr/>
        </p:nvSpPr>
        <p:spPr>
          <a:xfrm>
            <a:off x="3520440" y="2569464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FlashBlade//S3 with Object Lock</a:t>
            </a:r>
            <a:endParaRPr dirty="0" sz="1100" lang="en-US"/>
          </a:p>
        </p:txBody>
      </p:sp>
      <p:sp>
        <p:nvSpPr>
          <p:cNvPr id="1048706" name="Text 29"/>
          <p:cNvSpPr/>
          <p:nvPr/>
        </p:nvSpPr>
        <p:spPr>
          <a:xfrm>
            <a:off x="3520440" y="2807208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Compliance mode WORM — nobody can delete until retention expires</a:t>
            </a:r>
            <a:endParaRPr dirty="0" sz="900" lang="en-US"/>
          </a:p>
        </p:txBody>
      </p:sp>
      <p:sp>
        <p:nvSpPr>
          <p:cNvPr id="1048707" name="Shape 30"/>
          <p:cNvSpPr/>
          <p:nvPr/>
        </p:nvSpPr>
        <p:spPr>
          <a:xfrm>
            <a:off x="274320" y="3182112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708" name="Text 31"/>
          <p:cNvSpPr/>
          <p:nvPr/>
        </p:nvSpPr>
        <p:spPr>
          <a:xfrm>
            <a:off x="320040" y="3182112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A261"/>
                </a:solidFill>
              </a:rPr>
              <a:t>Kubernetes Protection</a:t>
            </a:r>
            <a:endParaRPr dirty="0" sz="1000" lang="en-US"/>
          </a:p>
        </p:txBody>
      </p:sp>
      <p:sp>
        <p:nvSpPr>
          <p:cNvPr id="1048709" name="Shape 32"/>
          <p:cNvSpPr/>
          <p:nvPr/>
        </p:nvSpPr>
        <p:spPr>
          <a:xfrm>
            <a:off x="2880360" y="3438144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710" name="Text 33"/>
          <p:cNvSpPr/>
          <p:nvPr/>
        </p:nvSpPr>
        <p:spPr>
          <a:xfrm>
            <a:off x="3154680" y="3273552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711" name="Shape 34"/>
          <p:cNvSpPr/>
          <p:nvPr/>
        </p:nvSpPr>
        <p:spPr>
          <a:xfrm>
            <a:off x="3429000" y="3182112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12" name="Text 35"/>
          <p:cNvSpPr/>
          <p:nvPr/>
        </p:nvSpPr>
        <p:spPr>
          <a:xfrm>
            <a:off x="3520440" y="3200400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Portworx Enterprise + PX-Backup</a:t>
            </a:r>
            <a:endParaRPr dirty="0" sz="1100" lang="en-US"/>
          </a:p>
        </p:txBody>
      </p:sp>
      <p:sp>
        <p:nvSpPr>
          <p:cNvPr id="1048713" name="Text 36"/>
          <p:cNvSpPr/>
          <p:nvPr/>
        </p:nvSpPr>
        <p:spPr>
          <a:xfrm>
            <a:off x="3520440" y="3438144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K8s-native storage · PX-Backup protects PVs inside OpenShift</a:t>
            </a:r>
            <a:endParaRPr dirty="0" sz="900" lang="en-US"/>
          </a:p>
        </p:txBody>
      </p:sp>
      <p:sp>
        <p:nvSpPr>
          <p:cNvPr id="1048714" name="Shape 37"/>
          <p:cNvSpPr/>
          <p:nvPr/>
        </p:nvSpPr>
        <p:spPr>
          <a:xfrm>
            <a:off x="274320" y="3813048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715" name="Text 38"/>
          <p:cNvSpPr/>
          <p:nvPr/>
        </p:nvSpPr>
        <p:spPr>
          <a:xfrm>
            <a:off x="320040" y="3813048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E63946"/>
                </a:solidFill>
              </a:rPr>
              <a:t>Credential Controls</a:t>
            </a:r>
            <a:endParaRPr dirty="0" sz="1000" lang="en-US"/>
          </a:p>
        </p:txBody>
      </p:sp>
      <p:sp>
        <p:nvSpPr>
          <p:cNvPr id="1048716" name="Shape 39"/>
          <p:cNvSpPr/>
          <p:nvPr/>
        </p:nvSpPr>
        <p:spPr>
          <a:xfrm>
            <a:off x="2880360" y="4069080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717" name="Text 40"/>
          <p:cNvSpPr/>
          <p:nvPr/>
        </p:nvSpPr>
        <p:spPr>
          <a:xfrm>
            <a:off x="3154680" y="3904488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718" name="Shape 41"/>
          <p:cNvSpPr/>
          <p:nvPr/>
        </p:nvSpPr>
        <p:spPr>
          <a:xfrm>
            <a:off x="3429000" y="381304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19" name="Text 42"/>
          <p:cNvSpPr/>
          <p:nvPr/>
        </p:nvSpPr>
        <p:spPr>
          <a:xfrm>
            <a:off x="3520440" y="3831336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SafeMode Admin Separation</a:t>
            </a:r>
            <a:endParaRPr dirty="0" sz="1100" lang="en-US"/>
          </a:p>
        </p:txBody>
      </p:sp>
      <p:sp>
        <p:nvSpPr>
          <p:cNvPr id="1048720" name="Text 43"/>
          <p:cNvSpPr/>
          <p:nvPr/>
        </p:nvSpPr>
        <p:spPr>
          <a:xfrm>
            <a:off x="3520440" y="4069080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Multi-factor, out-of-band — credential compromise cannot reach snapshots</a:t>
            </a:r>
            <a:endParaRPr dirty="0" sz="900" lang="en-US"/>
          </a:p>
        </p:txBody>
      </p:sp>
      <p:sp>
        <p:nvSpPr>
          <p:cNvPr id="1048721" name="Shape 44"/>
          <p:cNvSpPr/>
          <p:nvPr/>
        </p:nvSpPr>
        <p:spPr>
          <a:xfrm>
            <a:off x="274320" y="4443984"/>
            <a:ext cx="2560320" cy="512064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722" name="Text 45"/>
          <p:cNvSpPr/>
          <p:nvPr/>
        </p:nvSpPr>
        <p:spPr>
          <a:xfrm>
            <a:off x="320040" y="4443984"/>
            <a:ext cx="2468880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A261"/>
                </a:solidFill>
              </a:rPr>
              <a:t>Two Sites Only</a:t>
            </a:r>
            <a:endParaRPr dirty="0" sz="1000" lang="en-US"/>
          </a:p>
        </p:txBody>
      </p:sp>
      <p:sp>
        <p:nvSpPr>
          <p:cNvPr id="1048723" name="Shape 46"/>
          <p:cNvSpPr/>
          <p:nvPr/>
        </p:nvSpPr>
        <p:spPr>
          <a:xfrm>
            <a:off x="2880360" y="4700016"/>
            <a:ext cx="320040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724" name="Text 47"/>
          <p:cNvSpPr/>
          <p:nvPr/>
        </p:nvSpPr>
        <p:spPr>
          <a:xfrm>
            <a:off x="3154680" y="4535424"/>
            <a:ext cx="2286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00B4D8"/>
                </a:solidFill>
              </a:rPr>
              <a:t>→</a:t>
            </a:r>
            <a:endParaRPr dirty="0" sz="1400" lang="en-US"/>
          </a:p>
        </p:txBody>
      </p:sp>
      <p:sp>
        <p:nvSpPr>
          <p:cNvPr id="1048725" name="Shape 48"/>
          <p:cNvSpPr/>
          <p:nvPr/>
        </p:nvSpPr>
        <p:spPr>
          <a:xfrm>
            <a:off x="3429000" y="444398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243B55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26" name="Text 49"/>
          <p:cNvSpPr/>
          <p:nvPr/>
        </p:nvSpPr>
        <p:spPr>
          <a:xfrm>
            <a:off x="3520440" y="4462272"/>
            <a:ext cx="521208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Pure Mediator (Cloud Tiebreaker)</a:t>
            </a:r>
            <a:endParaRPr dirty="0" sz="1100" lang="en-US"/>
          </a:p>
        </p:txBody>
      </p:sp>
      <p:sp>
        <p:nvSpPr>
          <p:cNvPr id="1048727" name="Text 50"/>
          <p:cNvSpPr/>
          <p:nvPr/>
        </p:nvSpPr>
        <p:spPr>
          <a:xfrm>
            <a:off x="3520440" y="4700016"/>
            <a:ext cx="52120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Free lightweight cloud process — clean failover, no split-brain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09717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/>
        </p:spPr>
      </p:pic>
      <p:sp>
        <p:nvSpPr>
          <p:cNvPr id="1048732" name="Text 1"/>
          <p:cNvSpPr/>
          <p:nvPr/>
        </p:nvSpPr>
        <p:spPr>
          <a:xfrm>
            <a:off x="749808" y="0"/>
            <a:ext cx="82296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Gap 1 &amp; 6: Snapshot Immutability &amp; Credential Controls → SafeMode</a:t>
            </a:r>
            <a:endParaRPr dirty="0" sz="1400" lang="en-US"/>
          </a:p>
        </p:txBody>
      </p:sp>
      <p:sp>
        <p:nvSpPr>
          <p:cNvPr id="1048733" name="Shape 2"/>
          <p:cNvSpPr/>
          <p:nvPr/>
        </p:nvSpPr>
        <p:spPr>
          <a:xfrm>
            <a:off x="274320" y="68580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1A2F4A"/>
          </a:solidFill>
          <a:ln w="19050">
            <a:solidFill>
              <a:srgbClr val="E63946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34" name="Text 3"/>
          <p:cNvSpPr/>
          <p:nvPr/>
        </p:nvSpPr>
        <p:spPr>
          <a:xfrm>
            <a:off x="457200" y="777240"/>
            <a:ext cx="35661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E63946"/>
                </a:solidFill>
              </a:rPr>
              <a:t>BEFORE — Existing Stack</a:t>
            </a:r>
            <a:endParaRPr dirty="0" sz="1200" lang="en-US"/>
          </a:p>
        </p:txBody>
      </p:sp>
      <p:pic>
        <p:nvPicPr>
          <p:cNvPr id="209717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1188720"/>
            <a:ext cx="201168" cy="201168"/>
          </a:xfrm>
          <a:prstGeom prst="rect"/>
        </p:spPr>
      </p:pic>
      <p:sp>
        <p:nvSpPr>
          <p:cNvPr id="1048735" name="Text 4"/>
          <p:cNvSpPr/>
          <p:nvPr/>
        </p:nvSpPr>
        <p:spPr>
          <a:xfrm>
            <a:off x="731520" y="1170432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Snapshots stored as metadata on array</a:t>
            </a:r>
            <a:endParaRPr dirty="0" sz="1000" lang="en-US"/>
          </a:p>
        </p:txBody>
      </p:sp>
      <p:pic>
        <p:nvPicPr>
          <p:cNvPr id="2097172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57200" y="1645920"/>
            <a:ext cx="201168" cy="201168"/>
          </a:xfrm>
          <a:prstGeom prst="rect"/>
        </p:spPr>
      </p:pic>
      <p:sp>
        <p:nvSpPr>
          <p:cNvPr id="1048736" name="Text 5"/>
          <p:cNvSpPr/>
          <p:nvPr/>
        </p:nvSpPr>
        <p:spPr>
          <a:xfrm>
            <a:off x="731520" y="1627632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Admin credentials can delete snapshots</a:t>
            </a:r>
            <a:endParaRPr dirty="0" sz="1000" lang="en-US"/>
          </a:p>
        </p:txBody>
      </p:sp>
      <p:pic>
        <p:nvPicPr>
          <p:cNvPr id="2097173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2103120"/>
            <a:ext cx="201168" cy="201168"/>
          </a:xfrm>
          <a:prstGeom prst="rect"/>
        </p:spPr>
      </p:pic>
      <p:sp>
        <p:nvSpPr>
          <p:cNvPr id="1048737" name="Text 6"/>
          <p:cNvSpPr/>
          <p:nvPr/>
        </p:nvSpPr>
        <p:spPr>
          <a:xfrm>
            <a:off x="731520" y="2084832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Attacker deleted all recovery points</a:t>
            </a:r>
            <a:endParaRPr dirty="0" sz="1000" lang="en-US"/>
          </a:p>
        </p:txBody>
      </p:sp>
      <p:pic>
        <p:nvPicPr>
          <p:cNvPr id="2097174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2560320"/>
            <a:ext cx="201168" cy="201168"/>
          </a:xfrm>
          <a:prstGeom prst="rect"/>
        </p:spPr>
      </p:pic>
      <p:sp>
        <p:nvSpPr>
          <p:cNvPr id="1048738" name="Text 7"/>
          <p:cNvSpPr/>
          <p:nvPr/>
        </p:nvSpPr>
        <p:spPr>
          <a:xfrm>
            <a:off x="731520" y="2542032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No secondary auth required</a:t>
            </a:r>
            <a:endParaRPr dirty="0" sz="1000" lang="en-US"/>
          </a:p>
        </p:txBody>
      </p:sp>
      <p:pic>
        <p:nvPicPr>
          <p:cNvPr id="2097175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57200" y="3017520"/>
            <a:ext cx="201168" cy="201168"/>
          </a:xfrm>
          <a:prstGeom prst="rect"/>
        </p:spPr>
      </p:pic>
      <p:sp>
        <p:nvSpPr>
          <p:cNvPr id="1048739" name="Text 8"/>
          <p:cNvSpPr/>
          <p:nvPr/>
        </p:nvSpPr>
        <p:spPr>
          <a:xfrm>
            <a:off x="731520" y="2999232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Backup catalog on same network — encrypted</a:t>
            </a:r>
            <a:endParaRPr dirty="0" sz="1000" lang="en-US"/>
          </a:p>
        </p:txBody>
      </p:sp>
      <p:pic>
        <p:nvPicPr>
          <p:cNvPr id="2097176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57200" y="3474720"/>
            <a:ext cx="201168" cy="201168"/>
          </a:xfrm>
          <a:prstGeom prst="rect"/>
        </p:spPr>
      </p:pic>
      <p:sp>
        <p:nvSpPr>
          <p:cNvPr id="1048740" name="Text 9"/>
          <p:cNvSpPr/>
          <p:nvPr/>
        </p:nvSpPr>
        <p:spPr>
          <a:xfrm>
            <a:off x="731520" y="3456432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Result: Zero recovery options. 5-day tape restore.</a:t>
            </a:r>
            <a:endParaRPr dirty="0" sz="1000" lang="en-US"/>
          </a:p>
        </p:txBody>
      </p:sp>
      <p:sp>
        <p:nvSpPr>
          <p:cNvPr id="1048741" name="Shape 10"/>
          <p:cNvSpPr/>
          <p:nvPr/>
        </p:nvSpPr>
        <p:spPr>
          <a:xfrm>
            <a:off x="4572000" y="6858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42" name="Text 11"/>
          <p:cNvSpPr/>
          <p:nvPr/>
        </p:nvSpPr>
        <p:spPr>
          <a:xfrm>
            <a:off x="4754880" y="777240"/>
            <a:ext cx="39319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B4D8"/>
                </a:solidFill>
              </a:rPr>
              <a:t>AFTER — Everpure SafeMode</a:t>
            </a:r>
            <a:endParaRPr dirty="0" sz="1200" lang="en-US"/>
          </a:p>
        </p:txBody>
      </p:sp>
      <p:pic>
        <p:nvPicPr>
          <p:cNvPr id="2097177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4709160" y="1188720"/>
            <a:ext cx="201168" cy="201168"/>
          </a:xfrm>
          <a:prstGeom prst="rect"/>
        </p:spPr>
      </p:pic>
      <p:sp>
        <p:nvSpPr>
          <p:cNvPr id="1048743" name="Text 12"/>
          <p:cNvSpPr/>
          <p:nvPr/>
        </p:nvSpPr>
        <p:spPr>
          <a:xfrm>
            <a:off x="4983480" y="1170432"/>
            <a:ext cx="37490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SafeMode snapshots stored at firmware level</a:t>
            </a:r>
            <a:endParaRPr dirty="0" sz="1000" lang="en-US"/>
          </a:p>
        </p:txBody>
      </p:sp>
      <p:pic>
        <p:nvPicPr>
          <p:cNvPr id="2097178" name="Image 8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709160" y="1645920"/>
            <a:ext cx="201168" cy="201168"/>
          </a:xfrm>
          <a:prstGeom prst="rect"/>
        </p:spPr>
      </p:pic>
      <p:sp>
        <p:nvSpPr>
          <p:cNvPr id="1048744" name="Text 13"/>
          <p:cNvSpPr/>
          <p:nvPr/>
        </p:nvSpPr>
        <p:spPr>
          <a:xfrm>
            <a:off x="4983480" y="1627632"/>
            <a:ext cx="37490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Cannot be deleted — even by compromised admin</a:t>
            </a:r>
            <a:endParaRPr dirty="0" sz="1000" lang="en-US"/>
          </a:p>
        </p:txBody>
      </p:sp>
      <p:pic>
        <p:nvPicPr>
          <p:cNvPr id="2097179" name="Image 9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4709160" y="2103120"/>
            <a:ext cx="201168" cy="201168"/>
          </a:xfrm>
          <a:prstGeom prst="rect"/>
        </p:spPr>
      </p:pic>
      <p:sp>
        <p:nvSpPr>
          <p:cNvPr id="1048745" name="Text 14"/>
          <p:cNvSpPr/>
          <p:nvPr/>
        </p:nvSpPr>
        <p:spPr>
          <a:xfrm>
            <a:off x="4983480" y="2084832"/>
            <a:ext cx="37490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Separate out-of-band PIN to modify any policy</a:t>
            </a:r>
            <a:endParaRPr dirty="0" sz="1000" lang="en-US"/>
          </a:p>
        </p:txBody>
      </p:sp>
      <p:pic>
        <p:nvPicPr>
          <p:cNvPr id="2097180" name="Image 1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4709160" y="2560320"/>
            <a:ext cx="201168" cy="201168"/>
          </a:xfrm>
          <a:prstGeom prst="rect"/>
        </p:spPr>
      </p:pic>
      <p:sp>
        <p:nvSpPr>
          <p:cNvPr id="1048746" name="Text 15"/>
          <p:cNvSpPr/>
          <p:nvPr/>
        </p:nvSpPr>
        <p:spPr>
          <a:xfrm>
            <a:off x="4983480" y="2542032"/>
            <a:ext cx="37490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Snapshots survive credential compromise</a:t>
            </a:r>
            <a:endParaRPr dirty="0" sz="1000" lang="en-US"/>
          </a:p>
        </p:txBody>
      </p:sp>
      <p:pic>
        <p:nvPicPr>
          <p:cNvPr id="2097181" name="Image 1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4709160" y="3017520"/>
            <a:ext cx="201168" cy="201168"/>
          </a:xfrm>
          <a:prstGeom prst="rect"/>
        </p:spPr>
      </p:pic>
      <p:sp>
        <p:nvSpPr>
          <p:cNvPr id="1048747" name="Text 16"/>
          <p:cNvSpPr/>
          <p:nvPr/>
        </p:nvSpPr>
        <p:spPr>
          <a:xfrm>
            <a:off x="4983480" y="2999232"/>
            <a:ext cx="37490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Pure support cannot delete without PIN</a:t>
            </a:r>
            <a:endParaRPr dirty="0" sz="1000" lang="en-US"/>
          </a:p>
        </p:txBody>
      </p:sp>
      <p:pic>
        <p:nvPicPr>
          <p:cNvPr id="2097182" name="Image 1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4709160" y="3474720"/>
            <a:ext cx="201168" cy="201168"/>
          </a:xfrm>
          <a:prstGeom prst="rect"/>
        </p:spPr>
      </p:pic>
      <p:sp>
        <p:nvSpPr>
          <p:cNvPr id="1048748" name="Text 17"/>
          <p:cNvSpPr/>
          <p:nvPr/>
        </p:nvSpPr>
        <p:spPr>
          <a:xfrm>
            <a:off x="4983480" y="3456432"/>
            <a:ext cx="37490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Result: Clean recovery in &lt;15 minutes.</a:t>
            </a:r>
            <a:endParaRPr dirty="0" sz="1000" lang="en-US"/>
          </a:p>
        </p:txBody>
      </p:sp>
      <p:sp>
        <p:nvSpPr>
          <p:cNvPr id="1048749" name="Shape 18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1A0000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048750" name="Text 19"/>
          <p:cNvSpPr/>
          <p:nvPr/>
        </p:nvSpPr>
        <p:spPr>
          <a:xfrm>
            <a:off x="411480" y="4681728"/>
            <a:ext cx="83210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vs Dell: PowerStore snapshots use read-only properties — an admin credential can still delete them. SafeMode is firmware-enforced — the attack path does not exist.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209718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/>
        </p:spPr>
      </p:pic>
      <p:sp>
        <p:nvSpPr>
          <p:cNvPr id="1048755" name="Text 1"/>
          <p:cNvSpPr/>
          <p:nvPr/>
        </p:nvSpPr>
        <p:spPr>
          <a:xfrm>
            <a:off x="749808" y="0"/>
            <a:ext cx="82296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Gap 4: EHR Object Storage → FlashBlade//S3 with Object Lock</a:t>
            </a:r>
            <a:endParaRPr dirty="0" sz="1400" lang="en-US"/>
          </a:p>
        </p:txBody>
      </p:sp>
      <p:sp>
        <p:nvSpPr>
          <p:cNvPr id="1048756" name="Shape 2"/>
          <p:cNvSpPr/>
          <p:nvPr/>
        </p:nvSpPr>
        <p:spPr>
          <a:xfrm>
            <a:off x="274320" y="6858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A000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757" name="Text 3"/>
          <p:cNvSpPr/>
          <p:nvPr/>
        </p:nvSpPr>
        <p:spPr>
          <a:xfrm>
            <a:off x="457200" y="731520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The Problem: 10+ PB of EHR on legacy S3-compatible storage — no WORM, no Object Lock, no immutability. HIPAA requires 7–10 year retention. One compromised admin account can delete years of records.</a:t>
            </a:r>
            <a:endParaRPr dirty="0" sz="1000" lang="en-US"/>
          </a:p>
        </p:txBody>
      </p:sp>
      <p:sp>
        <p:nvSpPr>
          <p:cNvPr id="1048758" name="Text 4"/>
          <p:cNvSpPr/>
          <p:nvPr/>
        </p:nvSpPr>
        <p:spPr>
          <a:xfrm>
            <a:off x="274320" y="1444752"/>
            <a:ext cx="50292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B4D8"/>
                </a:solidFill>
              </a:rPr>
              <a:t>Object Lock: Two Modes — Only One Meets HIPAA</a:t>
            </a:r>
            <a:endParaRPr dirty="0" sz="1200" lang="en-US"/>
          </a:p>
        </p:txBody>
      </p:sp>
      <p:sp>
        <p:nvSpPr>
          <p:cNvPr id="1048759" name="Shape 5"/>
          <p:cNvSpPr/>
          <p:nvPr/>
        </p:nvSpPr>
        <p:spPr>
          <a:xfrm>
            <a:off x="27432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60" name="Text 6"/>
          <p:cNvSpPr/>
          <p:nvPr/>
        </p:nvSpPr>
        <p:spPr>
          <a:xfrm>
            <a:off x="365760" y="1847088"/>
            <a:ext cx="22860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Governance Mode</a:t>
            </a:r>
            <a:endParaRPr dirty="0" sz="1100" lang="en-US"/>
          </a:p>
        </p:txBody>
      </p:sp>
      <p:sp>
        <p:nvSpPr>
          <p:cNvPr id="1048761" name="Text 7"/>
          <p:cNvSpPr/>
          <p:nvPr/>
        </p:nvSpPr>
        <p:spPr>
          <a:xfrm>
            <a:off x="365760" y="2148840"/>
            <a:ext cx="2286000" cy="12801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Privileged users with special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permissions can override lock.</a:t>
            </a:r>
            <a:endParaRPr dirty="0" sz="900" lang="en-US"/>
          </a:p>
          <a:p>
            <a:pPr indent="0" marL="0">
              <a:buNone/>
            </a:pP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A compromised admin with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elevated access can still delete.</a:t>
            </a:r>
            <a:endParaRPr dirty="0" sz="900" lang="en-US"/>
          </a:p>
          <a:p>
            <a:pPr indent="0" marL="0">
              <a:buNone/>
            </a:pP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⚠ Not sufficient for HIPAA</a:t>
            </a:r>
            <a:endParaRPr dirty="0" sz="900" lang="en-US"/>
          </a:p>
        </p:txBody>
      </p:sp>
      <p:sp>
        <p:nvSpPr>
          <p:cNvPr id="1048762" name="Shape 8"/>
          <p:cNvSpPr/>
          <p:nvPr/>
        </p:nvSpPr>
        <p:spPr>
          <a:xfrm>
            <a:off x="288036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63" name="Text 9"/>
          <p:cNvSpPr/>
          <p:nvPr/>
        </p:nvSpPr>
        <p:spPr>
          <a:xfrm>
            <a:off x="2971800" y="1847088"/>
            <a:ext cx="22860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Compliance Mode  ✓</a:t>
            </a:r>
            <a:endParaRPr dirty="0" sz="1100" lang="en-US"/>
          </a:p>
        </p:txBody>
      </p:sp>
      <p:sp>
        <p:nvSpPr>
          <p:cNvPr id="1048764" name="Text 10"/>
          <p:cNvSpPr/>
          <p:nvPr/>
        </p:nvSpPr>
        <p:spPr>
          <a:xfrm>
            <a:off x="2971800" y="2148840"/>
            <a:ext cx="2286000" cy="12801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Nobody can override — not root,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not storage admin, not Pure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support, not anyone.</a:t>
            </a:r>
            <a:endParaRPr dirty="0" sz="900" lang="en-US"/>
          </a:p>
          <a:p>
            <a:pPr indent="0" marL="0">
              <a:buNone/>
            </a:pP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Retention is in the object itself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at write time.</a:t>
            </a:r>
            <a:endParaRPr dirty="0" sz="900" lang="en-US"/>
          </a:p>
          <a:p>
            <a:pPr indent="0" marL="0">
              <a:buNone/>
            </a:pP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✓ Legally defensible for HIPAA</a:t>
            </a:r>
            <a:endParaRPr dirty="0" sz="900" lang="en-US"/>
          </a:p>
        </p:txBody>
      </p:sp>
      <p:sp>
        <p:nvSpPr>
          <p:cNvPr id="1048765" name="Text 11"/>
          <p:cNvSpPr/>
          <p:nvPr/>
        </p:nvSpPr>
        <p:spPr>
          <a:xfrm>
            <a:off x="5577840" y="1444752"/>
            <a:ext cx="32918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B4D8"/>
                </a:solidFill>
              </a:rPr>
              <a:t>Addressing the 10 PB Cost Objection</a:t>
            </a:r>
            <a:endParaRPr dirty="0" sz="1200" lang="en-US"/>
          </a:p>
        </p:txBody>
      </p:sp>
      <p:sp>
        <p:nvSpPr>
          <p:cNvPr id="1048766" name="Shape 12"/>
          <p:cNvSpPr/>
          <p:nvPr/>
        </p:nvSpPr>
        <p:spPr>
          <a:xfrm>
            <a:off x="5577840" y="1783080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67" name="Text 13"/>
          <p:cNvSpPr/>
          <p:nvPr/>
        </p:nvSpPr>
        <p:spPr>
          <a:xfrm>
            <a:off x="5669280" y="1810512"/>
            <a:ext cx="109728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Hot Tier</a:t>
            </a:r>
            <a:endParaRPr dirty="0" sz="1000" lang="en-US"/>
          </a:p>
        </p:txBody>
      </p:sp>
      <p:sp>
        <p:nvSpPr>
          <p:cNvPr id="1048768" name="Text 14"/>
          <p:cNvSpPr/>
          <p:nvPr/>
        </p:nvSpPr>
        <p:spPr>
          <a:xfrm>
            <a:off x="5669280" y="2039112"/>
            <a:ext cx="13716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8EADC7"/>
                </a:solidFill>
              </a:rPr>
              <a:t>Active EHR · Last 12 mo</a:t>
            </a:r>
            <a:endParaRPr dirty="0" sz="800" lang="en-US"/>
          </a:p>
        </p:txBody>
      </p:sp>
      <p:sp>
        <p:nvSpPr>
          <p:cNvPr id="1048769" name="Text 15"/>
          <p:cNvSpPr/>
          <p:nvPr/>
        </p:nvSpPr>
        <p:spPr>
          <a:xfrm>
            <a:off x="6858000" y="1810512"/>
            <a:ext cx="19202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FlashBlade //S</a:t>
            </a:r>
            <a:endParaRPr dirty="0" sz="1000" lang="en-US"/>
          </a:p>
        </p:txBody>
      </p:sp>
      <p:sp>
        <p:nvSpPr>
          <p:cNvPr id="1048770" name="Text 16"/>
          <p:cNvSpPr/>
          <p:nvPr/>
        </p:nvSpPr>
        <p:spPr>
          <a:xfrm>
            <a:off x="6858000" y="2039112"/>
            <a:ext cx="19202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8EADC7"/>
                </a:solidFill>
              </a:rPr>
              <a:t>Fast retrieval + Object Lock</a:t>
            </a:r>
            <a:endParaRPr dirty="0" sz="800" lang="en-US"/>
          </a:p>
        </p:txBody>
      </p:sp>
      <p:sp>
        <p:nvSpPr>
          <p:cNvPr id="1048771" name="Shape 17"/>
          <p:cNvSpPr/>
          <p:nvPr/>
        </p:nvSpPr>
        <p:spPr>
          <a:xfrm>
            <a:off x="5577840" y="2359152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48CAE4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72" name="Text 18"/>
          <p:cNvSpPr/>
          <p:nvPr/>
        </p:nvSpPr>
        <p:spPr>
          <a:xfrm>
            <a:off x="5669280" y="2386584"/>
            <a:ext cx="109728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48CAE4"/>
                </a:solidFill>
              </a:rPr>
              <a:t>Warm Tier</a:t>
            </a:r>
            <a:endParaRPr dirty="0" sz="1000" lang="en-US"/>
          </a:p>
        </p:txBody>
      </p:sp>
      <p:sp>
        <p:nvSpPr>
          <p:cNvPr id="1048773" name="Text 19"/>
          <p:cNvSpPr/>
          <p:nvPr/>
        </p:nvSpPr>
        <p:spPr>
          <a:xfrm>
            <a:off x="5669280" y="2615184"/>
            <a:ext cx="13716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8EADC7"/>
                </a:solidFill>
              </a:rPr>
              <a:t>1–3 years</a:t>
            </a:r>
            <a:endParaRPr dirty="0" sz="800" lang="en-US"/>
          </a:p>
        </p:txBody>
      </p:sp>
      <p:sp>
        <p:nvSpPr>
          <p:cNvPr id="1048774" name="Text 20"/>
          <p:cNvSpPr/>
          <p:nvPr/>
        </p:nvSpPr>
        <p:spPr>
          <a:xfrm>
            <a:off x="6858000" y="2386584"/>
            <a:ext cx="19202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FlashBlade //E</a:t>
            </a:r>
            <a:endParaRPr dirty="0" sz="1000" lang="en-US"/>
          </a:p>
        </p:txBody>
      </p:sp>
      <p:sp>
        <p:nvSpPr>
          <p:cNvPr id="1048775" name="Text 21"/>
          <p:cNvSpPr/>
          <p:nvPr/>
        </p:nvSpPr>
        <p:spPr>
          <a:xfrm>
            <a:off x="6858000" y="2615184"/>
            <a:ext cx="19202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8EADC7"/>
                </a:solidFill>
              </a:rPr>
              <a:t>Capacity-optimised flash</a:t>
            </a:r>
            <a:endParaRPr dirty="0" sz="800" lang="en-US"/>
          </a:p>
        </p:txBody>
      </p:sp>
      <p:sp>
        <p:nvSpPr>
          <p:cNvPr id="1048776" name="Shape 22"/>
          <p:cNvSpPr/>
          <p:nvPr/>
        </p:nvSpPr>
        <p:spPr>
          <a:xfrm>
            <a:off x="5577840" y="2935224"/>
            <a:ext cx="3291840" cy="512064"/>
          </a:xfrm>
          <a:prstGeom prst="roundRect">
            <a:avLst>
              <a:gd name="adj" fmla="val 12500"/>
            </a:avLst>
          </a:prstGeom>
          <a:solidFill>
            <a:srgbClr val="1A2F4A"/>
          </a:solidFill>
          <a:ln w="9525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77" name="Text 23"/>
          <p:cNvSpPr/>
          <p:nvPr/>
        </p:nvSpPr>
        <p:spPr>
          <a:xfrm>
            <a:off x="5669280" y="2962656"/>
            <a:ext cx="109728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A261"/>
                </a:solidFill>
              </a:rPr>
              <a:t>Cold Tier</a:t>
            </a:r>
            <a:endParaRPr dirty="0" sz="1000" lang="en-US"/>
          </a:p>
        </p:txBody>
      </p:sp>
      <p:sp>
        <p:nvSpPr>
          <p:cNvPr id="1048778" name="Text 24"/>
          <p:cNvSpPr/>
          <p:nvPr/>
        </p:nvSpPr>
        <p:spPr>
          <a:xfrm>
            <a:off x="5669280" y="3191256"/>
            <a:ext cx="13716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8EADC7"/>
                </a:solidFill>
              </a:rPr>
              <a:t>3–10 years, rare access</a:t>
            </a:r>
            <a:endParaRPr dirty="0" sz="800" lang="en-US"/>
          </a:p>
        </p:txBody>
      </p:sp>
      <p:sp>
        <p:nvSpPr>
          <p:cNvPr id="1048779" name="Text 25"/>
          <p:cNvSpPr/>
          <p:nvPr/>
        </p:nvSpPr>
        <p:spPr>
          <a:xfrm>
            <a:off x="6858000" y="2962656"/>
            <a:ext cx="192024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Dense Object/Cloud</a:t>
            </a:r>
            <a:endParaRPr dirty="0" sz="1000" lang="en-US"/>
          </a:p>
        </p:txBody>
      </p:sp>
      <p:sp>
        <p:nvSpPr>
          <p:cNvPr id="1048780" name="Text 26"/>
          <p:cNvSpPr/>
          <p:nvPr/>
        </p:nvSpPr>
        <p:spPr>
          <a:xfrm>
            <a:off x="6858000" y="3191256"/>
            <a:ext cx="19202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00" lang="en-US">
                <a:solidFill>
                  <a:srgbClr val="8EADC7"/>
                </a:solidFill>
              </a:rPr>
              <a:t>Cost-effective, policy WORM</a:t>
            </a:r>
            <a:endParaRPr dirty="0" sz="800" lang="en-US"/>
          </a:p>
        </p:txBody>
      </p:sp>
      <p:sp>
        <p:nvSpPr>
          <p:cNvPr id="1048781" name="Shape 27"/>
          <p:cNvSpPr/>
          <p:nvPr/>
        </p:nvSpPr>
        <p:spPr>
          <a:xfrm>
            <a:off x="5577840" y="3566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243B55"/>
          </a:solidFill>
          <a:ln w="9525">
            <a:solidFill>
              <a:srgbClr val="8EADC7"/>
            </a:solidFill>
            <a:prstDash val="solid"/>
          </a:ln>
        </p:spPr>
      </p:sp>
      <p:sp>
        <p:nvSpPr>
          <p:cNvPr id="1048782" name="Text 28"/>
          <p:cNvSpPr/>
          <p:nvPr/>
        </p:nvSpPr>
        <p:spPr>
          <a:xfrm>
            <a:off x="5669280" y="3630168"/>
            <a:ext cx="310896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DRR Honest View</a:t>
            </a:r>
            <a:endParaRPr dirty="0" sz="1000" lang="en-US"/>
          </a:p>
        </p:txBody>
      </p:sp>
      <p:sp>
        <p:nvSpPr>
          <p:cNvPr id="1048783" name="Text 29"/>
          <p:cNvSpPr/>
          <p:nvPr/>
        </p:nvSpPr>
        <p:spPr>
          <a:xfrm>
            <a:off x="5669280" y="3858768"/>
            <a:ext cx="310896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Pre-compressed DICOM: ~1:1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Structured EHR/clinical docs: 3–5:1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Do not lead with DRR — lead with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throughput, Object Lock, and SafeMode.</a:t>
            </a:r>
            <a:endParaRPr dirty="0" sz="900" lang="en-US"/>
          </a:p>
        </p:txBody>
      </p:sp>
      <p:sp>
        <p:nvSpPr>
          <p:cNvPr id="1048784" name="Shape 30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1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785" name="Text 31"/>
          <p:cNvSpPr/>
          <p:nvPr/>
        </p:nvSpPr>
        <p:spPr>
          <a:xfrm>
            <a:off x="411480" y="4681728"/>
            <a:ext cx="83210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vs Dell ECS: Object Lock compliance mode inconsistent across versions. FlashBlade compliance mode is native, fully supported, and auditable.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pic>
        <p:nvPicPr>
          <p:cNvPr id="209718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/>
        </p:spPr>
      </p:pic>
      <p:sp>
        <p:nvSpPr>
          <p:cNvPr id="1048790" name="Text 1"/>
          <p:cNvSpPr/>
          <p:nvPr/>
        </p:nvSpPr>
        <p:spPr>
          <a:xfrm>
            <a:off x="749808" y="0"/>
            <a:ext cx="82296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Gap 3 &amp; 7: DR Readiness &amp; Two Sites → ActiveCluster + ActiveDR + Pure Mediator</a:t>
            </a:r>
            <a:endParaRPr dirty="0" sz="1300" lang="en-US"/>
          </a:p>
        </p:txBody>
      </p:sp>
      <p:sp>
        <p:nvSpPr>
          <p:cNvPr id="1048791" name="Shape 2"/>
          <p:cNvSpPr/>
          <p:nvPr/>
        </p:nvSpPr>
        <p:spPr>
          <a:xfrm>
            <a:off x="2743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92" name="Text 3"/>
          <p:cNvSpPr/>
          <p:nvPr/>
        </p:nvSpPr>
        <p:spPr>
          <a:xfrm>
            <a:off x="411480" y="749808"/>
            <a:ext cx="25603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B4D8"/>
                </a:solidFill>
              </a:rPr>
              <a:t>HYDERABAD DC</a:t>
            </a:r>
            <a:endParaRPr dirty="0" sz="1200" lang="en-US"/>
          </a:p>
        </p:txBody>
      </p:sp>
      <p:sp>
        <p:nvSpPr>
          <p:cNvPr id="1048793" name="Text 4"/>
          <p:cNvSpPr/>
          <p:nvPr/>
        </p:nvSpPr>
        <p:spPr>
          <a:xfrm>
            <a:off x="411480" y="1005840"/>
            <a:ext cx="25603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Primary</a:t>
            </a:r>
            <a:endParaRPr dirty="0" sz="900" lang="en-US"/>
          </a:p>
        </p:txBody>
      </p:sp>
      <p:pic>
        <p:nvPicPr>
          <p:cNvPr id="209718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11480" y="1325880"/>
            <a:ext cx="201168" cy="201168"/>
          </a:xfrm>
          <a:prstGeom prst="rect"/>
        </p:spPr>
      </p:pic>
      <p:sp>
        <p:nvSpPr>
          <p:cNvPr id="1048794" name="Text 5"/>
          <p:cNvSpPr/>
          <p:nvPr/>
        </p:nvSpPr>
        <p:spPr>
          <a:xfrm>
            <a:off x="685800" y="1307592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FlashArray//XL</a:t>
            </a:r>
            <a:endParaRPr dirty="0" sz="1000" lang="en-US"/>
          </a:p>
        </p:txBody>
      </p:sp>
      <p:pic>
        <p:nvPicPr>
          <p:cNvPr id="2097186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11480" y="1837944"/>
            <a:ext cx="201168" cy="201168"/>
          </a:xfrm>
          <a:prstGeom prst="rect"/>
        </p:spPr>
      </p:pic>
      <p:sp>
        <p:nvSpPr>
          <p:cNvPr id="1048795" name="Text 6"/>
          <p:cNvSpPr/>
          <p:nvPr/>
        </p:nvSpPr>
        <p:spPr>
          <a:xfrm>
            <a:off x="685800" y="1819656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ActiveCluster — Active/Active</a:t>
            </a:r>
            <a:endParaRPr dirty="0" sz="1000" lang="en-US"/>
          </a:p>
        </p:txBody>
      </p:sp>
      <p:pic>
        <p:nvPicPr>
          <p:cNvPr id="2097187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11480" y="2350008"/>
            <a:ext cx="201168" cy="201168"/>
          </a:xfrm>
          <a:prstGeom prst="rect"/>
        </p:spPr>
      </p:pic>
      <p:sp>
        <p:nvSpPr>
          <p:cNvPr id="1048796" name="Text 7"/>
          <p:cNvSpPr/>
          <p:nvPr/>
        </p:nvSpPr>
        <p:spPr>
          <a:xfrm>
            <a:off x="685800" y="2331720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Zero RPO sync replication</a:t>
            </a:r>
            <a:endParaRPr dirty="0" sz="1000" lang="en-US"/>
          </a:p>
        </p:txBody>
      </p:sp>
      <p:pic>
        <p:nvPicPr>
          <p:cNvPr id="2097188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11480" y="2862072"/>
            <a:ext cx="201168" cy="201168"/>
          </a:xfrm>
          <a:prstGeom prst="rect"/>
        </p:spPr>
      </p:pic>
      <p:sp>
        <p:nvSpPr>
          <p:cNvPr id="1048797" name="Text 8"/>
          <p:cNvSpPr/>
          <p:nvPr/>
        </p:nvSpPr>
        <p:spPr>
          <a:xfrm>
            <a:off x="685800" y="2843784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Serves live Oracle claims</a:t>
            </a:r>
            <a:endParaRPr dirty="0" sz="1000" lang="en-US"/>
          </a:p>
        </p:txBody>
      </p:sp>
      <p:sp>
        <p:nvSpPr>
          <p:cNvPr id="1048798" name="Shape 9"/>
          <p:cNvSpPr/>
          <p:nvPr/>
        </p:nvSpPr>
        <p:spPr>
          <a:xfrm>
            <a:off x="32461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799" name="Text 10"/>
          <p:cNvSpPr/>
          <p:nvPr/>
        </p:nvSpPr>
        <p:spPr>
          <a:xfrm>
            <a:off x="3383280" y="749808"/>
            <a:ext cx="25603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00B4D8"/>
                </a:solidFill>
              </a:rPr>
              <a:t>PUNE DC</a:t>
            </a:r>
            <a:endParaRPr dirty="0" sz="1200" lang="en-US"/>
          </a:p>
        </p:txBody>
      </p:sp>
      <p:sp>
        <p:nvSpPr>
          <p:cNvPr id="1048800" name="Text 11"/>
          <p:cNvSpPr/>
          <p:nvPr/>
        </p:nvSpPr>
        <p:spPr>
          <a:xfrm>
            <a:off x="3383280" y="1005840"/>
            <a:ext cx="25603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Secondary</a:t>
            </a:r>
            <a:endParaRPr dirty="0" sz="900" lang="en-US"/>
          </a:p>
        </p:txBody>
      </p:sp>
      <p:pic>
        <p:nvPicPr>
          <p:cNvPr id="2097189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3383280" y="1325880"/>
            <a:ext cx="201168" cy="201168"/>
          </a:xfrm>
          <a:prstGeom prst="rect"/>
        </p:spPr>
      </p:pic>
      <p:sp>
        <p:nvSpPr>
          <p:cNvPr id="1048801" name="Text 12"/>
          <p:cNvSpPr/>
          <p:nvPr/>
        </p:nvSpPr>
        <p:spPr>
          <a:xfrm>
            <a:off x="3657600" y="1307592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FlashArray//XL</a:t>
            </a:r>
            <a:endParaRPr dirty="0" sz="1000" lang="en-US"/>
          </a:p>
        </p:txBody>
      </p:sp>
      <p:pic>
        <p:nvPicPr>
          <p:cNvPr id="2097190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3383280" y="1837944"/>
            <a:ext cx="201168" cy="201168"/>
          </a:xfrm>
          <a:prstGeom prst="rect"/>
        </p:spPr>
      </p:pic>
      <p:sp>
        <p:nvSpPr>
          <p:cNvPr id="1048802" name="Text 13"/>
          <p:cNvSpPr/>
          <p:nvPr/>
        </p:nvSpPr>
        <p:spPr>
          <a:xfrm>
            <a:off x="3657600" y="1819656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ActiveCluster — Active/Active</a:t>
            </a:r>
            <a:endParaRPr dirty="0" sz="1000" lang="en-US"/>
          </a:p>
        </p:txBody>
      </p:sp>
      <p:pic>
        <p:nvPicPr>
          <p:cNvPr id="2097191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3383280" y="2350008"/>
            <a:ext cx="201168" cy="201168"/>
          </a:xfrm>
          <a:prstGeom prst="rect"/>
        </p:spPr>
      </p:pic>
      <p:sp>
        <p:nvSpPr>
          <p:cNvPr id="1048803" name="Text 14"/>
          <p:cNvSpPr/>
          <p:nvPr/>
        </p:nvSpPr>
        <p:spPr>
          <a:xfrm>
            <a:off x="3657600" y="2331720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Same data, same time</a:t>
            </a:r>
            <a:endParaRPr dirty="0" sz="1000" lang="en-US"/>
          </a:p>
        </p:txBody>
      </p:sp>
      <p:pic>
        <p:nvPicPr>
          <p:cNvPr id="2097192" name="Image 8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3383280" y="2862072"/>
            <a:ext cx="201168" cy="201168"/>
          </a:xfrm>
          <a:prstGeom prst="rect"/>
        </p:spPr>
      </p:pic>
      <p:sp>
        <p:nvSpPr>
          <p:cNvPr id="1048804" name="Text 15"/>
          <p:cNvSpPr/>
          <p:nvPr/>
        </p:nvSpPr>
        <p:spPr>
          <a:xfrm>
            <a:off x="3657600" y="2843784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Instant failover — no data loss</a:t>
            </a:r>
            <a:endParaRPr dirty="0" sz="1000" lang="en-US"/>
          </a:p>
        </p:txBody>
      </p:sp>
      <p:sp>
        <p:nvSpPr>
          <p:cNvPr id="1048805" name="Shape 16"/>
          <p:cNvSpPr/>
          <p:nvPr/>
        </p:nvSpPr>
        <p:spPr>
          <a:xfrm>
            <a:off x="6217920" y="65836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06" name="Text 17"/>
          <p:cNvSpPr/>
          <p:nvPr/>
        </p:nvSpPr>
        <p:spPr>
          <a:xfrm>
            <a:off x="6355080" y="749808"/>
            <a:ext cx="25603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4A261"/>
                </a:solidFill>
              </a:rPr>
              <a:t>CLOUD DR</a:t>
            </a:r>
            <a:endParaRPr dirty="0" sz="1200" lang="en-US"/>
          </a:p>
        </p:txBody>
      </p:sp>
      <p:sp>
        <p:nvSpPr>
          <p:cNvPr id="1048807" name="Text 18"/>
          <p:cNvSpPr/>
          <p:nvPr/>
        </p:nvSpPr>
        <p:spPr>
          <a:xfrm>
            <a:off x="6355080" y="1005840"/>
            <a:ext cx="256032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Tertiary site</a:t>
            </a:r>
            <a:endParaRPr dirty="0" sz="900" lang="en-US"/>
          </a:p>
        </p:txBody>
      </p:sp>
      <p:pic>
        <p:nvPicPr>
          <p:cNvPr id="2097193" name="Image 9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6355080" y="1325880"/>
            <a:ext cx="201168" cy="201168"/>
          </a:xfrm>
          <a:prstGeom prst="rect"/>
        </p:spPr>
      </p:pic>
      <p:sp>
        <p:nvSpPr>
          <p:cNvPr id="1048808" name="Text 19"/>
          <p:cNvSpPr/>
          <p:nvPr/>
        </p:nvSpPr>
        <p:spPr>
          <a:xfrm>
            <a:off x="6629400" y="1307592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ActiveDR async replication</a:t>
            </a:r>
            <a:endParaRPr dirty="0" sz="1000" lang="en-US"/>
          </a:p>
        </p:txBody>
      </p:sp>
      <p:pic>
        <p:nvPicPr>
          <p:cNvPr id="2097194" name="Image 1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6355080" y="1837944"/>
            <a:ext cx="201168" cy="201168"/>
          </a:xfrm>
          <a:prstGeom prst="rect"/>
        </p:spPr>
      </p:pic>
      <p:sp>
        <p:nvSpPr>
          <p:cNvPr id="1048809" name="Text 20"/>
          <p:cNvSpPr/>
          <p:nvPr/>
        </p:nvSpPr>
        <p:spPr>
          <a:xfrm>
            <a:off x="6629400" y="1819656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Pure Mediator (free)</a:t>
            </a:r>
            <a:endParaRPr dirty="0" sz="1000" lang="en-US"/>
          </a:p>
        </p:txBody>
      </p:sp>
      <p:pic>
        <p:nvPicPr>
          <p:cNvPr id="2097195" name="Image 1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6355080" y="2350008"/>
            <a:ext cx="201168" cy="201168"/>
          </a:xfrm>
          <a:prstGeom prst="rect"/>
        </p:spPr>
      </p:pic>
      <p:sp>
        <p:nvSpPr>
          <p:cNvPr id="1048810" name="Text 21"/>
          <p:cNvSpPr/>
          <p:nvPr/>
        </p:nvSpPr>
        <p:spPr>
          <a:xfrm>
            <a:off x="6629400" y="2331720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Lightweight tiebreaker</a:t>
            </a:r>
            <a:endParaRPr dirty="0" sz="1000" lang="en-US"/>
          </a:p>
        </p:txBody>
      </p:sp>
      <p:pic>
        <p:nvPicPr>
          <p:cNvPr id="2097196" name="Image 1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6355080" y="2862072"/>
            <a:ext cx="201168" cy="201168"/>
          </a:xfrm>
          <a:prstGeom prst="rect"/>
        </p:spPr>
      </p:pic>
      <p:sp>
        <p:nvSpPr>
          <p:cNvPr id="1048811" name="Text 22"/>
          <p:cNvSpPr/>
          <p:nvPr/>
        </p:nvSpPr>
        <p:spPr>
          <a:xfrm>
            <a:off x="6629400" y="2843784"/>
            <a:ext cx="23317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RTO &lt;15 min on failover</a:t>
            </a:r>
            <a:endParaRPr dirty="0" sz="1000" lang="en-US"/>
          </a:p>
        </p:txBody>
      </p:sp>
      <p:sp>
        <p:nvSpPr>
          <p:cNvPr id="1048812" name="Shape 23"/>
          <p:cNvSpPr/>
          <p:nvPr/>
        </p:nvSpPr>
        <p:spPr>
          <a:xfrm>
            <a:off x="3145536" y="2560320"/>
            <a:ext cx="100584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813" name="Text 24"/>
          <p:cNvSpPr/>
          <p:nvPr/>
        </p:nvSpPr>
        <p:spPr>
          <a:xfrm>
            <a:off x="2999232" y="2423160"/>
            <a:ext cx="475488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00B4D8"/>
                </a:solidFill>
              </a:rPr>
              <a:t>◀━ sync ━▶</a:t>
            </a:r>
            <a:endParaRPr dirty="0" sz="800" lang="en-US"/>
          </a:p>
        </p:txBody>
      </p:sp>
      <p:sp>
        <p:nvSpPr>
          <p:cNvPr id="1048814" name="Shape 25"/>
          <p:cNvSpPr/>
          <p:nvPr/>
        </p:nvSpPr>
        <p:spPr>
          <a:xfrm>
            <a:off x="6117336" y="2560320"/>
            <a:ext cx="100584" cy="0"/>
          </a:xfrm>
          <a:prstGeom prst="line"/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1048815" name="Text 26"/>
          <p:cNvSpPr/>
          <p:nvPr/>
        </p:nvSpPr>
        <p:spPr>
          <a:xfrm>
            <a:off x="6035040" y="2423160"/>
            <a:ext cx="41148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F4A261"/>
                </a:solidFill>
              </a:rPr>
              <a:t>async →</a:t>
            </a:r>
            <a:endParaRPr dirty="0" sz="800" lang="en-US"/>
          </a:p>
        </p:txBody>
      </p:sp>
      <p:sp>
        <p:nvSpPr>
          <p:cNvPr id="1048816" name="Shape 27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001A00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048817" name="Text 28"/>
          <p:cNvSpPr/>
          <p:nvPr/>
        </p:nvSpPr>
        <p:spPr>
          <a:xfrm>
            <a:off x="411480" y="4681728"/>
            <a:ext cx="83210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Pure Mediator: Free lightweight cloud process — not a full VM, no licensing cost. Acts as tiebreaker between Hyderabad and Pune to prevent split-brain on failover.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pic>
        <p:nvPicPr>
          <p:cNvPr id="209719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91440"/>
            <a:ext cx="384048" cy="384048"/>
          </a:xfrm>
          <a:prstGeom prst="rect"/>
        </p:spPr>
      </p:pic>
      <p:sp>
        <p:nvSpPr>
          <p:cNvPr id="1048822" name="Text 1"/>
          <p:cNvSpPr/>
          <p:nvPr/>
        </p:nvSpPr>
        <p:spPr>
          <a:xfrm>
            <a:off x="749808" y="0"/>
            <a:ext cx="82296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Gap 5: Kubernetes Protection → Portworx Enterprise + PX-Backup</a:t>
            </a:r>
            <a:endParaRPr dirty="0" sz="1400" lang="en-US"/>
          </a:p>
        </p:txBody>
      </p:sp>
      <p:sp>
        <p:nvSpPr>
          <p:cNvPr id="1048823" name="Shape 2"/>
          <p:cNvSpPr/>
          <p:nvPr/>
        </p:nvSpPr>
        <p:spPr>
          <a:xfrm>
            <a:off x="274320" y="68580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24" name="Text 3"/>
          <p:cNvSpPr/>
          <p:nvPr/>
        </p:nvSpPr>
        <p:spPr>
          <a:xfrm>
            <a:off x="457200" y="777240"/>
            <a:ext cx="37490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00B4D8"/>
                </a:solidFill>
              </a:rPr>
              <a:t>Portworx Enterprise</a:t>
            </a:r>
            <a:endParaRPr dirty="0" sz="1300" lang="en-US"/>
          </a:p>
        </p:txBody>
      </p:sp>
      <p:sp>
        <p:nvSpPr>
          <p:cNvPr id="1048825" name="Text 4"/>
          <p:cNvSpPr/>
          <p:nvPr/>
        </p:nvSpPr>
        <p:spPr>
          <a:xfrm>
            <a:off x="457200" y="1051560"/>
            <a:ext cx="374904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Kubernetes-Native Storage Platform</a:t>
            </a:r>
            <a:endParaRPr dirty="0" sz="1000" lang="en-US"/>
          </a:p>
        </p:txBody>
      </p:sp>
      <p:pic>
        <p:nvPicPr>
          <p:cNvPr id="209719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1371600"/>
            <a:ext cx="201168" cy="201168"/>
          </a:xfrm>
          <a:prstGeom prst="rect"/>
        </p:spPr>
      </p:pic>
      <p:sp>
        <p:nvSpPr>
          <p:cNvPr id="1048826" name="Text 5"/>
          <p:cNvSpPr/>
          <p:nvPr/>
        </p:nvSpPr>
        <p:spPr>
          <a:xfrm>
            <a:off x="731520" y="1353312"/>
            <a:ext cx="35204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Storage orchestration inside Kubernetes</a:t>
            </a:r>
            <a:endParaRPr dirty="0" sz="1000" lang="en-US"/>
          </a:p>
        </p:txBody>
      </p:sp>
      <p:pic>
        <p:nvPicPr>
          <p:cNvPr id="2097199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57200" y="1847088"/>
            <a:ext cx="201168" cy="201168"/>
          </a:xfrm>
          <a:prstGeom prst="rect"/>
        </p:spPr>
      </p:pic>
      <p:sp>
        <p:nvSpPr>
          <p:cNvPr id="1048827" name="Text 6"/>
          <p:cNvSpPr/>
          <p:nvPr/>
        </p:nvSpPr>
        <p:spPr>
          <a:xfrm>
            <a:off x="731520" y="1828800"/>
            <a:ext cx="35204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Persistent Volumes survive pod restarts</a:t>
            </a:r>
            <a:endParaRPr dirty="0" sz="1000" lang="en-US"/>
          </a:p>
        </p:txBody>
      </p:sp>
      <p:pic>
        <p:nvPicPr>
          <p:cNvPr id="2097200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2322576"/>
            <a:ext cx="201168" cy="201168"/>
          </a:xfrm>
          <a:prstGeom prst="rect"/>
        </p:spPr>
      </p:pic>
      <p:sp>
        <p:nvSpPr>
          <p:cNvPr id="1048828" name="Text 7"/>
          <p:cNvSpPr/>
          <p:nvPr/>
        </p:nvSpPr>
        <p:spPr>
          <a:xfrm>
            <a:off x="731520" y="2304288"/>
            <a:ext cx="35204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Runs as a DaemonSet — part of the cluster</a:t>
            </a:r>
            <a:endParaRPr dirty="0" sz="1000" lang="en-US"/>
          </a:p>
        </p:txBody>
      </p:sp>
      <p:pic>
        <p:nvPicPr>
          <p:cNvPr id="2097201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2798064"/>
            <a:ext cx="201168" cy="201168"/>
          </a:xfrm>
          <a:prstGeom prst="rect"/>
        </p:spPr>
      </p:pic>
      <p:sp>
        <p:nvSpPr>
          <p:cNvPr id="1048829" name="Text 8"/>
          <p:cNvSpPr/>
          <p:nvPr/>
        </p:nvSpPr>
        <p:spPr>
          <a:xfrm>
            <a:off x="731520" y="2779776"/>
            <a:ext cx="35204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StorageClass integration with OpenShift</a:t>
            </a:r>
            <a:endParaRPr dirty="0" sz="1000" lang="en-US"/>
          </a:p>
        </p:txBody>
      </p:sp>
      <p:pic>
        <p:nvPicPr>
          <p:cNvPr id="2097202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57200" y="3273552"/>
            <a:ext cx="201168" cy="201168"/>
          </a:xfrm>
          <a:prstGeom prst="rect"/>
        </p:spPr>
      </p:pic>
      <p:sp>
        <p:nvSpPr>
          <p:cNvPr id="1048830" name="Text 9"/>
          <p:cNvSpPr/>
          <p:nvPr/>
        </p:nvSpPr>
        <p:spPr>
          <a:xfrm>
            <a:off x="731520" y="3255264"/>
            <a:ext cx="35204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Application-consistent snapshots of stateful apps</a:t>
            </a:r>
            <a:endParaRPr dirty="0" sz="1000" lang="en-US"/>
          </a:p>
        </p:txBody>
      </p:sp>
      <p:pic>
        <p:nvPicPr>
          <p:cNvPr id="2097203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57200" y="3749040"/>
            <a:ext cx="201168" cy="201168"/>
          </a:xfrm>
          <a:prstGeom prst="rect"/>
        </p:spPr>
      </p:pic>
      <p:sp>
        <p:nvSpPr>
          <p:cNvPr id="1048831" name="Text 10"/>
          <p:cNvSpPr/>
          <p:nvPr/>
        </p:nvSpPr>
        <p:spPr>
          <a:xfrm>
            <a:off x="731520" y="3730752"/>
            <a:ext cx="35204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PostgreSQL and Oracle K8s workloads protected</a:t>
            </a:r>
            <a:endParaRPr dirty="0" sz="1000" lang="en-US"/>
          </a:p>
        </p:txBody>
      </p:sp>
      <p:sp>
        <p:nvSpPr>
          <p:cNvPr id="1048832" name="Shape 11"/>
          <p:cNvSpPr/>
          <p:nvPr/>
        </p:nvSpPr>
        <p:spPr>
          <a:xfrm>
            <a:off x="4663440" y="6858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A2F4A"/>
          </a:solidFill>
          <a:ln w="12700">
            <a:solidFill>
              <a:srgbClr val="48CAE4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33" name="Text 12"/>
          <p:cNvSpPr/>
          <p:nvPr/>
        </p:nvSpPr>
        <p:spPr>
          <a:xfrm>
            <a:off x="4846320" y="777240"/>
            <a:ext cx="38404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48CAE4"/>
                </a:solidFill>
              </a:rPr>
              <a:t>PX-Backup</a:t>
            </a:r>
            <a:endParaRPr dirty="0" sz="1300" lang="en-US"/>
          </a:p>
        </p:txBody>
      </p:sp>
      <p:sp>
        <p:nvSpPr>
          <p:cNvPr id="1048834" name="Text 13"/>
          <p:cNvSpPr/>
          <p:nvPr/>
        </p:nvSpPr>
        <p:spPr>
          <a:xfrm>
            <a:off x="4846320" y="1051560"/>
            <a:ext cx="384048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8EADC7"/>
                </a:solidFill>
              </a:rPr>
              <a:t>Containerised Backup — Not a VM</a:t>
            </a:r>
            <a:endParaRPr dirty="0" sz="1000" lang="en-US"/>
          </a:p>
        </p:txBody>
      </p:sp>
      <p:pic>
        <p:nvPicPr>
          <p:cNvPr id="2097204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4846320" y="1371600"/>
            <a:ext cx="201168" cy="201168"/>
          </a:xfrm>
          <a:prstGeom prst="rect"/>
        </p:spPr>
      </p:pic>
      <p:sp>
        <p:nvSpPr>
          <p:cNvPr id="1048835" name="Text 14"/>
          <p:cNvSpPr/>
          <p:nvPr/>
        </p:nvSpPr>
        <p:spPr>
          <a:xfrm>
            <a:off x="5120640" y="1353312"/>
            <a:ext cx="36118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Runs as pods inside OpenShift cluster</a:t>
            </a:r>
            <a:endParaRPr dirty="0" sz="1000" lang="en-US"/>
          </a:p>
        </p:txBody>
      </p:sp>
      <p:pic>
        <p:nvPicPr>
          <p:cNvPr id="2097205" name="Image 8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846320" y="1847088"/>
            <a:ext cx="201168" cy="201168"/>
          </a:xfrm>
          <a:prstGeom prst="rect"/>
        </p:spPr>
      </p:pic>
      <p:sp>
        <p:nvSpPr>
          <p:cNvPr id="1048836" name="Text 15"/>
          <p:cNvSpPr/>
          <p:nvPr/>
        </p:nvSpPr>
        <p:spPr>
          <a:xfrm>
            <a:off x="5120640" y="1828800"/>
            <a:ext cx="36118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Backs up entire app namespace — PVs + config</a:t>
            </a:r>
            <a:endParaRPr dirty="0" sz="1000" lang="en-US"/>
          </a:p>
        </p:txBody>
      </p:sp>
      <p:pic>
        <p:nvPicPr>
          <p:cNvPr id="2097206" name="Image 9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4846320" y="2322576"/>
            <a:ext cx="201168" cy="201168"/>
          </a:xfrm>
          <a:prstGeom prst="rect"/>
        </p:spPr>
      </p:pic>
      <p:sp>
        <p:nvSpPr>
          <p:cNvPr id="1048837" name="Text 16"/>
          <p:cNvSpPr/>
          <p:nvPr/>
        </p:nvSpPr>
        <p:spPr>
          <a:xfrm>
            <a:off x="5120640" y="2304288"/>
            <a:ext cx="36118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Application-aware: PostgreSQL consistent backup</a:t>
            </a:r>
            <a:endParaRPr dirty="0" sz="1000" lang="en-US"/>
          </a:p>
        </p:txBody>
      </p:sp>
      <p:pic>
        <p:nvPicPr>
          <p:cNvPr id="2097207" name="Image 1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4846320" y="2798064"/>
            <a:ext cx="201168" cy="201168"/>
          </a:xfrm>
          <a:prstGeom prst="rect"/>
        </p:spPr>
      </p:pic>
      <p:sp>
        <p:nvSpPr>
          <p:cNvPr id="1048838" name="Text 17"/>
          <p:cNvSpPr/>
          <p:nvPr/>
        </p:nvSpPr>
        <p:spPr>
          <a:xfrm>
            <a:off x="5120640" y="2779776"/>
            <a:ext cx="36118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Restore to same or different namespace/cluster</a:t>
            </a:r>
            <a:endParaRPr dirty="0" sz="1000" lang="en-US"/>
          </a:p>
        </p:txBody>
      </p:sp>
      <p:pic>
        <p:nvPicPr>
          <p:cNvPr id="2097208" name="Image 1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4846320" y="3273552"/>
            <a:ext cx="201168" cy="201168"/>
          </a:xfrm>
          <a:prstGeom prst="rect"/>
        </p:spPr>
      </p:pic>
      <p:sp>
        <p:nvSpPr>
          <p:cNvPr id="1048839" name="Text 18"/>
          <p:cNvSpPr/>
          <p:nvPr/>
        </p:nvSpPr>
        <p:spPr>
          <a:xfrm>
            <a:off x="5120640" y="3255264"/>
            <a:ext cx="36118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Policy-driven — schedule, retention, RPO</a:t>
            </a:r>
            <a:endParaRPr dirty="0" sz="1000" lang="en-US"/>
          </a:p>
        </p:txBody>
      </p:sp>
      <p:pic>
        <p:nvPicPr>
          <p:cNvPr id="2097209" name="Image 1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4846320" y="3749040"/>
            <a:ext cx="201168" cy="201168"/>
          </a:xfrm>
          <a:prstGeom prst="rect"/>
        </p:spPr>
      </p:pic>
      <p:sp>
        <p:nvSpPr>
          <p:cNvPr id="1048840" name="Text 19"/>
          <p:cNvSpPr/>
          <p:nvPr/>
        </p:nvSpPr>
        <p:spPr>
          <a:xfrm>
            <a:off x="5120640" y="3730752"/>
            <a:ext cx="36118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FFFFF"/>
                </a:solidFill>
              </a:rPr>
              <a:t>vs Veeam: Veeam cannot protect K8s PVs natively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Shape 0"/>
          <p:cNvSpPr/>
          <p:nvPr/>
        </p:nvSpPr>
        <p:spPr>
          <a:xfrm>
            <a:off x="0" y="0"/>
            <a:ext cx="9144000" cy="566928"/>
          </a:xfrm>
          <a:prstGeom prst="rect"/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48845" name="Text 1"/>
          <p:cNvSpPr/>
          <p:nvPr/>
        </p:nvSpPr>
        <p:spPr>
          <a:xfrm>
            <a:off x="365760" y="0"/>
            <a:ext cx="841248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</a:rPr>
              <a:t>Future State — Everpure Architecture</a:t>
            </a:r>
            <a:endParaRPr dirty="0" sz="1600" lang="en-US"/>
          </a:p>
        </p:txBody>
      </p:sp>
      <p:sp>
        <p:nvSpPr>
          <p:cNvPr id="1048846" name="Shape 2"/>
          <p:cNvSpPr/>
          <p:nvPr/>
        </p:nvSpPr>
        <p:spPr>
          <a:xfrm>
            <a:off x="22860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47" name="Text 3"/>
          <p:cNvSpPr/>
          <p:nvPr/>
        </p:nvSpPr>
        <p:spPr>
          <a:xfrm>
            <a:off x="365760" y="749808"/>
            <a:ext cx="2834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HYDERABAD DC</a:t>
            </a:r>
            <a:endParaRPr dirty="0" sz="1100" lang="en-US"/>
          </a:p>
        </p:txBody>
      </p:sp>
      <p:sp>
        <p:nvSpPr>
          <p:cNvPr id="1048848" name="Shape 4"/>
          <p:cNvSpPr/>
          <p:nvPr/>
        </p:nvSpPr>
        <p:spPr>
          <a:xfrm>
            <a:off x="36576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49" name="Text 5"/>
          <p:cNvSpPr/>
          <p:nvPr/>
        </p:nvSpPr>
        <p:spPr>
          <a:xfrm>
            <a:off x="457200" y="1115568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FlashArray//XL</a:t>
            </a:r>
            <a:endParaRPr dirty="0" sz="1000" lang="en-US"/>
          </a:p>
        </p:txBody>
      </p:sp>
      <p:sp>
        <p:nvSpPr>
          <p:cNvPr id="1048850" name="Text 6"/>
          <p:cNvSpPr/>
          <p:nvPr/>
        </p:nvSpPr>
        <p:spPr>
          <a:xfrm>
            <a:off x="457200" y="1371600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Oracle DB · SafeMode Snapshots</a:t>
            </a:r>
            <a:endParaRPr dirty="0" sz="900" lang="en-US"/>
          </a:p>
        </p:txBody>
      </p:sp>
      <p:sp>
        <p:nvSpPr>
          <p:cNvPr id="1048851" name="Shape 7"/>
          <p:cNvSpPr/>
          <p:nvPr/>
        </p:nvSpPr>
        <p:spPr>
          <a:xfrm>
            <a:off x="36576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52" name="Text 8"/>
          <p:cNvSpPr/>
          <p:nvPr/>
        </p:nvSpPr>
        <p:spPr>
          <a:xfrm>
            <a:off x="457200" y="1865376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FlashBlade//S + //E</a:t>
            </a:r>
            <a:endParaRPr dirty="0" sz="1000" lang="en-US"/>
          </a:p>
        </p:txBody>
      </p:sp>
      <p:sp>
        <p:nvSpPr>
          <p:cNvPr id="1048853" name="Text 9"/>
          <p:cNvSpPr/>
          <p:nvPr/>
        </p:nvSpPr>
        <p:spPr>
          <a:xfrm>
            <a:off x="457200" y="2121408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10+ PB EHR · Object Lock WORM</a:t>
            </a:r>
            <a:endParaRPr dirty="0" sz="900" lang="en-US"/>
          </a:p>
        </p:txBody>
      </p:sp>
      <p:sp>
        <p:nvSpPr>
          <p:cNvPr id="1048854" name="Shape 10"/>
          <p:cNvSpPr/>
          <p:nvPr/>
        </p:nvSpPr>
        <p:spPr>
          <a:xfrm>
            <a:off x="36576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55" name="Text 11"/>
          <p:cNvSpPr/>
          <p:nvPr/>
        </p:nvSpPr>
        <p:spPr>
          <a:xfrm>
            <a:off x="457200" y="2615184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Portworx Enterprise</a:t>
            </a:r>
            <a:endParaRPr dirty="0" sz="1000" lang="en-US"/>
          </a:p>
        </p:txBody>
      </p:sp>
      <p:sp>
        <p:nvSpPr>
          <p:cNvPr id="1048856" name="Text 12"/>
          <p:cNvSpPr/>
          <p:nvPr/>
        </p:nvSpPr>
        <p:spPr>
          <a:xfrm>
            <a:off x="457200" y="2871216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OpenShift K8s · PX-Backup</a:t>
            </a:r>
            <a:endParaRPr dirty="0" sz="900" lang="en-US"/>
          </a:p>
        </p:txBody>
      </p:sp>
      <p:sp>
        <p:nvSpPr>
          <p:cNvPr id="1048857" name="Shape 13"/>
          <p:cNvSpPr/>
          <p:nvPr/>
        </p:nvSpPr>
        <p:spPr>
          <a:xfrm>
            <a:off x="36576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58" name="Text 14"/>
          <p:cNvSpPr/>
          <p:nvPr/>
        </p:nvSpPr>
        <p:spPr>
          <a:xfrm>
            <a:off x="457200" y="3364992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ActiveCluster (Primary)</a:t>
            </a:r>
            <a:endParaRPr dirty="0" sz="1000" lang="en-US"/>
          </a:p>
        </p:txBody>
      </p:sp>
      <p:sp>
        <p:nvSpPr>
          <p:cNvPr id="1048859" name="Text 15"/>
          <p:cNvSpPr/>
          <p:nvPr/>
        </p:nvSpPr>
        <p:spPr>
          <a:xfrm>
            <a:off x="457200" y="3621024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Zero RPO sync to Pune</a:t>
            </a:r>
            <a:endParaRPr dirty="0" sz="900" lang="en-US"/>
          </a:p>
        </p:txBody>
      </p:sp>
      <p:sp>
        <p:nvSpPr>
          <p:cNvPr id="1048860" name="Shape 16"/>
          <p:cNvSpPr/>
          <p:nvPr/>
        </p:nvSpPr>
        <p:spPr>
          <a:xfrm>
            <a:off x="3474720" y="658368"/>
            <a:ext cx="3108960" cy="4160520"/>
          </a:xfrm>
          <a:prstGeom prst="roundRect">
            <a:avLst>
              <a:gd name="adj" fmla="val 3529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61" name="Text 17"/>
          <p:cNvSpPr/>
          <p:nvPr/>
        </p:nvSpPr>
        <p:spPr>
          <a:xfrm>
            <a:off x="3611880" y="749808"/>
            <a:ext cx="2834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PUNE DC</a:t>
            </a:r>
            <a:endParaRPr dirty="0" sz="1100" lang="en-US"/>
          </a:p>
        </p:txBody>
      </p:sp>
      <p:sp>
        <p:nvSpPr>
          <p:cNvPr id="1048862" name="Shape 18"/>
          <p:cNvSpPr/>
          <p:nvPr/>
        </p:nvSpPr>
        <p:spPr>
          <a:xfrm>
            <a:off x="3611880" y="1078992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63" name="Text 19"/>
          <p:cNvSpPr/>
          <p:nvPr/>
        </p:nvSpPr>
        <p:spPr>
          <a:xfrm>
            <a:off x="3703320" y="1115568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FlashArray//XL</a:t>
            </a:r>
            <a:endParaRPr dirty="0" sz="1000" lang="en-US"/>
          </a:p>
        </p:txBody>
      </p:sp>
      <p:sp>
        <p:nvSpPr>
          <p:cNvPr id="1048864" name="Text 20"/>
          <p:cNvSpPr/>
          <p:nvPr/>
        </p:nvSpPr>
        <p:spPr>
          <a:xfrm>
            <a:off x="3703320" y="1371600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ActiveCluster · Hot standby</a:t>
            </a:r>
            <a:endParaRPr dirty="0" sz="900" lang="en-US"/>
          </a:p>
        </p:txBody>
      </p:sp>
      <p:sp>
        <p:nvSpPr>
          <p:cNvPr id="1048865" name="Shape 21"/>
          <p:cNvSpPr/>
          <p:nvPr/>
        </p:nvSpPr>
        <p:spPr>
          <a:xfrm>
            <a:off x="3611880" y="18288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66" name="Text 22"/>
          <p:cNvSpPr/>
          <p:nvPr/>
        </p:nvSpPr>
        <p:spPr>
          <a:xfrm>
            <a:off x="3703320" y="1865376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FlashBlade//S</a:t>
            </a:r>
            <a:endParaRPr dirty="0" sz="1000" lang="en-US"/>
          </a:p>
        </p:txBody>
      </p:sp>
      <p:sp>
        <p:nvSpPr>
          <p:cNvPr id="1048867" name="Text 23"/>
          <p:cNvSpPr/>
          <p:nvPr/>
        </p:nvSpPr>
        <p:spPr>
          <a:xfrm>
            <a:off x="3703320" y="2121408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EHR replica · Object Lock</a:t>
            </a:r>
            <a:endParaRPr dirty="0" sz="900" lang="en-US"/>
          </a:p>
        </p:txBody>
      </p:sp>
      <p:sp>
        <p:nvSpPr>
          <p:cNvPr id="1048868" name="Shape 24"/>
          <p:cNvSpPr/>
          <p:nvPr/>
        </p:nvSpPr>
        <p:spPr>
          <a:xfrm>
            <a:off x="3611880" y="2578608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69" name="Text 25"/>
          <p:cNvSpPr/>
          <p:nvPr/>
        </p:nvSpPr>
        <p:spPr>
          <a:xfrm>
            <a:off x="3703320" y="2615184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ActiveDR</a:t>
            </a:r>
            <a:endParaRPr dirty="0" sz="1000" lang="en-US"/>
          </a:p>
        </p:txBody>
      </p:sp>
      <p:sp>
        <p:nvSpPr>
          <p:cNvPr id="1048870" name="Text 26"/>
          <p:cNvSpPr/>
          <p:nvPr/>
        </p:nvSpPr>
        <p:spPr>
          <a:xfrm>
            <a:off x="3703320" y="2871216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Async DR · &lt;15 min RTO</a:t>
            </a:r>
            <a:endParaRPr dirty="0" sz="900" lang="en-US"/>
          </a:p>
        </p:txBody>
      </p:sp>
      <p:sp>
        <p:nvSpPr>
          <p:cNvPr id="1048871" name="Shape 27"/>
          <p:cNvSpPr/>
          <p:nvPr/>
        </p:nvSpPr>
        <p:spPr>
          <a:xfrm>
            <a:off x="3611880" y="3328416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243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48872" name="Text 28"/>
          <p:cNvSpPr/>
          <p:nvPr/>
        </p:nvSpPr>
        <p:spPr>
          <a:xfrm>
            <a:off x="3703320" y="3364992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0B4D8"/>
                </a:solidFill>
              </a:rPr>
              <a:t>ActiveCluster (Mirror)</a:t>
            </a:r>
            <a:endParaRPr dirty="0" sz="1000" lang="en-US"/>
          </a:p>
        </p:txBody>
      </p:sp>
      <p:sp>
        <p:nvSpPr>
          <p:cNvPr id="1048873" name="Text 29"/>
          <p:cNvSpPr/>
          <p:nvPr/>
        </p:nvSpPr>
        <p:spPr>
          <a:xfrm>
            <a:off x="3703320" y="3621024"/>
            <a:ext cx="2560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Zero RPO mirror from Hyderabad</a:t>
            </a:r>
            <a:endParaRPr dirty="0" sz="900" lang="en-US"/>
          </a:p>
        </p:txBody>
      </p:sp>
      <p:sp>
        <p:nvSpPr>
          <p:cNvPr id="1048874" name="Shape 30"/>
          <p:cNvSpPr/>
          <p:nvPr/>
        </p:nvSpPr>
        <p:spPr>
          <a:xfrm>
            <a:off x="6720840" y="658368"/>
            <a:ext cx="2194560" cy="2011680"/>
          </a:xfrm>
          <a:prstGeom prst="roundRect">
            <a:avLst>
              <a:gd name="adj" fmla="val 5455"/>
            </a:avLst>
          </a:prstGeom>
          <a:solidFill>
            <a:srgbClr val="1A2F4A"/>
          </a:solidFill>
          <a:ln w="19050">
            <a:solidFill>
              <a:srgbClr val="F4A261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75" name="Text 31"/>
          <p:cNvSpPr/>
          <p:nvPr/>
        </p:nvSpPr>
        <p:spPr>
          <a:xfrm>
            <a:off x="6858000" y="749808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4A261"/>
                </a:solidFill>
              </a:rPr>
              <a:t>CLOUD DR</a:t>
            </a:r>
            <a:endParaRPr dirty="0" sz="1100" lang="en-US"/>
          </a:p>
        </p:txBody>
      </p:sp>
      <p:pic>
        <p:nvPicPr>
          <p:cNvPr id="209721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858000" y="1097280"/>
            <a:ext cx="182880" cy="182880"/>
          </a:xfrm>
          <a:prstGeom prst="rect"/>
        </p:spPr>
      </p:pic>
      <p:sp>
        <p:nvSpPr>
          <p:cNvPr id="1048876" name="Text 32"/>
          <p:cNvSpPr/>
          <p:nvPr/>
        </p:nvSpPr>
        <p:spPr>
          <a:xfrm>
            <a:off x="7086600" y="1078992"/>
            <a:ext cx="1691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FFFFFF"/>
                </a:solidFill>
              </a:rPr>
              <a:t>Pure Mediator</a:t>
            </a:r>
            <a:endParaRPr dirty="0" sz="900" lang="en-US"/>
          </a:p>
        </p:txBody>
      </p:sp>
      <p:pic>
        <p:nvPicPr>
          <p:cNvPr id="209721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0" y="1444752"/>
            <a:ext cx="182880" cy="182880"/>
          </a:xfrm>
          <a:prstGeom prst="rect"/>
        </p:spPr>
      </p:pic>
      <p:sp>
        <p:nvSpPr>
          <p:cNvPr id="1048877" name="Text 33"/>
          <p:cNvSpPr/>
          <p:nvPr/>
        </p:nvSpPr>
        <p:spPr>
          <a:xfrm>
            <a:off x="7086600" y="1426464"/>
            <a:ext cx="1691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FFFFFF"/>
                </a:solidFill>
              </a:rPr>
              <a:t>Free tiebreaker</a:t>
            </a:r>
            <a:endParaRPr dirty="0" sz="900" lang="en-US"/>
          </a:p>
        </p:txBody>
      </p:sp>
      <p:pic>
        <p:nvPicPr>
          <p:cNvPr id="2097212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858000" y="1792224"/>
            <a:ext cx="182880" cy="182880"/>
          </a:xfrm>
          <a:prstGeom prst="rect"/>
        </p:spPr>
      </p:pic>
      <p:sp>
        <p:nvSpPr>
          <p:cNvPr id="1048878" name="Text 34"/>
          <p:cNvSpPr/>
          <p:nvPr/>
        </p:nvSpPr>
        <p:spPr>
          <a:xfrm>
            <a:off x="7086600" y="1773936"/>
            <a:ext cx="1691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FFFFFF"/>
                </a:solidFill>
              </a:rPr>
              <a:t>ActiveDR target</a:t>
            </a:r>
            <a:endParaRPr dirty="0" sz="900" lang="en-US"/>
          </a:p>
        </p:txBody>
      </p:sp>
      <p:pic>
        <p:nvPicPr>
          <p:cNvPr id="2097213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858000" y="2139696"/>
            <a:ext cx="182880" cy="182880"/>
          </a:xfrm>
          <a:prstGeom prst="rect"/>
        </p:spPr>
      </p:pic>
      <p:sp>
        <p:nvSpPr>
          <p:cNvPr id="1048879" name="Text 35"/>
          <p:cNvSpPr/>
          <p:nvPr/>
        </p:nvSpPr>
        <p:spPr>
          <a:xfrm>
            <a:off x="7086600" y="2121408"/>
            <a:ext cx="16916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FFFFFF"/>
                </a:solidFill>
              </a:rPr>
              <a:t>Cloud Block Store</a:t>
            </a:r>
            <a:endParaRPr dirty="0" sz="900" lang="en-US"/>
          </a:p>
        </p:txBody>
      </p:sp>
      <p:sp>
        <p:nvSpPr>
          <p:cNvPr id="1048880" name="Shape 36"/>
          <p:cNvSpPr/>
          <p:nvPr/>
        </p:nvSpPr>
        <p:spPr>
          <a:xfrm>
            <a:off x="6720840" y="283464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3000"/>
              </a:srgbClr>
            </a:outerShdw>
          </a:effectLst>
        </p:spPr>
      </p:sp>
      <p:sp>
        <p:nvSpPr>
          <p:cNvPr id="1048881" name="Text 37"/>
          <p:cNvSpPr/>
          <p:nvPr/>
        </p:nvSpPr>
        <p:spPr>
          <a:xfrm>
            <a:off x="6858000" y="2926080"/>
            <a:ext cx="1920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0B4D8"/>
                </a:solidFill>
              </a:rPr>
              <a:t>Pure1 AIOps</a:t>
            </a:r>
            <a:endParaRPr dirty="0" sz="1100" lang="en-US"/>
          </a:p>
        </p:txBody>
      </p:sp>
      <p:sp>
        <p:nvSpPr>
          <p:cNvPr id="1048882" name="Text 38"/>
          <p:cNvSpPr/>
          <p:nvPr/>
        </p:nvSpPr>
        <p:spPr>
          <a:xfrm>
            <a:off x="6858000" y="3200400"/>
            <a:ext cx="19202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Single pane of glass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FlashArray + FlashBlade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Predictive analytics</a:t>
            </a:r>
            <a:endParaRPr dirty="0" sz="900" lang="en-US"/>
          </a:p>
          <a:p>
            <a:pPr indent="0" marL="0">
              <a:buNone/>
            </a:pPr>
            <a:r>
              <a:rPr dirty="0" sz="900" lang="en-US">
                <a:solidFill>
                  <a:srgbClr val="8EADC7"/>
                </a:solidFill>
              </a:rPr>
              <a:t>Included — no extra cost</a:t>
            </a:r>
            <a:endParaRPr dirty="0" sz="900" lang="en-US"/>
          </a:p>
        </p:txBody>
      </p:sp>
      <p:sp>
        <p:nvSpPr>
          <p:cNvPr id="1048883" name="Shape 39"/>
          <p:cNvSpPr/>
          <p:nvPr/>
        </p:nvSpPr>
        <p:spPr>
          <a:xfrm>
            <a:off x="3346704" y="2743200"/>
            <a:ext cx="128016" cy="0"/>
          </a:xfrm>
          <a:prstGeom prst="line"/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48884" name="Text 40"/>
          <p:cNvSpPr/>
          <p:nvPr/>
        </p:nvSpPr>
        <p:spPr>
          <a:xfrm>
            <a:off x="3063240" y="2578608"/>
            <a:ext cx="54864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700" lang="en-US">
                <a:solidFill>
                  <a:srgbClr val="00B4D8"/>
                </a:solidFill>
              </a:rPr>
              <a:t>◀━ ActiveCluster ━▶</a:t>
            </a:r>
            <a:endParaRPr dirty="0" sz="700" lang="en-US"/>
          </a:p>
        </p:txBody>
      </p:sp>
      <p:sp>
        <p:nvSpPr>
          <p:cNvPr id="1048885" name="Shape 41"/>
          <p:cNvSpPr/>
          <p:nvPr/>
        </p:nvSpPr>
        <p:spPr>
          <a:xfrm>
            <a:off x="6601968" y="2926080"/>
            <a:ext cx="118872" cy="0"/>
          </a:xfrm>
          <a:prstGeom prst="line"/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1048886" name="Text 42"/>
          <p:cNvSpPr/>
          <p:nvPr/>
        </p:nvSpPr>
        <p:spPr>
          <a:xfrm>
            <a:off x="6492240" y="2788920"/>
            <a:ext cx="365760" cy="21945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700" lang="en-US">
                <a:solidFill>
                  <a:srgbClr val="F4A261"/>
                </a:solidFill>
              </a:rPr>
              <a:t>ActiveDR →</a:t>
            </a:r>
            <a:endParaRPr dirty="0" sz="700" lang="en-US"/>
          </a:p>
        </p:txBody>
      </p:sp>
      <p:sp>
        <p:nvSpPr>
          <p:cNvPr id="1048887" name="Shape 43"/>
          <p:cNvSpPr/>
          <p:nvPr/>
        </p:nvSpPr>
        <p:spPr>
          <a:xfrm>
            <a:off x="228600" y="4645152"/>
            <a:ext cx="8686800" cy="365760"/>
          </a:xfrm>
          <a:prstGeom prst="roundRect">
            <a:avLst>
              <a:gd name="adj" fmla="val 2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48888" name="Text 44"/>
          <p:cNvSpPr/>
          <p:nvPr/>
        </p:nvSpPr>
        <p:spPr>
          <a:xfrm>
            <a:off x="365760" y="4663440"/>
            <a:ext cx="841248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</a:rPr>
              <a:t>Every other vendor helps you recover faster after an attack.  Everpure makes the attack itself fail.</a:t>
            </a:r>
            <a:endParaRPr dirty="0" sz="11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HealthSure Insurance — Everpure EHR Solution</dc:title>
  <dc:creator>PptxGenJS</dc:creator>
  <cp:lastModifiedBy>PptxGenJS</cp:lastModifiedBy>
  <dcterms:created xsi:type="dcterms:W3CDTF">2026-06-10T12:01:19Z</dcterms:created>
  <dcterms:modified xsi:type="dcterms:W3CDTF">2026-06-10T23:16:05Z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2f0d8bd1d9934016bbc8bbc1632a36df_23</vt:lpwstr>
  </property>
</Properties>
</file>